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8288000" cy="10287000"/>
  <p:notesSz cx="6858000" cy="9144000"/>
  <p:embeddedFontLst>
    <p:embeddedFont>
      <p:font typeface="Aptos Bold" panose="020B0604020202020204" charset="0"/>
      <p:regular r:id="rId28"/>
    </p:embeddedFont>
    <p:embeddedFont>
      <p:font typeface="Arial Bold" panose="020B0704020202020204" pitchFamily="34" charset="0"/>
      <p:regular r:id="rId29"/>
      <p:bold r:id="rId30"/>
    </p:embeddedFont>
    <p:embeddedFont>
      <p:font typeface="DejaVu Sans Bold" panose="020B0604020202020204" charset="0"/>
      <p:regular r:id="rId31"/>
    </p:embeddedFont>
    <p:embeddedFont>
      <p:font typeface="DejaVu Sans Light" panose="020B0604020202020204" charset="0"/>
      <p:regular r:id="rId32"/>
    </p:embeddedFont>
    <p:embeddedFont>
      <p:font typeface="Times New Roman Bold" panose="02020803070505020304" pitchFamily="18" charset="0"/>
      <p:regular r:id="rId33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2163087"/>
            <a:ext cx="15438120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Ứng dụng Di động kết hợp với hệ thống nhúng ESP32</a:t>
            </a:r>
          </a:p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lý và Giám sát cây trồng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96349" y="4705350"/>
            <a:ext cx="5918171" cy="3004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9"/>
              </a:lnSpc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GVHD: </a:t>
            </a:r>
          </a:p>
          <a:p>
            <a:pPr algn="l">
              <a:lnSpc>
                <a:spcPts val="8531"/>
              </a:lnSpc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Ths.Huỳnh Hoàng Hà</a:t>
            </a:r>
          </a:p>
          <a:p>
            <a:pPr algn="l">
              <a:lnSpc>
                <a:spcPts val="7312"/>
              </a:lnSpc>
            </a:pPr>
            <a:endParaRPr lang="en-US" sz="34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43124" y="5675628"/>
            <a:ext cx="4878883" cy="303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5"/>
              </a:lnSpc>
              <a:spcBef>
                <a:spcPct val="0"/>
              </a:spcBef>
            </a:pPr>
            <a:r>
              <a:rPr lang="en-US" sz="394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Nguyễn Đức Thắng</a:t>
            </a:r>
          </a:p>
          <a:p>
            <a:pPr algn="l">
              <a:lnSpc>
                <a:spcPts val="4735"/>
              </a:lnSpc>
              <a:spcBef>
                <a:spcPct val="0"/>
              </a:spcBef>
            </a:pPr>
            <a:r>
              <a:rPr lang="en-US" sz="394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Nguyễn Thế Toàn</a:t>
            </a:r>
          </a:p>
          <a:p>
            <a:pPr algn="l">
              <a:lnSpc>
                <a:spcPts val="4735"/>
              </a:lnSpc>
              <a:spcBef>
                <a:spcPct val="0"/>
              </a:spcBef>
            </a:pPr>
            <a:r>
              <a:rPr lang="en-US" sz="394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Nguyễn Thanh Trí</a:t>
            </a:r>
          </a:p>
          <a:p>
            <a:pPr algn="l">
              <a:lnSpc>
                <a:spcPts val="4735"/>
              </a:lnSpc>
              <a:spcBef>
                <a:spcPct val="0"/>
              </a:spcBef>
            </a:pPr>
            <a:r>
              <a:rPr lang="en-US" sz="394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Nguyễn Hữu Tuấn </a:t>
            </a:r>
          </a:p>
          <a:p>
            <a:pPr algn="l">
              <a:lnSpc>
                <a:spcPts val="4735"/>
              </a:lnSpc>
              <a:spcBef>
                <a:spcPct val="0"/>
              </a:spcBef>
            </a:pPr>
            <a:r>
              <a:rPr lang="en-US" sz="394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Nguyễn Thái Tú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90566" y="5608953"/>
            <a:ext cx="3277434" cy="3101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23119205</a:t>
            </a:r>
          </a:p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23119213</a:t>
            </a:r>
          </a:p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23119217</a:t>
            </a:r>
          </a:p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23119221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23119225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43124" y="4848225"/>
            <a:ext cx="5300676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THÀNH VIÊN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90566" y="4848225"/>
            <a:ext cx="2844403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MÃ SỐ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3173458" y="2459380"/>
            <a:ext cx="11941084" cy="6518619"/>
          </a:xfrm>
          <a:custGeom>
            <a:avLst/>
            <a:gdLst/>
            <a:ahLst/>
            <a:cxnLst/>
            <a:rect l="l" t="t" r="r" b="b"/>
            <a:pathLst>
              <a:path w="11941084" h="6518619">
                <a:moveTo>
                  <a:pt x="0" y="0"/>
                </a:moveTo>
                <a:lnTo>
                  <a:pt x="11941084" y="0"/>
                </a:lnTo>
                <a:lnTo>
                  <a:pt x="11941084" y="6518619"/>
                </a:lnTo>
                <a:lnTo>
                  <a:pt x="0" y="6518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386643" y="1019175"/>
            <a:ext cx="151471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Idea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3173458" y="2739681"/>
            <a:ext cx="11941084" cy="6518619"/>
          </a:xfrm>
          <a:custGeom>
            <a:avLst/>
            <a:gdLst/>
            <a:ahLst/>
            <a:cxnLst/>
            <a:rect l="l" t="t" r="r" b="b"/>
            <a:pathLst>
              <a:path w="11941084" h="6518619">
                <a:moveTo>
                  <a:pt x="0" y="0"/>
                </a:moveTo>
                <a:lnTo>
                  <a:pt x="11941084" y="0"/>
                </a:lnTo>
                <a:lnTo>
                  <a:pt x="11941084" y="6518619"/>
                </a:lnTo>
                <a:lnTo>
                  <a:pt x="0" y="6518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218271" y="1019175"/>
            <a:ext cx="785145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Function in Mobile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2578473" y="2363578"/>
            <a:ext cx="13287513" cy="6772394"/>
          </a:xfrm>
          <a:custGeom>
            <a:avLst/>
            <a:gdLst/>
            <a:ahLst/>
            <a:cxnLst/>
            <a:rect l="l" t="t" r="r" b="b"/>
            <a:pathLst>
              <a:path w="13287513" h="6772394">
                <a:moveTo>
                  <a:pt x="0" y="0"/>
                </a:moveTo>
                <a:lnTo>
                  <a:pt x="13287512" y="0"/>
                </a:lnTo>
                <a:lnTo>
                  <a:pt x="13287512" y="6772394"/>
                </a:lnTo>
                <a:lnTo>
                  <a:pt x="0" y="6772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904733" y="1019175"/>
            <a:ext cx="3392924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7305" y="1676755"/>
            <a:ext cx="17193390" cy="6933491"/>
            <a:chOff x="0" y="0"/>
            <a:chExt cx="22924520" cy="92446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24520" cy="9244654"/>
            </a:xfrm>
            <a:custGeom>
              <a:avLst/>
              <a:gdLst/>
              <a:ahLst/>
              <a:cxnLst/>
              <a:rect l="l" t="t" r="r" b="b"/>
              <a:pathLst>
                <a:path w="22924520" h="9244654">
                  <a:moveTo>
                    <a:pt x="0" y="0"/>
                  </a:moveTo>
                  <a:lnTo>
                    <a:pt x="22924520" y="0"/>
                  </a:lnTo>
                  <a:lnTo>
                    <a:pt x="22924520" y="9244654"/>
                  </a:lnTo>
                  <a:lnTo>
                    <a:pt x="0" y="9244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b="-970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382" y="276640"/>
              <a:ext cx="18318721" cy="1204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32"/>
                </a:lnSpc>
              </a:pPr>
              <a:r>
                <a:rPr lang="en-US" sz="1948" b="1" spc="19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PHÂN TÍCH KỸ THUẬT CHI TIẾT — </a:t>
              </a:r>
              <a:r>
                <a:rPr lang="en-US" sz="1948" b="1" spc="19">
                  <a:solidFill>
                    <a:srgbClr val="F5B53D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ỨNG DỤNG DI ĐỘNG + ESP32</a:t>
              </a:r>
              <a:r>
                <a:rPr lang="en-US" sz="1948" b="1" spc="19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 </a:t>
              </a:r>
              <a:r>
                <a:rPr lang="en-US" sz="1948" b="1" spc="19">
                  <a:solidFill>
                    <a:srgbClr val="5FD39A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GIÁM SÁT &amp; TƯỚI CÂY TỰ ĐỘNG</a:t>
              </a:r>
            </a:p>
            <a:p>
              <a:pPr algn="l">
                <a:lnSpc>
                  <a:spcPts val="2208"/>
                </a:lnSpc>
              </a:pPr>
              <a:r>
                <a:rPr lang="en-US" sz="909">
                  <a:solidFill>
                    <a:srgbClr val="C2D0E8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8 khối kỹ thuật: Yêu cầu định lượng → Đặc tả → Kiến trúc &amp; giao thức → Phần cứng/pinout → Firmware FreeRTOS → App Flutter/Cloud → Kiểm thử → Tối ưu năng lượng &amp; phát hành</a:t>
              </a:r>
            </a:p>
            <a:p>
              <a:pPr algn="l">
                <a:lnSpc>
                  <a:spcPts val="1893"/>
                </a:lnSpc>
              </a:pPr>
              <a:r>
                <a:rPr lang="en-US" sz="779">
                  <a:solidFill>
                    <a:srgbClr val="8EA6C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Cấu hình tham chiếu: ESP32-WROOM-32 · MQTT/TLS 8883 · Firebase RTDB + Firestore + FCM · Flutter (MVVM) · Nguồn 5 V/2 A hoặc 18650 + PV 6 V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8976" y="1889479"/>
              <a:ext cx="93693" cy="17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375" y="2296420"/>
              <a:ext cx="1648669" cy="17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YÊU CẦU CHỨC NĂNG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375" y="4210146"/>
              <a:ext cx="2872586" cy="17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YÊU CẦU PHI CHỨC NĂNG (ĐO ĐƯỢC)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6364" y="4449951"/>
              <a:ext cx="1505066" cy="1955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688"/>
                </a:lnSpc>
              </a:pPr>
              <a:r>
                <a:rPr lang="en-US" sz="779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Chỉ tiêu</a:t>
              </a:r>
              <a:r>
                <a:rPr lang="en-US" sz="779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Chu kỳ lấy mẫu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Trễ hiển thị dữ liệu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Trễ lệnh App → relay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Sai số độ ẩm đất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Uptime / mất gói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Tuổi pin (deep sleep)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94920" y="4449951"/>
              <a:ext cx="1571355" cy="1955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en-US" sz="779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Mục tiêu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30 s (AC) / 15 min (pin)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≤ 2 s (p95)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≤ 2 s; ACK ≤ 5 s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± 5 % sau hiệu chuẩn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≥ 99 % / ≤ 1 %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≥ 60 ngày (18650)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1356" y="6602428"/>
              <a:ext cx="4429882" cy="187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Ràng buộc an toàn: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không bơm khi 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mực nước = LOW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; giới hạn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1356" y="6789412"/>
              <a:ext cx="4868622" cy="187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120 s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, nghỉ tối thiểu 10 phút; mất mạng → ESP32 vẫn chạy luật cục bộ.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0361" y="7241010"/>
              <a:ext cx="4428378" cy="383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Kết quả</a:t>
              </a:r>
            </a:p>
            <a:p>
              <a:pPr algn="l">
                <a:lnSpc>
                  <a:spcPts val="1182"/>
                </a:lnSpc>
              </a:pPr>
              <a:r>
                <a:rPr lang="en-US" sz="84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SRS: 5 FR + 6 NFR có số đo, ma trận truy vết FR→Test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51790" y="6081331"/>
              <a:ext cx="4932678" cy="3790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4"/>
                </a:lnSpc>
              </a:pPr>
              <a:r>
                <a:rPr lang="en-US" sz="779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Nguyên tắc: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ngưỡng &amp; lịch được lưu cả 3 nơi (NVS – Cloud – App), Cloud là nguồn sự thật; ESP32 đồng bộ khi khởi động và khi có 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cfg/update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40795" y="6724082"/>
              <a:ext cx="4677471" cy="581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79"/>
                </a:lnSpc>
              </a:pPr>
              <a:r>
                <a:rPr lang="en-US" sz="779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Kết quả</a:t>
              </a:r>
            </a:p>
            <a:p>
              <a:pPr algn="l">
                <a:lnSpc>
                  <a:spcPts val="1169"/>
                </a:lnSpc>
              </a:pPr>
              <a:r>
                <a:rPr lang="en-US" sz="84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System Spec: bảng tín hiệu, danh mục vật tư (BOM), hợp đồng cấu hình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9410" y="1864323"/>
              <a:ext cx="3157701" cy="215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63"/>
                </a:lnSpc>
              </a:pPr>
              <a:r>
                <a:rPr lang="en-US" sz="974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2 ĐẶC TẢ HỆ THỐNG &amp; CẢM BIẾN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30809" y="2296420"/>
              <a:ext cx="2315857" cy="17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BẢNG CẢM BIẾN / CHẤP HÀNH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96797" y="2536226"/>
              <a:ext cx="1286340" cy="9985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en-US" sz="779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Thiết bị</a:t>
              </a:r>
              <a:r>
                <a:rPr lang="en-US" sz="779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</a:p>
            <a:p>
              <a:pPr algn="l">
                <a:lnSpc>
                  <a:spcPts val="1104"/>
                </a:lnSpc>
                <a:spcBef>
                  <a:spcPts val="584"/>
                </a:spcBef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Ẩm đất điện dung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v1.2</a:t>
              </a:r>
            </a:p>
            <a:p>
              <a:pPr algn="l">
                <a:lnSpc>
                  <a:spcPts val="1688"/>
                </a:lnSpc>
                <a:spcBef>
                  <a:spcPts val="584"/>
                </a:spcBef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DHT22 / AM2302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01506" y="2536226"/>
              <a:ext cx="3504152" cy="525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en-US" sz="779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Dải – Sai số – Giao tiếp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0–3,0 V analog; ADC1 12-bit; ±5 % sau calib 2 điểm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01506" y="3349055"/>
              <a:ext cx="3500544" cy="1509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4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0–100 %RH ±2 %; −40…80 °C ±0,5 °C; 1-Wire; ≥ 2 s/lần</a:t>
              </a:r>
            </a:p>
            <a:p>
              <a:pPr algn="l">
                <a:lnSpc>
                  <a:spcPts val="1688"/>
                </a:lnSpc>
                <a:spcBef>
                  <a:spcPts val="584"/>
                </a:spcBef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1–65535 lux; I²C 0x23; tuyến tính tốt hơn LDR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Digital, chống dội 50 ms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Kích mức thấp, 5 V coil, 10 A/250 VAC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0,5–1,0 A; nguồn tách riêng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96797" y="3774360"/>
              <a:ext cx="1380262" cy="1091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BH1750 (thay LDR)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Phao mực nước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Relay 1 kênh opto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Bơm chìm 12 V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30809" y="5035010"/>
              <a:ext cx="2304489" cy="17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PHÂN RÃ HỆ THỐNG (3 TẦNG)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29829" y="1889479"/>
              <a:ext cx="93693" cy="17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14546" y="2894352"/>
              <a:ext cx="3116410" cy="494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91"/>
                </a:lnSpc>
              </a:pPr>
              <a:r>
                <a:rPr lang="en-US" sz="779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ESP32-WROOM-32 (dual-core, FreeRTOS)</a:t>
              </a:r>
            </a:p>
            <a:p>
              <a:pPr algn="ctr">
                <a:lnSpc>
                  <a:spcPts val="1091"/>
                </a:lnSpc>
              </a:pPr>
              <a:endParaRPr lang="en-US" sz="779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endParaRPr>
            </a:p>
            <a:p>
              <a:pPr algn="ctr">
                <a:lnSpc>
                  <a:spcPts val="1000"/>
                </a:lnSpc>
              </a:pPr>
              <a:r>
                <a:rPr lang="en-US" sz="714">
                  <a:solidFill>
                    <a:srgbClr val="6B7688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▼ GPIO → opto-relay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534842" y="2342297"/>
              <a:ext cx="3466268" cy="494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91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Ẩm đất (ADC1) · DHT22 · BH1750 · Phao · Nút nhấn</a:t>
              </a:r>
            </a:p>
            <a:p>
              <a:pPr algn="ctr">
                <a:lnSpc>
                  <a:spcPts val="1091"/>
                </a:lnSpc>
              </a:pPr>
              <a:endParaRPr lang="en-US" sz="779">
                <a:solidFill>
                  <a:srgbClr val="1D2433"/>
                </a:solidFill>
                <a:latin typeface="DejaVu Sans Light"/>
                <a:ea typeface="DejaVu Sans Light"/>
                <a:cs typeface="DejaVu Sans Light"/>
                <a:sym typeface="DejaVu Sans Light"/>
              </a:endParaRPr>
            </a:p>
            <a:p>
              <a:pPr algn="ctr">
                <a:lnSpc>
                  <a:spcPts val="1000"/>
                </a:lnSpc>
              </a:pPr>
              <a:r>
                <a:rPr lang="en-US" sz="714">
                  <a:solidFill>
                    <a:srgbClr val="6B7688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▼ ADC / 1-Wire / I²C / GPIO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671243" y="5474953"/>
              <a:ext cx="2339552" cy="17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QUYẾT ĐỊNH KIẾN TRÚC (ADR)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737231" y="5714758"/>
              <a:ext cx="4849422" cy="9985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en-US" sz="779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Vấn đề</a:t>
              </a:r>
              <a:r>
                <a:rPr lang="en-US" sz="779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</a:p>
            <a:p>
              <a:pPr algn="l">
                <a:lnSpc>
                  <a:spcPts val="1104"/>
                </a:lnSpc>
                <a:spcBef>
                  <a:spcPts val="584"/>
                </a:spcBef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ESP32 vs</a:t>
              </a:r>
              <a:r>
                <a:rPr lang="en-US" sz="779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</a:p>
            <a:p>
              <a:pPr algn="l">
                <a:lnSpc>
                  <a:spcPts val="1104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ESP8266</a:t>
              </a:r>
            </a:p>
            <a:p>
              <a:pPr algn="l">
                <a:lnSpc>
                  <a:spcPts val="1688"/>
                </a:lnSpc>
                <a:spcBef>
                  <a:spcPts val="584"/>
                </a:spcBef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MQTT vs HTTP</a:t>
              </a:r>
              <a:r>
                <a:rPr lang="en-US" sz="779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  <a:r>
                <a:rPr lang="en-US" sz="779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MQTT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: kết nối bền, push 2 chiều, LWT, tốn ~1/5 băng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905626" y="5714758"/>
              <a:ext cx="3573906" cy="525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en-US" sz="779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Chọn &amp; lý do</a:t>
              </a:r>
            </a:p>
            <a:p>
              <a:pPr algn="l">
                <a:lnSpc>
                  <a:spcPts val="1688"/>
                </a:lnSpc>
              </a:pPr>
              <a:r>
                <a:rPr lang="en-US" sz="779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ESP32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: 2 nhân, nhiều ADC, BLE cấu hình, TLS nhanh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905626" y="6666932"/>
              <a:ext cx="3752472" cy="99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thông</a:t>
              </a:r>
            </a:p>
            <a:p>
              <a:pPr algn="l">
                <a:lnSpc>
                  <a:spcPts val="1104"/>
                </a:lnSpc>
                <a:spcBef>
                  <a:spcPts val="584"/>
                </a:spcBef>
              </a:pPr>
              <a:r>
                <a:rPr lang="en-US" sz="779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Cả hai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: RTDB cho trạng thái tức thời, Firestore cho truy</a:t>
              </a:r>
            </a:p>
            <a:p>
              <a:pPr algn="l">
                <a:lnSpc>
                  <a:spcPts val="1104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vấn lịch sử</a:t>
              </a:r>
            </a:p>
            <a:p>
              <a:pPr algn="l">
                <a:lnSpc>
                  <a:spcPts val="1688"/>
                </a:lnSpc>
                <a:spcBef>
                  <a:spcPts val="584"/>
                </a:spcBef>
              </a:pPr>
              <a:r>
                <a:rPr lang="en-US" sz="779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Flutter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: 1 codebase, plugin FCM/BLE trưởng thành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737231" y="6994203"/>
              <a:ext cx="733248" cy="851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4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RTDB vs</a:t>
              </a:r>
              <a:r>
                <a:rPr lang="en-US" sz="779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</a:p>
            <a:p>
              <a:pPr algn="l">
                <a:lnSpc>
                  <a:spcPts val="1104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Firestore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  <a:p>
              <a:pPr algn="l">
                <a:lnSpc>
                  <a:spcPts val="1104"/>
                </a:lnSpc>
                <a:spcBef>
                  <a:spcPts val="584"/>
                </a:spcBef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Flutter vs</a:t>
              </a:r>
              <a:r>
                <a:rPr lang="en-US" sz="779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Native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92224" y="8039039"/>
              <a:ext cx="4961055" cy="3790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4"/>
                </a:lnSpc>
              </a:pPr>
              <a:r>
                <a:rPr lang="en-US" sz="779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Điểm lỗi đơn: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broker → bật LWT + tự kết nối lại lũy thừa; mất Internet → luật cục bộ vẫn tưới.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781214" y="8681791"/>
              <a:ext cx="4222252" cy="383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Kết quả</a:t>
              </a:r>
            </a:p>
            <a:p>
              <a:pPr algn="l">
                <a:lnSpc>
                  <a:spcPts val="1182"/>
                </a:lnSpc>
              </a:pPr>
              <a:r>
                <a:rPr lang="en-US" sz="84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Sơ đồ khối + ADR + hợp đồng giao diện giữa 3 tầng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321648" y="7812915"/>
              <a:ext cx="4703872" cy="581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79"/>
                </a:lnSpc>
              </a:pPr>
              <a:r>
                <a:rPr lang="en-US" sz="779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Kết quả</a:t>
              </a:r>
            </a:p>
            <a:p>
              <a:pPr algn="l">
                <a:lnSpc>
                  <a:spcPts val="1169"/>
                </a:lnSpc>
              </a:pPr>
              <a:r>
                <a:rPr lang="en-US" sz="84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Sơ đồ nguyên lý, pinout, BOM, PCB/protoboard, tính toán nguồn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270263" y="1864323"/>
              <a:ext cx="2266476" cy="215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63"/>
                </a:lnSpc>
              </a:pPr>
              <a:r>
                <a:rPr lang="en-US" sz="974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4 THIẾT KẾ PHẦN CỨNG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211662" y="2296420"/>
              <a:ext cx="2581085" cy="17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BẢN ĐỒ CHÂN (PINOUT ĐỀ XUẤT)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277651" y="2536226"/>
              <a:ext cx="1124340" cy="2527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688"/>
                </a:lnSpc>
              </a:pPr>
              <a:r>
                <a:rPr lang="en-US" sz="779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GPIO</a:t>
              </a:r>
              <a:r>
                <a:rPr lang="en-US" sz="779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34 (ADC1_CH6)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35 (ADC1_CH7)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4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21 / 22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26 / 27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33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25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32</a:t>
              </a:r>
              <a:r>
                <a:rPr lang="en-US" sz="779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696269" y="2536226"/>
              <a:ext cx="2910026" cy="2527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en-US" sz="779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Chức năng / Ghi chú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Ẩm đất — input-only, atten 11 dB (0–3,1 V)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Chia áp đo pin (2×100 kΩ)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DHT22 data + trở kéo 4,7 kΩ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I²C SDA / SCL (BH1750)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Relay bơm / relay đèn-quạt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Phao mực nước (INPUT_PULLUP)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Nút nhấn tưới tay (ngắt + chống dội)</a:t>
              </a:r>
            </a:p>
            <a:p>
              <a:pPr algn="l">
                <a:lnSpc>
                  <a:spcPts val="1688"/>
                </a:lnSpc>
              </a:pP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Cấp nguồn cảm biến ẩm qua MOSFET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332644" y="5256452"/>
              <a:ext cx="4798939" cy="3790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4"/>
                </a:lnSpc>
              </a:pPr>
              <a:r>
                <a:rPr lang="en-US" sz="779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Tránh: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GPIO 0/2/12/15 (strapping), GPIO 6–11 (flash nội), </a:t>
              </a:r>
              <a:r>
                <a:rPr lang="en-US" sz="779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ADC2</a:t>
              </a:r>
              <a:r>
                <a:rPr lang="en-US" sz="779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không dùng được khi WiFi bật → mọi kênh analog phải nằm trên ADC1.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211662" y="5815906"/>
              <a:ext cx="1362766" cy="17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NGUỒN &amp; BẢO VỆ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5339" y="1864323"/>
              <a:ext cx="3344070" cy="215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63"/>
                </a:lnSpc>
              </a:pPr>
              <a:r>
                <a:rPr lang="en-US" sz="974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PHÂN TÍCH YÊU CẦU (ĐỊNH LƯỢNG)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946193" y="1864323"/>
              <a:ext cx="3369297" cy="215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63"/>
                </a:lnSpc>
              </a:pPr>
              <a:r>
                <a:rPr lang="en-US" sz="974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KIẾN TRÚC &amp; LỰA CHỌN GIAO THỨC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5354" y="2491907"/>
              <a:ext cx="5044811" cy="1598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28"/>
                </a:lnSpc>
              </a:pP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FR-1: đo </a:t>
              </a:r>
              <a:r>
                <a:rPr lang="en-US" sz="844" b="1">
                  <a:solidFill>
                    <a:srgbClr val="0D3B66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độ ẩm đất, nhiệt độ, độ ẩm không khí, ánh sáng, mực nước</a:t>
              </a: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theo chu kỳ. FR-2: tưới </a:t>
              </a:r>
              <a:r>
                <a:rPr lang="en-US" sz="844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thủ công</a:t>
              </a: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(App), </a:t>
              </a:r>
              <a:r>
                <a:rPr lang="en-US" sz="844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hẹn giờ</a:t>
              </a: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(lịch), </a:t>
              </a:r>
              <a:r>
                <a:rPr lang="en-US" sz="844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tự động</a:t>
              </a: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(ngưỡng + trễ hysteresis).</a:t>
              </a:r>
            </a:p>
            <a:p>
              <a:pPr algn="l">
                <a:lnSpc>
                  <a:spcPts val="1428"/>
                </a:lnSpc>
              </a:pP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FR-3: lịch sử 7/30 ngày, biểu đồ downsample. FR-4: cảnh báo đẩy: đất khô, hết nước, mất kết nối, pin yếu. FR-5: đa vườn – đa thiết bị, phân quyền owner/viewer.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95787" y="5230497"/>
              <a:ext cx="4890771" cy="718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28"/>
                </a:lnSpc>
              </a:pPr>
              <a:r>
                <a:rPr lang="en-US" sz="844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Edge (ESP32):</a:t>
              </a: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lấy mẫu, lọc, luật cục bộ, hàng đợi khi offline. </a:t>
              </a:r>
              <a:r>
                <a:rPr lang="en-US" sz="844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Cloud:</a:t>
              </a: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xác thực, lưu trữ, quy tắc bảo mật, FCM, hàm downsample. </a:t>
              </a:r>
              <a:r>
                <a:rPr lang="en-US" sz="844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App:</a:t>
              </a: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hiển thị, ra lệnh, cấu hình ngưỡng/lịch.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376641" y="6011378"/>
              <a:ext cx="4920379" cy="1598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28"/>
                </a:lnSpc>
              </a:pP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Tách </a:t>
              </a:r>
              <a:r>
                <a:rPr lang="en-US" sz="844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12 V bơm</a:t>
              </a: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và </a:t>
              </a:r>
              <a:r>
                <a:rPr lang="en-US" sz="844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5 V logic</a:t>
              </a: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, chỉ nối chung </a:t>
              </a:r>
              <a:r>
                <a:rPr lang="en-US" sz="84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44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GND</a:t>
              </a:r>
              <a:r>
                <a:rPr lang="en-US" sz="84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; tụ 470 µF + 100 nF cạnh relay.</a:t>
              </a:r>
            </a:p>
            <a:p>
              <a:pPr algn="l">
                <a:lnSpc>
                  <a:spcPts val="1428"/>
                </a:lnSpc>
              </a:pP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Diode bánh đà cho bơm DC, snubber RC cho tải AC. Đỉnh dòng WiFi TX ~ 500 mA → LDO/Buck ≥ 1 A, sụt áp &lt; 100 mV. Đầu dò ẩm chỉ cấp điện lúc đo (qua GPIO32) để chống ăn mòn điện cực.</a:t>
              </a:r>
            </a:p>
            <a:p>
              <a:pPr algn="l">
                <a:lnSpc>
                  <a:spcPts val="1428"/>
                </a:lnSpc>
              </a:pPr>
              <a:r>
                <a:rPr lang="en-US" sz="84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Vỏ IP65, ép cáp, cảm biến ngoài trời tráng keo conformal.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87333" y="6602428"/>
              <a:ext cx="485959" cy="17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91"/>
                </a:lnSpc>
              </a:pPr>
              <a:r>
                <a:rPr lang="en-US" sz="779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t_on 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467286" y="3465457"/>
              <a:ext cx="1545129" cy="3080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Bơm 12 V · Đèn LED · Quạt </a:t>
              </a:r>
            </a:p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728072" y="3773520"/>
              <a:ext cx="3023557" cy="3080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▲▼ WiFi 2,4 GHz — MQTT/TLS (QoS 1) + OTA/HTTPS </a:t>
              </a:r>
            </a:p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161627" y="4011549"/>
              <a:ext cx="2343617" cy="3080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Broker MQTT (HiveMQ/Mosquitto/EMQX) </a:t>
              </a:r>
            </a:p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321329" y="4307791"/>
              <a:ext cx="1647725" cy="3080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▲▼ Bridge: Cloud Function </a:t>
              </a:r>
            </a:p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739349" y="4550770"/>
              <a:ext cx="3001002" cy="3080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Firebase: Auth · RTDB (live) · Firestore (lịch sử) · FCM </a:t>
              </a:r>
            </a:p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431171" y="4824592"/>
              <a:ext cx="1565758" cy="3080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▲▼ SDK stream / callable </a:t>
              </a:r>
            </a:p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998344" y="5152373"/>
              <a:ext cx="2293695" cy="3080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Ứng dụng di động Flutter (Android / iOS) </a:t>
              </a:r>
            </a:p>
            <a:p>
              <a:pPr algn="ctr">
                <a:lnSpc>
                  <a:spcPts val="935"/>
                </a:lnSpc>
                <a:spcBef>
                  <a:spcPct val="0"/>
                </a:spcBef>
              </a:pPr>
              <a:r>
                <a:rPr lang="en-US" sz="779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5939" y="1767340"/>
            <a:ext cx="17526560" cy="6752321"/>
            <a:chOff x="0" y="0"/>
            <a:chExt cx="23368747" cy="90030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68747" cy="9003095"/>
            </a:xfrm>
            <a:custGeom>
              <a:avLst/>
              <a:gdLst/>
              <a:ahLst/>
              <a:cxnLst/>
              <a:rect l="l" t="t" r="r" b="b"/>
              <a:pathLst>
                <a:path w="23368747" h="9003095">
                  <a:moveTo>
                    <a:pt x="0" y="0"/>
                  </a:moveTo>
                  <a:lnTo>
                    <a:pt x="23368747" y="0"/>
                  </a:lnTo>
                  <a:lnTo>
                    <a:pt x="23368747" y="9003095"/>
                  </a:lnTo>
                  <a:lnTo>
                    <a:pt x="0" y="9003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1062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13932" y="6771936"/>
              <a:ext cx="4521109" cy="32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7"/>
                </a:lnSpc>
              </a:pPr>
              <a:r>
                <a:rPr lang="en-US" sz="794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Kết quả</a:t>
              </a:r>
            </a:p>
            <a:p>
              <a:pPr algn="l">
                <a:lnSpc>
                  <a:spcPts val="430"/>
                </a:lnSpc>
              </a:pPr>
              <a:r>
                <a:rPr lang="en-US" sz="860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Firmware có máy trạng thái, offline-first, OTA an toàn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1815" y="5108483"/>
              <a:ext cx="1110428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ĐỘ BỀN VỮNG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1552" y="181722"/>
              <a:ext cx="3112071" cy="2193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0"/>
                </a:lnSpc>
              </a:pPr>
              <a:r>
                <a:rPr lang="en-US" sz="993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5 FIRMWARE ESP32 (FreeRTOS)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815" y="612667"/>
              <a:ext cx="1503378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PHÂN CHIA TÁC VỤ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082" y="915377"/>
              <a:ext cx="2979157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Task (core, stack)</a:t>
              </a:r>
              <a:r>
                <a:rPr lang="en-US" sz="794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  <a:r>
                <a:rPr lang="en-US" sz="79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Chu kỳ &amp; nhiệm vụ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9082" y="1213314"/>
              <a:ext cx="1286222" cy="9624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125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SensorTask (1, 4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KB)</a:t>
              </a:r>
            </a:p>
            <a:p>
              <a:pPr algn="just">
                <a:lnSpc>
                  <a:spcPts val="1721"/>
                </a:lnSpc>
                <a:spcBef>
                  <a:spcPts val="595"/>
                </a:spcBef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CtrlTask (1, 4 KB)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NetTask (0, 8 KB)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66695" y="1213314"/>
              <a:ext cx="3408622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30 s: đọc → lọc trung vị 15 mẫu → đẩy vào Queue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66695" y="1638259"/>
              <a:ext cx="3413570" cy="10195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21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100 ms: máy trạng thái bơm, timeout, an toàn</a:t>
              </a:r>
            </a:p>
            <a:p>
              <a:pPr algn="l">
                <a:lnSpc>
                  <a:spcPts val="1125"/>
                </a:lnSpc>
                <a:spcBef>
                  <a:spcPts val="595"/>
                </a:spcBef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MQTT keep-alive 60 s, publish/subscribe, đồng bộ NTP</a:t>
              </a:r>
            </a:p>
            <a:p>
              <a:pPr algn="l">
                <a:lnSpc>
                  <a:spcPts val="1721"/>
                </a:lnSpc>
                <a:spcBef>
                  <a:spcPts val="595"/>
                </a:spcBef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Theo yêu cầu: tải firmware, kiểm tra SHA-256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9082" y="2469004"/>
              <a:ext cx="1288003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OtaTask (0, 8 KB)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815" y="2821337"/>
              <a:ext cx="2420046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XỬ LÝ TÍN HIỆU &amp; HIỆU CHUẨN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0306" y="3140008"/>
              <a:ext cx="4598855" cy="5380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9"/>
                </a:lnSpc>
              </a:pPr>
              <a:r>
                <a:rPr lang="en-US" sz="794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soil% = (ADC_dry − raw) / (ADC_dry − ADC_wet) × 100 ADC_dry ≈ 3000 (ngoài không khí) · ADC_wet ≈ 1300 (ngâm nước) Lọc: median(15) → EMA α = 0,2 → giới hạn [0 … 100] 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815" y="3852793"/>
              <a:ext cx="1782386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MÁY TRẠNG THÁI BƠM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09347" y="197840"/>
              <a:ext cx="95508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49611" y="612667"/>
              <a:ext cx="3101578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KIẾN TRÚC APP (MVVM + REPOSITORY)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49611" y="2496209"/>
              <a:ext cx="3211608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BỐN MÀN HÌNH &amp; RÀNG BUỘC KỸ THUẬT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6878" y="2741769"/>
              <a:ext cx="4492153" cy="5438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21"/>
                </a:lnSpc>
              </a:pPr>
              <a:r>
                <a:rPr lang="en-US" sz="79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Màn hình</a:t>
              </a:r>
              <a:r>
                <a:rPr lang="en-US" sz="794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  <a:r>
                <a:rPr lang="en-US" sz="79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Kỹ thuật</a:t>
              </a:r>
            </a:p>
            <a:p>
              <a:pPr algn="l">
                <a:lnSpc>
                  <a:spcPts val="1721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Dashboard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Stream RTDB </a:t>
              </a:r>
              <a:r>
                <a:rPr lang="en-US" sz="794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/live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, cập nhật &lt; 1 s, hiển thị badge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74029" y="3287450"/>
              <a:ext cx="3983291" cy="670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5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online/offline theo LWT</a:t>
              </a:r>
            </a:p>
            <a:p>
              <a:pPr algn="l">
                <a:lnSpc>
                  <a:spcPts val="1125"/>
                </a:lnSpc>
                <a:spcBef>
                  <a:spcPts val="595"/>
                </a:spcBef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Firestore truy vấn theo khoảng; 7 ngày = điểm 5 phút, 30 ngày = điểm 1 giờ (đã downsample)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6878" y="3578936"/>
              <a:ext cx="562803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Lịch sử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16878" y="4049151"/>
              <a:ext cx="4935235" cy="2007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Điều khiển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Optimistic UI + chờ </a:t>
              </a:r>
              <a:r>
                <a:rPr lang="en-US" sz="794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ack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; quá 5 s → hoàn tác + báo lỗi; nút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4029" y="4251638"/>
              <a:ext cx="3985685" cy="670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5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bơm có khoá chống nhấn kép</a:t>
              </a:r>
            </a:p>
            <a:p>
              <a:pPr algn="l">
                <a:lnSpc>
                  <a:spcPts val="1125"/>
                </a:lnSpc>
                <a:spcBef>
                  <a:spcPts val="595"/>
                </a:spcBef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Ngưỡng, lịch tưới (cron), ngưỡng thông báo, quản lý nhiều</a:t>
              </a:r>
            </a:p>
            <a:p>
              <a:pPr algn="l">
                <a:lnSpc>
                  <a:spcPts val="1125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vườn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16878" y="4543125"/>
              <a:ext cx="708605" cy="569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5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Cài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  <a:p>
              <a:pPr algn="l">
                <a:lnSpc>
                  <a:spcPts val="1125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đặt/Cảnh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báo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49611" y="5276658"/>
              <a:ext cx="1764799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ĐỒNG BỘ &amp; XÁC THỰC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2936" y="7196293"/>
              <a:ext cx="4930229" cy="394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5"/>
                </a:lnSpc>
              </a:pPr>
              <a:r>
                <a:rPr lang="en-US" sz="794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UX quan trọng: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luôn hiển thị thời điểm cập nhật cuối và trạng thái kết nối — người dùng phải phân biệt “cây đủ ẩm” với “mất dữ liệu”.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61728" y="7850518"/>
              <a:ext cx="4992359" cy="6018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0"/>
                </a:lnSpc>
              </a:pPr>
              <a:r>
                <a:rPr lang="en-US" sz="794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Kết quả</a:t>
              </a:r>
            </a:p>
            <a:p>
              <a:pPr algn="l">
                <a:lnSpc>
                  <a:spcPts val="1192"/>
                </a:lnSpc>
              </a:pPr>
              <a:r>
                <a:rPr lang="en-US" sz="860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App Flutter hoàn chỉnh: UI + logic + đồng bộ Cloud + thông báo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020732" y="5826020"/>
              <a:ext cx="5100754" cy="385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5"/>
                </a:lnSpc>
              </a:pPr>
              <a:r>
                <a:rPr lang="en-US" sz="794" b="1">
                  <a:solidFill>
                    <a:srgbClr val="1D2433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Tiêu chí ra mắt: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100 % ca IT đạt · độ trễ p95 trong ngân sách · 0 lỗi mức nghiêm trọng · soak 72 h sạch.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009508" y="6471502"/>
              <a:ext cx="4959959" cy="400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Kết quả</a:t>
              </a:r>
            </a:p>
            <a:p>
              <a:pPr algn="l">
                <a:lnSpc>
                  <a:spcPts val="1205"/>
                </a:lnSpc>
              </a:pPr>
              <a:r>
                <a:rPr lang="en-US" sz="860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Báo cáo kiểm thử + ma trận truy vết yêu cầu ↔ ca kiểm thử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57128" y="181722"/>
              <a:ext cx="2369811" cy="2193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0"/>
                </a:lnSpc>
              </a:pPr>
              <a:r>
                <a:rPr lang="en-US" sz="993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7 TÍCH HỢP &amp; KIỂM THỬ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897406" y="612667"/>
              <a:ext cx="1863066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CA KIỂM THỬ TIÊU BIỂU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964673" y="858227"/>
              <a:ext cx="5009683" cy="11269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21"/>
                </a:lnSpc>
              </a:pPr>
              <a:r>
                <a:rPr lang="en-US" sz="79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ID</a:t>
              </a:r>
              <a:r>
                <a:rPr lang="en-US" sz="794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</a:p>
            <a:p>
              <a:pPr algn="l">
                <a:lnSpc>
                  <a:spcPts val="1721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IT-01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App bật bơm → relay đóng &amp; </a:t>
              </a:r>
              <a:r>
                <a:rPr lang="en-US" sz="794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ack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về ≤ 2 s</a:t>
              </a:r>
            </a:p>
            <a:p>
              <a:pPr algn="l">
                <a:lnSpc>
                  <a:spcPts val="1721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IT-02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Rút mạng 30 phút → ≥ 200 mẫu gửi bù, không trùng lặp</a:t>
              </a:r>
            </a:p>
            <a:p>
              <a:pPr algn="l">
                <a:lnSpc>
                  <a:spcPts val="1721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IT-03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Ngắt nguồn đột ngột khi đang bơm → khởi động lại ở </a:t>
              </a:r>
              <a:r>
                <a:rPr lang="en-US" sz="794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IDLE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, relay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471287" y="915377"/>
              <a:ext cx="1786852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Kịch bản → Tiêu chí đạt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471287" y="1986910"/>
              <a:ext cx="170817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hở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964673" y="2221261"/>
              <a:ext cx="5159571" cy="8289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21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IT-04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Phao báo cạn → chặn bơm + push cảnh báo ≤ 10 s</a:t>
              </a:r>
            </a:p>
            <a:p>
              <a:pPr algn="l">
                <a:lnSpc>
                  <a:spcPts val="1721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IT-05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Hai điện thoại cùng ra lệnh → chỉ 1 lệnh thực thi (khử trùng </a:t>
              </a:r>
              <a:r>
                <a:rPr lang="en-US" sz="794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reqId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) IT-06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OTA lỗi giữa chừng → rollback, thiết bị vẫn online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964673" y="3152901"/>
              <a:ext cx="304476" cy="3794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25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ST-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471287" y="3152901"/>
              <a:ext cx="4279799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Chạy liên tục 72 h → rò rỉ heap = 0, không reset ngoài dự kiến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897406" y="3695826"/>
              <a:ext cx="717698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CÔNG CỤ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657304" y="6650887"/>
              <a:ext cx="5070893" cy="6018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0"/>
                </a:lnSpc>
              </a:pPr>
              <a:r>
                <a:rPr lang="en-US" sz="794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Kết quả</a:t>
              </a:r>
            </a:p>
            <a:p>
              <a:pPr algn="l">
                <a:lnSpc>
                  <a:spcPts val="1192"/>
                </a:lnSpc>
              </a:pPr>
              <a:r>
                <a:rPr lang="en-US" sz="860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Sản phẩm phát hành được: App trên store + firmware OTA + tài liệu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545187" y="4861831"/>
              <a:ext cx="931088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PHÁT HÀNH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545187" y="3852793"/>
              <a:ext cx="1341186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TỐI ƯU PHÍA APP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604923" y="181722"/>
              <a:ext cx="2268041" cy="2193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0"/>
                </a:lnSpc>
              </a:pPr>
              <a:r>
                <a:rPr lang="en-US" sz="993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8 TỐI ƯU &amp; TRIỂN KHAI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545187" y="612667"/>
              <a:ext cx="2597080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b="1" spc="12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NGÂN SÁCH NĂNG LƯỢNG ESP32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612454" y="924902"/>
              <a:ext cx="4152649" cy="1800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9"/>
                </a:lnSpc>
              </a:pPr>
              <a:r>
                <a:rPr lang="en-US" sz="79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Trạng thái</a:t>
              </a:r>
              <a:r>
                <a:rPr lang="en-US" sz="794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 </a:t>
              </a:r>
            </a:p>
            <a:p>
              <a:pPr algn="l">
                <a:lnSpc>
                  <a:spcPts val="1059"/>
                </a:lnSpc>
                <a:spcBef>
                  <a:spcPts val="662"/>
                </a:spcBef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Hoạt động + WiFi TX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  <a:p>
              <a:pPr algn="l">
                <a:lnSpc>
                  <a:spcPts val="1059"/>
                </a:lnSpc>
                <a:spcBef>
                  <a:spcPts val="662"/>
                </a:spcBef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Modem sleep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</a:p>
            <a:p>
              <a:pPr algn="l">
                <a:lnSpc>
                  <a:spcPts val="1059"/>
                </a:lnSpc>
                <a:spcBef>
                  <a:spcPts val="662"/>
                </a:spcBef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Deep sleep (RTC)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Chu kỳ 15 phút, thức 6 s mỗi lần: I_tb = (160 mA × 6 s + 0,05 mA × 894 s) / 900 s ≈ 1,12 mA Pin 18650 2600 mAh × 0,75 → ≈ 1740 h ≈ 72 ngày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026604" y="858227"/>
              <a:ext cx="1673100" cy="11269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21"/>
                </a:lnSpc>
              </a:pPr>
              <a:r>
                <a:rPr lang="en-US" sz="794" b="1">
                  <a:solidFill>
                    <a:srgbClr val="16305C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Dòng điện</a:t>
              </a:r>
            </a:p>
            <a:p>
              <a:pPr algn="l">
                <a:lnSpc>
                  <a:spcPts val="1721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~160 mA (đỉnh 500 mA)</a:t>
              </a:r>
            </a:p>
            <a:p>
              <a:pPr algn="l">
                <a:lnSpc>
                  <a:spcPts val="1721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~20 mA</a:t>
              </a:r>
            </a:p>
            <a:p>
              <a:pPr algn="l">
                <a:lnSpc>
                  <a:spcPts val="1721"/>
                </a:lnSpc>
              </a:pP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~10–50 µA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29903" y="181722"/>
              <a:ext cx="3401092" cy="2193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90"/>
                </a:lnSpc>
              </a:pPr>
              <a:r>
                <a:rPr lang="en-US" sz="993" b="1">
                  <a:solidFill>
                    <a:srgbClr val="FFFFFF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ỨNG DỤNG DI ĐỘNG — TRỌNG TÂM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3632" y="4093840"/>
              <a:ext cx="4810070" cy="20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05"/>
                </a:lnSpc>
              </a:pP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IDLE → PUMPING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khi 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soil &lt; 35 %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&amp;&amp; phao OK &amp;&amp; hết cooldown.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3632" y="4340491"/>
              <a:ext cx="4313688" cy="20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05"/>
                </a:lnSpc>
              </a:pP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PUMPING → IDLE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khi 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soil ≥ 55 %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(hysteresis) hoặc chạm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9991" y="4542454"/>
              <a:ext cx="164133" cy="205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 spc="198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</a:t>
              </a:r>
              <a:r>
                <a:rPr lang="en-US" sz="794" spc="198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.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3632" y="4788959"/>
              <a:ext cx="4037088" cy="206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05"/>
                </a:lnSpc>
              </a:pP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FAULT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: hết nước / 3 lần đọc cảm biến lỗi / TWDT reset.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9991" y="5334508"/>
              <a:ext cx="4764622" cy="11629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56"/>
                </a:lnSpc>
              </a:pP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Watchdog phần cứng 10 s; kết nối lại theo lũy thừa 1→60 s. Ring buffer 200 bản ghi trong RTC-RAM khi offline, gửi bù khi có mạng. NVS lưu ngưỡng, calib, WiFi; BLE/SoftAP cho lần cấu hình đầu. OTA A/B partition + rollback nếu boot lỗi.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17786" y="5527230"/>
              <a:ext cx="5134016" cy="1542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192"/>
                </a:lnSpc>
              </a:pP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Firebase Auth (email/Google) → UID gắn với 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gardenId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trong Security Rules.</a:t>
              </a:r>
            </a:p>
            <a:p>
              <a:pPr algn="just">
                <a:lnSpc>
                  <a:spcPts val="1192"/>
                </a:lnSpc>
                <a:spcBef>
                  <a:spcPts val="264"/>
                </a:spcBef>
              </a:pP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Lệnh ghi vào 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/cmd/{id}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với 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reqId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(idempotent) → Cloud Function ký &amp; publish MQTT. Offline: Hive cache dữ liệu cuối + hàng đợi lệnh chờ gửi lại. FCM chủ đề 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garden_{id}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; gộp cảnh báo, chống spam ≥ 15 phút/loại.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065567" y="3940916"/>
              <a:ext cx="4708710" cy="202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05"/>
                </a:lnSpc>
              </a:pP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Firmware: Unity/PlatformIO test, mock cảm biến; đo heap bằng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099208" y="4138835"/>
              <a:ext cx="2320086" cy="205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uxTaskGetStackHighWaterMark</a:t>
              </a:r>
              <a:r>
                <a:rPr lang="en-US" sz="794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794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.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065567" y="4394866"/>
              <a:ext cx="4944182" cy="12953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92"/>
                </a:lnSpc>
              </a:pP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App: 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flutter test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(unit ViewModel), widget test, integration_test end-to-end. Mạng: MQTT Explorer, mô phỏng trễ/mất gói (tc netem), Firebase Emulator Suite. Đo lường: logic analyzer cho I²C/1-Wire, đồng hồ đo dòng (Nordic PPK/INA219).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7713362" y="2823128"/>
              <a:ext cx="5128441" cy="916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56"/>
                </a:lnSpc>
              </a:pP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Rút ngắn thời gian thức: lưu kênh/BSSID WiFi vào RTC-RAM → kết nối lại ~0,8 s thay vì 3–5 s. Gộp nhiều mẫu rồi gửi một lần; tắt Bluetooth khi chạy. PV 6 V/2 W + TP4056 cho vận hành không cần sạc.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7713362" y="4107393"/>
              <a:ext cx="5110795" cy="6410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92"/>
                </a:lnSpc>
              </a:pP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Huỷ đăng ký stream khi màn hình nền; giới hạn điểm biểu đồ ≤ 500. Dùng 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const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widget, 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ListView.builder</a:t>
              </a:r>
              <a:r>
                <a:rPr lang="en-US" sz="860">
                  <a:solidFill>
                    <a:srgbClr val="FFFFFF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 </a:t>
              </a: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; hồ sơ bằng DevTools (khung hình &lt; 16 ms).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7713362" y="5087856"/>
              <a:ext cx="5099163" cy="1364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56"/>
                </a:lnSpc>
              </a:pP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Play Console (AAB, ký app) &amp; TestFlight; kênh nội bộ → beta → chính thức.</a:t>
              </a:r>
            </a:p>
            <a:p>
              <a:pPr algn="l">
                <a:lnSpc>
                  <a:spcPts val="1456"/>
                </a:lnSpc>
              </a:pPr>
              <a:r>
                <a:rPr lang="en-US" sz="860">
                  <a:solidFill>
                    <a:srgbClr val="1D2433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Kênh OTA firmware: stable / beta, phát dần theo tỉ lệ, chỉ ký firmware hợp lệ. Giám sát: Crashlytics, log thiết bị, cảnh báo tỉ lệ offline. Tài liệu: hướng dẫn lắp đặt, hiệu chuẩn cảm biến, xử lý sự cố.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066267" y="4340652"/>
              <a:ext cx="660472" cy="188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2"/>
                </a:lnSpc>
              </a:pPr>
              <a:r>
                <a:rPr lang="en-US" sz="794">
                  <a:solidFill>
                    <a:srgbClr val="1B3A6B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t_on 120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61728" y="939672"/>
              <a:ext cx="3628128" cy="1343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93"/>
                </a:lnSpc>
              </a:pPr>
              <a:r>
                <a:rPr lang="en-US" sz="728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View (Widget)</a:t>
              </a:r>
            </a:p>
            <a:p>
              <a:pPr algn="l">
                <a:lnSpc>
                  <a:spcPts val="993"/>
                </a:lnSpc>
              </a:pPr>
              <a:r>
                <a:rPr lang="en-US" sz="728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 ↕ state (Riverpod / Bloc) ViewModel  -&gt; logic + debounce + retry</a:t>
              </a:r>
            </a:p>
            <a:p>
              <a:pPr algn="l">
                <a:lnSpc>
                  <a:spcPts val="993"/>
                </a:lnSpc>
              </a:pPr>
              <a:r>
                <a:rPr lang="en-US" sz="728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  ↕ Repository → DeviceRepo | HistoryRepo | AuthRepo   ↕</a:t>
              </a:r>
            </a:p>
            <a:p>
              <a:pPr algn="l">
                <a:lnSpc>
                  <a:spcPts val="993"/>
                </a:lnSpc>
              </a:pPr>
              <a:r>
                <a:rPr lang="en-US" sz="728">
                  <a:solidFill>
                    <a:srgbClr val="16305C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DataSource: RTDB stream · Firestore query             FCM · Hive cache (offline)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8740" y="2803208"/>
            <a:ext cx="15590520" cy="641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 kế, huấn luyện, lượng tử hóa mô hình CNN bằng Python và trích xuất trọng số ra định dạng Hex.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Cấu hình lại lõi RV32E từ đồ án 1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Lập trình RTL cho khối tính toán MAC và mạch Clock Gating, sau đó tích hợp vào đường dẫn dữ liệu (Datapath) của CPU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Viết firmware điều khiển, nạp trọng số AI vào ROM và tiến hành mô phỏng toàn hệ thống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Đổ Bitstream xuống mạch thật. Viết giao diện trên máy tính truyền dữ liệu ảnh phổ radar qua UART và nhận lại kết quả phân loại</a:t>
            </a:r>
          </a:p>
          <a:p>
            <a:pPr algn="l">
              <a:lnSpc>
                <a:spcPts val="3888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871460" y="1057751"/>
            <a:ext cx="3459480" cy="97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Nội Dung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8740" y="2822258"/>
            <a:ext cx="15590520" cy="4041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Mã nguồn RTL hệ thống SoC tích hợp bộ tăng tốc phần cứng và mạch tiết kiệm năng lượng</a:t>
            </a:r>
          </a:p>
          <a:p>
            <a:pPr algn="l">
              <a:lnSpc>
                <a:spcPts val="3564"/>
              </a:lnSpc>
            </a:pPr>
            <a:endParaRPr lang="en-US" sz="3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3564"/>
              </a:lnSpc>
            </a:pP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Cơ chế phân loại AI chạy thành công và chính xác trên vi mạch thực tế</a:t>
            </a:r>
          </a:p>
          <a:p>
            <a:pPr algn="l">
              <a:lnSpc>
                <a:spcPts val="3564"/>
              </a:lnSpc>
            </a:pPr>
            <a:endParaRPr lang="en-US" sz="3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3564"/>
              </a:lnSpc>
            </a:pP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Báo cáo đối chiếu và đánh giá hiệu năng (thời gian tính toán, tài nguyên LUTs/DSP) cũng như thông số giảm công suất tiêu thụ nhờ áp dụng Hardware Accelerator và Clock Gating</a:t>
            </a:r>
          </a:p>
          <a:p>
            <a:pPr algn="l">
              <a:lnSpc>
                <a:spcPts val="3564"/>
              </a:lnSpc>
            </a:pPr>
            <a:endParaRPr lang="en-US" sz="33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831330" y="1057751"/>
            <a:ext cx="5539740" cy="97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Kết quả dự kiến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069817" y="4173814"/>
            <a:ext cx="10148366" cy="1939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0"/>
              </a:lnSpc>
            </a:pPr>
            <a:r>
              <a:rPr lang="en-US" sz="1272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Tiến độ tuần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2980" y="506730"/>
            <a:ext cx="1627632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1. Mục tiêu tuần 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4128" y="1448943"/>
            <a:ext cx="16002000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Tạo nền tảng phần mềm và dữ liệu để sẵn sàng tích hợp ESP32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25880" y="2152650"/>
            <a:ext cx="15590520" cy="6374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Xây dựng giao diện Web App phục vụ quản lý và giám sát.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Phát triển các chức năng cơ bản của ứng dụng.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Kết nối Firebase để lưu trữ, đồng bộ và hiển thị dữ liệu.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Chuẩn bị nền tảng phần mềm cho việc kết nối phần cứng ESP32.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Kiểm thử việc nhận dữ liệu từ Firebase trên Wokwi.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9848088"/>
            <a:ext cx="18287543" cy="438912"/>
            <a:chOff x="0" y="0"/>
            <a:chExt cx="24383390" cy="585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3364" cy="585216"/>
            </a:xfrm>
            <a:custGeom>
              <a:avLst/>
              <a:gdLst/>
              <a:ahLst/>
              <a:cxnLst/>
              <a:rect l="l" t="t" r="r" b="b"/>
              <a:pathLst>
                <a:path w="24383364" h="585216">
                  <a:moveTo>
                    <a:pt x="0" y="0"/>
                  </a:moveTo>
                  <a:lnTo>
                    <a:pt x="24383364" y="0"/>
                  </a:lnTo>
                  <a:lnTo>
                    <a:pt x="243833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2375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5820" y="9888474"/>
            <a:ext cx="16550640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tiến độ – Tuần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2980" y="506730"/>
            <a:ext cx="16276320" cy="95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2. Giao diện Web App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4128" y="1448943"/>
            <a:ext cx="16002000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Phần mềm nền tảng đã được xây dựng ở mức cơ bản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848088"/>
            <a:ext cx="18287543" cy="438912"/>
            <a:chOff x="0" y="0"/>
            <a:chExt cx="2438339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585216"/>
            </a:xfrm>
            <a:custGeom>
              <a:avLst/>
              <a:gdLst/>
              <a:ahLst/>
              <a:cxnLst/>
              <a:rect l="l" t="t" r="r" b="b"/>
              <a:pathLst>
                <a:path w="24383364" h="585216">
                  <a:moveTo>
                    <a:pt x="0" y="0"/>
                  </a:moveTo>
                  <a:lnTo>
                    <a:pt x="24383364" y="0"/>
                  </a:lnTo>
                  <a:lnTo>
                    <a:pt x="243833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2375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242820" y="468405"/>
            <a:ext cx="4040033" cy="9034722"/>
            <a:chOff x="0" y="0"/>
            <a:chExt cx="7750810" cy="173331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50810" cy="17333128"/>
            </a:xfrm>
            <a:custGeom>
              <a:avLst/>
              <a:gdLst/>
              <a:ahLst/>
              <a:cxnLst/>
              <a:rect l="l" t="t" r="r" b="b"/>
              <a:pathLst>
                <a:path w="7750810" h="17333128">
                  <a:moveTo>
                    <a:pt x="0" y="0"/>
                  </a:moveTo>
                  <a:lnTo>
                    <a:pt x="7750810" y="0"/>
                  </a:lnTo>
                  <a:lnTo>
                    <a:pt x="7750810" y="17333128"/>
                  </a:lnTo>
                  <a:lnTo>
                    <a:pt x="0" y="17333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3" r="-2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82980" y="2621661"/>
            <a:ext cx="6949440" cy="471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Thiết kế giao diện theo hướng trực quan, dễ theo dõi.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Xây dựng các khu vực hiển thị dữ liệu và trạng thái hệ thống.</a:t>
            </a:r>
          </a:p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Bố trí các thành phần phục vụ quản lý và giám sát.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5820" y="9888474"/>
            <a:ext cx="16550640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tiến độ – Tuần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2980" y="506730"/>
            <a:ext cx="16276320" cy="95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3. Các chức năng đã triển khai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4128" y="1448943"/>
            <a:ext cx="16002000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Các chức năng chính của Web App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29300" y="8900922"/>
            <a:ext cx="5029200" cy="54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Giao diện điều khiển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30100" y="8970969"/>
            <a:ext cx="5029200" cy="54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Giao diện cảnh báo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848088"/>
            <a:ext cx="18287543" cy="438912"/>
            <a:chOff x="0" y="0"/>
            <a:chExt cx="24383390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3364" cy="585216"/>
            </a:xfrm>
            <a:custGeom>
              <a:avLst/>
              <a:gdLst/>
              <a:ahLst/>
              <a:cxnLst/>
              <a:rect l="l" t="t" r="r" b="b"/>
              <a:pathLst>
                <a:path w="24383364" h="585216">
                  <a:moveTo>
                    <a:pt x="0" y="0"/>
                  </a:moveTo>
                  <a:lnTo>
                    <a:pt x="24383364" y="0"/>
                  </a:lnTo>
                  <a:lnTo>
                    <a:pt x="243833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2375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45820" y="9888474"/>
            <a:ext cx="16550640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tiến độ – Tuần 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65293" y="1094213"/>
            <a:ext cx="5372567" cy="8973331"/>
            <a:chOff x="0" y="0"/>
            <a:chExt cx="7163422" cy="119644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63435" cy="11964416"/>
            </a:xfrm>
            <a:custGeom>
              <a:avLst/>
              <a:gdLst/>
              <a:ahLst/>
              <a:cxnLst/>
              <a:rect l="l" t="t" r="r" b="b"/>
              <a:pathLst>
                <a:path w="7163435" h="11964416">
                  <a:moveTo>
                    <a:pt x="0" y="0"/>
                  </a:moveTo>
                  <a:lnTo>
                    <a:pt x="7163435" y="0"/>
                  </a:lnTo>
                  <a:lnTo>
                    <a:pt x="7163435" y="11964416"/>
                  </a:lnTo>
                  <a:lnTo>
                    <a:pt x="0" y="11964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48777" y="1094213"/>
            <a:ext cx="3337846" cy="7510158"/>
            <a:chOff x="0" y="0"/>
            <a:chExt cx="4450461" cy="100135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50461" cy="10013569"/>
            </a:xfrm>
            <a:custGeom>
              <a:avLst/>
              <a:gdLst/>
              <a:ahLst/>
              <a:cxnLst/>
              <a:rect l="l" t="t" r="r" b="b"/>
              <a:pathLst>
                <a:path w="4450461" h="10013569">
                  <a:moveTo>
                    <a:pt x="0" y="0"/>
                  </a:moveTo>
                  <a:lnTo>
                    <a:pt x="4450461" y="0"/>
                  </a:lnTo>
                  <a:lnTo>
                    <a:pt x="4450461" y="10013569"/>
                  </a:lnTo>
                  <a:lnTo>
                    <a:pt x="0" y="10013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808429" y="1164384"/>
            <a:ext cx="3440725" cy="7601607"/>
            <a:chOff x="0" y="0"/>
            <a:chExt cx="4587634" cy="101354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587621" cy="10135489"/>
            </a:xfrm>
            <a:custGeom>
              <a:avLst/>
              <a:gdLst/>
              <a:ahLst/>
              <a:cxnLst/>
              <a:rect l="l" t="t" r="r" b="b"/>
              <a:pathLst>
                <a:path w="4587621" h="10135489">
                  <a:moveTo>
                    <a:pt x="0" y="0"/>
                  </a:moveTo>
                  <a:lnTo>
                    <a:pt x="4587621" y="0"/>
                  </a:lnTo>
                  <a:lnTo>
                    <a:pt x="4587621" y="10135489"/>
                  </a:lnTo>
                  <a:lnTo>
                    <a:pt x="0" y="10135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2980" y="1984248"/>
            <a:ext cx="7818120" cy="5212080"/>
            <a:chOff x="0" y="0"/>
            <a:chExt cx="10424160" cy="69494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24160" cy="6949440"/>
            </a:xfrm>
            <a:custGeom>
              <a:avLst/>
              <a:gdLst/>
              <a:ahLst/>
              <a:cxnLst/>
              <a:rect l="l" t="t" r="r" b="b"/>
              <a:pathLst>
                <a:path w="10424160" h="6949440">
                  <a:moveTo>
                    <a:pt x="0" y="0"/>
                  </a:moveTo>
                  <a:lnTo>
                    <a:pt x="10424160" y="0"/>
                  </a:lnTo>
                  <a:lnTo>
                    <a:pt x="10424160" y="6949440"/>
                  </a:lnTo>
                  <a:lnTo>
                    <a:pt x="0" y="6949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771853" y="2077974"/>
            <a:ext cx="7818120" cy="5212080"/>
            <a:chOff x="0" y="0"/>
            <a:chExt cx="10424160" cy="6949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24160" cy="6949440"/>
            </a:xfrm>
            <a:custGeom>
              <a:avLst/>
              <a:gdLst/>
              <a:ahLst/>
              <a:cxnLst/>
              <a:rect l="l" t="t" r="r" b="b"/>
              <a:pathLst>
                <a:path w="10424160" h="6949440">
                  <a:moveTo>
                    <a:pt x="0" y="0"/>
                  </a:moveTo>
                  <a:lnTo>
                    <a:pt x="10424160" y="0"/>
                  </a:lnTo>
                  <a:lnTo>
                    <a:pt x="10424160" y="6949440"/>
                  </a:lnTo>
                  <a:lnTo>
                    <a:pt x="0" y="6949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848088"/>
            <a:ext cx="18287543" cy="438912"/>
            <a:chOff x="0" y="0"/>
            <a:chExt cx="24383390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3364" cy="585216"/>
            </a:xfrm>
            <a:custGeom>
              <a:avLst/>
              <a:gdLst/>
              <a:ahLst/>
              <a:cxnLst/>
              <a:rect l="l" t="t" r="r" b="b"/>
              <a:pathLst>
                <a:path w="24383364" h="585216">
                  <a:moveTo>
                    <a:pt x="0" y="0"/>
                  </a:moveTo>
                  <a:lnTo>
                    <a:pt x="24383364" y="0"/>
                  </a:lnTo>
                  <a:lnTo>
                    <a:pt x="243833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2375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82980" y="506730"/>
            <a:ext cx="16276320" cy="95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4. Kết nối Firebase &amp; kiểm thử Wokwi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4128" y="1448943"/>
            <a:ext cx="16002000" cy="53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Lưu trữ, đồng bộ và hiển thị dữ liệu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3040" y="7374255"/>
            <a:ext cx="15179040" cy="1769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Thiết lập kết nối Web App ↔ Firebase.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Lưu trữ và đồng bộ dữ liệu trên Firebase.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Đọc dữ liệu từ Firebase và hiển thị lên Web App.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Kiểm thử khả năng cập nhật dữ liệu trên Wokwi.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5820" y="9888474"/>
            <a:ext cx="16550640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tiến độ – Tuần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2980" y="506730"/>
            <a:ext cx="1627632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5. Kết quả tuần 4 &amp; kế hoạch tuần 5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976" y="2050256"/>
            <a:ext cx="7969568" cy="6735128"/>
            <a:chOff x="0" y="0"/>
            <a:chExt cx="10626090" cy="89801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26090" cy="8980170"/>
            </a:xfrm>
            <a:custGeom>
              <a:avLst/>
              <a:gdLst/>
              <a:ahLst/>
              <a:cxnLst/>
              <a:rect l="l" t="t" r="r" b="b"/>
              <a:pathLst>
                <a:path w="10626090" h="8980170">
                  <a:moveTo>
                    <a:pt x="0" y="1496695"/>
                  </a:moveTo>
                  <a:cubicBezTo>
                    <a:pt x="0" y="670052"/>
                    <a:pt x="670052" y="0"/>
                    <a:pt x="1496695" y="0"/>
                  </a:cubicBezTo>
                  <a:lnTo>
                    <a:pt x="9129395" y="0"/>
                  </a:lnTo>
                  <a:cubicBezTo>
                    <a:pt x="9956038" y="0"/>
                    <a:pt x="10626090" y="670052"/>
                    <a:pt x="10626090" y="1496695"/>
                  </a:cubicBezTo>
                  <a:lnTo>
                    <a:pt x="10626090" y="7483475"/>
                  </a:lnTo>
                  <a:cubicBezTo>
                    <a:pt x="10626090" y="8310118"/>
                    <a:pt x="9956038" y="8980170"/>
                    <a:pt x="9129395" y="8980170"/>
                  </a:cubicBezTo>
                  <a:lnTo>
                    <a:pt x="1496695" y="8980170"/>
                  </a:lnTo>
                  <a:cubicBezTo>
                    <a:pt x="670052" y="8980170"/>
                    <a:pt x="0" y="8310118"/>
                    <a:pt x="0" y="7483475"/>
                  </a:cubicBezTo>
                  <a:close/>
                </a:path>
              </a:pathLst>
            </a:custGeom>
            <a:solidFill>
              <a:srgbClr val="F2F7F4"/>
            </a:solidFill>
            <a:ln w="14288" cap="sq">
              <a:solidFill>
                <a:srgbClr val="1F7E4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63040" y="2495550"/>
            <a:ext cx="694944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1F7E4C"/>
                </a:solidFill>
                <a:latin typeface="Arial Bold"/>
                <a:ea typeface="Arial Bold"/>
                <a:cs typeface="Arial Bold"/>
                <a:sym typeface="Arial Bold"/>
              </a:rPr>
              <a:t>KẾT QUẢ ĐẠT ĐƯỢC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3040" y="3396615"/>
            <a:ext cx="6743700" cy="437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Web App đã có giao diện và các chức năng chính bước đầu.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Đã kết nối Firebase để lưu trữ, đồng bộ và hiển thị dữ liệu.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Đã kiểm thử việc nhận dữ liệu từ Firebase trên Wokwi.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Sẵn sàng chuyển sang giai đoạn triển khai phần cứng ESP32.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88316" y="2050256"/>
            <a:ext cx="7969568" cy="6735128"/>
            <a:chOff x="0" y="0"/>
            <a:chExt cx="10626090" cy="89801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26090" cy="8980170"/>
            </a:xfrm>
            <a:custGeom>
              <a:avLst/>
              <a:gdLst/>
              <a:ahLst/>
              <a:cxnLst/>
              <a:rect l="l" t="t" r="r" b="b"/>
              <a:pathLst>
                <a:path w="10626090" h="8980170">
                  <a:moveTo>
                    <a:pt x="0" y="1496695"/>
                  </a:moveTo>
                  <a:cubicBezTo>
                    <a:pt x="0" y="670052"/>
                    <a:pt x="670052" y="0"/>
                    <a:pt x="1496695" y="0"/>
                  </a:cubicBezTo>
                  <a:lnTo>
                    <a:pt x="9129395" y="0"/>
                  </a:lnTo>
                  <a:cubicBezTo>
                    <a:pt x="9956038" y="0"/>
                    <a:pt x="10626090" y="670052"/>
                    <a:pt x="10626090" y="1496695"/>
                  </a:cubicBezTo>
                  <a:lnTo>
                    <a:pt x="10626090" y="7483475"/>
                  </a:lnTo>
                  <a:cubicBezTo>
                    <a:pt x="10626090" y="8310118"/>
                    <a:pt x="9956038" y="8980170"/>
                    <a:pt x="9129395" y="8980170"/>
                  </a:cubicBezTo>
                  <a:lnTo>
                    <a:pt x="1496695" y="8980170"/>
                  </a:lnTo>
                  <a:cubicBezTo>
                    <a:pt x="670052" y="8980170"/>
                    <a:pt x="0" y="8310118"/>
                    <a:pt x="0" y="7483475"/>
                  </a:cubicBezTo>
                  <a:close/>
                </a:path>
              </a:pathLst>
            </a:custGeom>
            <a:solidFill>
              <a:srgbClr val="F5F7FC"/>
            </a:solidFill>
            <a:ln w="14288" cap="sq">
              <a:solidFill>
                <a:srgbClr val="12375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898380" y="2495550"/>
            <a:ext cx="694944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12375F"/>
                </a:solidFill>
                <a:latin typeface="Arial Bold"/>
                <a:ea typeface="Arial Bold"/>
                <a:cs typeface="Arial Bold"/>
                <a:sym typeface="Arial Bold"/>
              </a:rPr>
              <a:t>KẾ HOẠCH TUẦN 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380" y="3396615"/>
            <a:ext cx="6743700" cy="437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Thiết kế và lắp ráp phần cứng sử dụng ESP32.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Kết nối các cảm biến cần thiết.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Lập trình ESP32 để đọc dữ liệu cảm biến.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64"/>
                </a:solidFill>
                <a:latin typeface="Arial"/>
                <a:ea typeface="Arial"/>
                <a:cs typeface="Arial"/>
                <a:sym typeface="Arial"/>
              </a:rPr>
              <a:t>• Kiểm tra thu thập dữ liệu và chuẩn bị truyền lên Firebase.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9848088"/>
            <a:ext cx="18287543" cy="438912"/>
            <a:chOff x="0" y="0"/>
            <a:chExt cx="24383390" cy="5852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3364" cy="585216"/>
            </a:xfrm>
            <a:custGeom>
              <a:avLst/>
              <a:gdLst/>
              <a:ahLst/>
              <a:cxnLst/>
              <a:rect l="l" t="t" r="r" b="b"/>
              <a:pathLst>
                <a:path w="24383364" h="585216">
                  <a:moveTo>
                    <a:pt x="0" y="0"/>
                  </a:moveTo>
                  <a:lnTo>
                    <a:pt x="24383364" y="0"/>
                  </a:lnTo>
                  <a:lnTo>
                    <a:pt x="243833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2375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45820" y="9888474"/>
            <a:ext cx="16550640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tiến độ – Tuần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069817" y="4173814"/>
            <a:ext cx="10148366" cy="1939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0"/>
              </a:lnSpc>
            </a:pPr>
            <a:r>
              <a:rPr lang="en-US" sz="1272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Tiến độ tuần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0614745" y="6596832"/>
            <a:ext cx="4881975" cy="3805203"/>
          </a:xfrm>
          <a:custGeom>
            <a:avLst/>
            <a:gdLst/>
            <a:ahLst/>
            <a:cxnLst/>
            <a:rect l="l" t="t" r="r" b="b"/>
            <a:pathLst>
              <a:path w="4881975" h="3805203">
                <a:moveTo>
                  <a:pt x="0" y="0"/>
                </a:moveTo>
                <a:lnTo>
                  <a:pt x="4881975" y="0"/>
                </a:lnTo>
                <a:lnTo>
                  <a:pt x="4881975" y="3805202"/>
                </a:lnTo>
                <a:lnTo>
                  <a:pt x="0" y="3805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381165" y="2448729"/>
            <a:ext cx="5108484" cy="3805203"/>
          </a:xfrm>
          <a:custGeom>
            <a:avLst/>
            <a:gdLst/>
            <a:ahLst/>
            <a:cxnLst/>
            <a:rect l="l" t="t" r="r" b="b"/>
            <a:pathLst>
              <a:path w="5108484" h="3805203">
                <a:moveTo>
                  <a:pt x="0" y="0"/>
                </a:moveTo>
                <a:lnTo>
                  <a:pt x="5108485" y="0"/>
                </a:lnTo>
                <a:lnTo>
                  <a:pt x="5108485" y="3805203"/>
                </a:lnTo>
                <a:lnTo>
                  <a:pt x="0" y="3805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120788" y="2448729"/>
            <a:ext cx="4751863" cy="3805203"/>
          </a:xfrm>
          <a:custGeom>
            <a:avLst/>
            <a:gdLst/>
            <a:ahLst/>
            <a:cxnLst/>
            <a:rect l="l" t="t" r="r" b="b"/>
            <a:pathLst>
              <a:path w="4751863" h="3805203">
                <a:moveTo>
                  <a:pt x="0" y="0"/>
                </a:moveTo>
                <a:lnTo>
                  <a:pt x="4751863" y="0"/>
                </a:lnTo>
                <a:lnTo>
                  <a:pt x="4751863" y="3805203"/>
                </a:lnTo>
                <a:lnTo>
                  <a:pt x="0" y="38052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98947" y="3810804"/>
            <a:ext cx="6119225" cy="4598127"/>
          </a:xfrm>
          <a:custGeom>
            <a:avLst/>
            <a:gdLst/>
            <a:ahLst/>
            <a:cxnLst/>
            <a:rect l="l" t="t" r="r" b="b"/>
            <a:pathLst>
              <a:path w="6119225" h="4598127">
                <a:moveTo>
                  <a:pt x="0" y="0"/>
                </a:moveTo>
                <a:lnTo>
                  <a:pt x="6119225" y="0"/>
                </a:lnTo>
                <a:lnTo>
                  <a:pt x="6119225" y="4598128"/>
                </a:lnTo>
                <a:lnTo>
                  <a:pt x="0" y="45981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961504" y="897226"/>
            <a:ext cx="8920183" cy="82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8947" y="2448729"/>
            <a:ext cx="5157192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1. Phần cứng sử dụng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 rot="-5400000">
            <a:off x="2201549" y="2509819"/>
            <a:ext cx="5519910" cy="7359879"/>
          </a:xfrm>
          <a:custGeom>
            <a:avLst/>
            <a:gdLst/>
            <a:ahLst/>
            <a:cxnLst/>
            <a:rect l="l" t="t" r="r" b="b"/>
            <a:pathLst>
              <a:path w="5519910" h="7359879">
                <a:moveTo>
                  <a:pt x="0" y="0"/>
                </a:moveTo>
                <a:lnTo>
                  <a:pt x="5519909" y="0"/>
                </a:lnTo>
                <a:lnTo>
                  <a:pt x="5519909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961504" y="897226"/>
            <a:ext cx="8920183" cy="82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8947" y="2448729"/>
            <a:ext cx="292096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2. Lắp mạch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2767817"/>
            <a:ext cx="8393506" cy="639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Cảm biến Nhiệt độ &amp; Độ ẩm DHT22 :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VCC (hoặc dấu +) ➔ Nối vào chân 3V3 của ESP32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GND (hoặc dấu -) ➔ Nối vào chân GND của ESP32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DATA (hoặc OUT) ➔Nối trực tiếp vào chân D2 của ESP32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endParaRPr lang="en-US" sz="2621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Module Cảm biến Ánh sáng LDR :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VCC ➔ Nối vào chân 3V3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GND ➔ Nối vào chân GND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AO (Analog Output) ➔ Nối vào chân D34 của ESP32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endParaRPr lang="en-US" sz="2621" b="1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Cảm biến Độ ẩm đất điện dung V1.2 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VCC ➔ Nối vào chân 3V3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GND ➔ Nối vào chân GND</a:t>
            </a:r>
          </a:p>
          <a:p>
            <a:pPr algn="just">
              <a:lnSpc>
                <a:spcPts val="3146"/>
              </a:lnSpc>
              <a:spcBef>
                <a:spcPct val="0"/>
              </a:spcBef>
            </a:pPr>
            <a:r>
              <a:rPr lang="en-US" sz="26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Chân AOUT  ➔ Nối vào chân D35 của ESP32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3309964" y="4390093"/>
            <a:ext cx="11668073" cy="3855647"/>
          </a:xfrm>
          <a:custGeom>
            <a:avLst/>
            <a:gdLst/>
            <a:ahLst/>
            <a:cxnLst/>
            <a:rect l="l" t="t" r="r" b="b"/>
            <a:pathLst>
              <a:path w="11668073" h="3855647">
                <a:moveTo>
                  <a:pt x="0" y="0"/>
                </a:moveTo>
                <a:lnTo>
                  <a:pt x="11668072" y="0"/>
                </a:lnTo>
                <a:lnTo>
                  <a:pt x="11668072" y="3855647"/>
                </a:lnTo>
                <a:lnTo>
                  <a:pt x="0" y="38556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961504" y="897226"/>
            <a:ext cx="8920183" cy="82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8947" y="2448729"/>
            <a:ext cx="545401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3. Nạp code vào ESP32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6775521" y="2595726"/>
            <a:ext cx="9956586" cy="6356958"/>
          </a:xfrm>
          <a:custGeom>
            <a:avLst/>
            <a:gdLst/>
            <a:ahLst/>
            <a:cxnLst/>
            <a:rect l="l" t="t" r="r" b="b"/>
            <a:pathLst>
              <a:path w="9956586" h="6356958">
                <a:moveTo>
                  <a:pt x="0" y="0"/>
                </a:moveTo>
                <a:lnTo>
                  <a:pt x="9956586" y="0"/>
                </a:lnTo>
                <a:lnTo>
                  <a:pt x="995658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961504" y="897226"/>
            <a:ext cx="8920183" cy="82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8947" y="2448729"/>
            <a:ext cx="461295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4. Quan sát dữ liệu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234068"/>
            <a:ext cx="520113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Serial Monitor trên Arduino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4121588" y="3264891"/>
            <a:ext cx="10959214" cy="6164558"/>
          </a:xfrm>
          <a:custGeom>
            <a:avLst/>
            <a:gdLst/>
            <a:ahLst/>
            <a:cxnLst/>
            <a:rect l="l" t="t" r="r" b="b"/>
            <a:pathLst>
              <a:path w="10959214" h="6164558">
                <a:moveTo>
                  <a:pt x="0" y="0"/>
                </a:moveTo>
                <a:lnTo>
                  <a:pt x="10959214" y="0"/>
                </a:lnTo>
                <a:lnTo>
                  <a:pt x="10959214" y="6164558"/>
                </a:lnTo>
                <a:lnTo>
                  <a:pt x="0" y="6164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961504" y="897226"/>
            <a:ext cx="8920183" cy="82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8947" y="2448729"/>
            <a:ext cx="461295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4. Quan sát dữ liệu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8947" y="3264891"/>
            <a:ext cx="520113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Firebase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8206437" y="2393578"/>
            <a:ext cx="3307346" cy="7359879"/>
          </a:xfrm>
          <a:custGeom>
            <a:avLst/>
            <a:gdLst/>
            <a:ahLst/>
            <a:cxnLst/>
            <a:rect l="l" t="t" r="r" b="b"/>
            <a:pathLst>
              <a:path w="3307346" h="7359879">
                <a:moveTo>
                  <a:pt x="0" y="0"/>
                </a:moveTo>
                <a:lnTo>
                  <a:pt x="3307346" y="0"/>
                </a:lnTo>
                <a:lnTo>
                  <a:pt x="3307346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961504" y="897226"/>
            <a:ext cx="8920183" cy="82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541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Triển Khai Trên Phần Cứng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8947" y="2448729"/>
            <a:ext cx="461295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4. Quan sát dữ liệu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8947" y="3429804"/>
            <a:ext cx="520113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Expo Go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069817" y="4173814"/>
            <a:ext cx="10148366" cy="1939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0"/>
              </a:lnSpc>
            </a:pPr>
            <a:r>
              <a:rPr lang="en-US" sz="12725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Tiến độ tuần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961504" y="897226"/>
            <a:ext cx="892018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7"/>
              </a:lnSpc>
            </a:pPr>
            <a:r>
              <a:rPr lang="en-US" sz="541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8947" y="2448729"/>
            <a:ext cx="523934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1. Tích hợp điều khiển</a:t>
            </a:r>
          </a:p>
        </p:txBody>
      </p:sp>
      <p:sp>
        <p:nvSpPr>
          <p:cNvPr id="6" name="Freeform 6"/>
          <p:cNvSpPr/>
          <p:nvPr/>
        </p:nvSpPr>
        <p:spPr>
          <a:xfrm>
            <a:off x="9825615" y="2767817"/>
            <a:ext cx="5070846" cy="6490483"/>
          </a:xfrm>
          <a:custGeom>
            <a:avLst/>
            <a:gdLst/>
            <a:ahLst/>
            <a:cxnLst/>
            <a:rect l="l" t="t" r="r" b="b"/>
            <a:pathLst>
              <a:path w="5070846" h="6490483">
                <a:moveTo>
                  <a:pt x="0" y="0"/>
                </a:moveTo>
                <a:lnTo>
                  <a:pt x="5070846" y="0"/>
                </a:lnTo>
                <a:lnTo>
                  <a:pt x="5070846" y="6490483"/>
                </a:lnTo>
                <a:lnTo>
                  <a:pt x="0" y="64904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96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941180" y="3429804"/>
            <a:ext cx="5519910" cy="5530796"/>
          </a:xfrm>
          <a:custGeom>
            <a:avLst/>
            <a:gdLst/>
            <a:ahLst/>
            <a:cxnLst/>
            <a:rect l="l" t="t" r="r" b="b"/>
            <a:pathLst>
              <a:path w="5519910" h="5530796">
                <a:moveTo>
                  <a:pt x="0" y="0"/>
                </a:moveTo>
                <a:lnTo>
                  <a:pt x="5519910" y="0"/>
                </a:lnTo>
                <a:lnTo>
                  <a:pt x="5519910" y="5530796"/>
                </a:lnTo>
                <a:lnTo>
                  <a:pt x="0" y="5530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607" b="-2846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2941180" y="3429804"/>
            <a:ext cx="5519910" cy="5530796"/>
          </a:xfrm>
          <a:custGeom>
            <a:avLst/>
            <a:gdLst/>
            <a:ahLst/>
            <a:cxnLst/>
            <a:rect l="l" t="t" r="r" b="b"/>
            <a:pathLst>
              <a:path w="5519910" h="5530796">
                <a:moveTo>
                  <a:pt x="0" y="0"/>
                </a:moveTo>
                <a:lnTo>
                  <a:pt x="5519910" y="0"/>
                </a:lnTo>
                <a:lnTo>
                  <a:pt x="5519910" y="5530796"/>
                </a:lnTo>
                <a:lnTo>
                  <a:pt x="0" y="5530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07" b="-284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601195" y="1716376"/>
            <a:ext cx="3843539" cy="8344182"/>
          </a:xfrm>
          <a:custGeom>
            <a:avLst/>
            <a:gdLst/>
            <a:ahLst/>
            <a:cxnLst/>
            <a:rect l="l" t="t" r="r" b="b"/>
            <a:pathLst>
              <a:path w="3843539" h="8344182">
                <a:moveTo>
                  <a:pt x="0" y="0"/>
                </a:moveTo>
                <a:lnTo>
                  <a:pt x="3843539" y="0"/>
                </a:lnTo>
                <a:lnTo>
                  <a:pt x="3843539" y="8344182"/>
                </a:lnTo>
                <a:lnTo>
                  <a:pt x="0" y="8344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961504" y="897226"/>
            <a:ext cx="892018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7"/>
              </a:lnSpc>
            </a:pPr>
            <a:r>
              <a:rPr lang="en-US" sz="541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APPLICATION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8947" y="2448729"/>
            <a:ext cx="3149203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2. Auto Mode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8947" y="509588"/>
            <a:ext cx="17004497" cy="1600419"/>
            <a:chOff x="0" y="0"/>
            <a:chExt cx="22672662" cy="2133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672675" cy="2133854"/>
            </a:xfrm>
            <a:custGeom>
              <a:avLst/>
              <a:gdLst/>
              <a:ahLst/>
              <a:cxnLst/>
              <a:rect l="l" t="t" r="r" b="b"/>
              <a:pathLst>
                <a:path w="22672675" h="2133854">
                  <a:moveTo>
                    <a:pt x="0" y="0"/>
                  </a:moveTo>
                  <a:lnTo>
                    <a:pt x="22672675" y="0"/>
                  </a:lnTo>
                  <a:lnTo>
                    <a:pt x="22672675" y="2133854"/>
                  </a:lnTo>
                  <a:lnTo>
                    <a:pt x="0" y="2133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0447152" y="2110007"/>
            <a:ext cx="6959880" cy="7603887"/>
          </a:xfrm>
          <a:custGeom>
            <a:avLst/>
            <a:gdLst/>
            <a:ahLst/>
            <a:cxnLst/>
            <a:rect l="l" t="t" r="r" b="b"/>
            <a:pathLst>
              <a:path w="6959880" h="7603887">
                <a:moveTo>
                  <a:pt x="0" y="0"/>
                </a:moveTo>
                <a:lnTo>
                  <a:pt x="6959880" y="0"/>
                </a:lnTo>
                <a:lnTo>
                  <a:pt x="6959880" y="7603887"/>
                </a:lnTo>
                <a:lnTo>
                  <a:pt x="0" y="7603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82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961504" y="897226"/>
            <a:ext cx="892018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7"/>
              </a:lnSpc>
            </a:pPr>
            <a:r>
              <a:rPr lang="en-US" sz="541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APPLICATION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8947" y="2448729"/>
            <a:ext cx="2916793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3. FIREBASE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429804"/>
            <a:ext cx="941845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Thay đổi đường dẫn lưu trữ từ /smartFarm/ sang cấu trúc phân cấp đa người dùng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3047</Words>
  <Application>Microsoft Office PowerPoint</Application>
  <PresentationFormat>Custom</PresentationFormat>
  <Paragraphs>296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Times New Roman</vt:lpstr>
      <vt:lpstr>Aptos</vt:lpstr>
      <vt:lpstr>Times New Roman Bold</vt:lpstr>
      <vt:lpstr>Aptos Bold</vt:lpstr>
      <vt:lpstr>Arial Bold</vt:lpstr>
      <vt:lpstr>Arial</vt:lpstr>
      <vt:lpstr>Calibri</vt:lpstr>
      <vt:lpstr>DejaVu Sans Bold</vt:lpstr>
      <vt:lpstr>DejaVu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Presentation1.pptx</dc:title>
  <cp:lastModifiedBy>Nguyen Tri</cp:lastModifiedBy>
  <cp:revision>2</cp:revision>
  <dcterms:created xsi:type="dcterms:W3CDTF">2006-08-16T00:00:00Z</dcterms:created>
  <dcterms:modified xsi:type="dcterms:W3CDTF">2026-09-21T04:13:25Z</dcterms:modified>
  <dc:identifier>DAHR8QmCQQg</dc:identifier>
</cp:coreProperties>
</file>