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Times New Roman" charset="1" panose="02020603050405020304"/>
      <p:regular r:id="rId30"/>
    </p:embeddedFont>
    <p:embeddedFont>
      <p:font typeface="Times New Roman Bold" charset="1" panose="02020803070505020304"/>
      <p:regular r:id="rId31"/>
    </p:embeddedFont>
    <p:embeddedFont>
      <p:font typeface="Aptos Bold" charset="1" panose="020B0004020202020204"/>
      <p:regular r:id="rId32"/>
    </p:embeddedFont>
    <p:embeddedFont>
      <p:font typeface="DejaVu Sans Bold" charset="1" panose="020B0803030604020204"/>
      <p:regular r:id="rId33"/>
    </p:embeddedFont>
    <p:embeddedFont>
      <p:font typeface="DejaVu Sans Light" charset="1" panose="020B0603030804020204"/>
      <p:regular r:id="rId34"/>
    </p:embeddedFont>
    <p:embeddedFont>
      <p:font typeface="Aptos" charset="1" panose="020B0004020202020204"/>
      <p:regular r:id="rId35"/>
    </p:embeddedFont>
    <p:embeddedFont>
      <p:font typeface="Arial Bold" charset="1" panose="020B0704020202020204"/>
      <p:regular r:id="rId36"/>
    </p:embeddedFont>
    <p:embeddedFont>
      <p:font typeface="Arial" charset="1" panose="020B0604020202020204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notesMasters/notesMaster1.xml" Type="http://schemas.openxmlformats.org/officeDocument/2006/relationships/notesMaster"/><Relationship Id="rId28" Target="theme/theme2.xml" Type="http://schemas.openxmlformats.org/officeDocument/2006/relationships/theme"/><Relationship Id="rId29" Target="notesSlides/notesSlide1.xml" Type="http://schemas.openxmlformats.org/officeDocument/2006/relationships/notes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4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png" Type="http://schemas.openxmlformats.org/officeDocument/2006/relationships/image"/><Relationship Id="rId11" Target="../media/image15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20.png" Type="http://schemas.openxmlformats.org/officeDocument/2006/relationships/image"/><Relationship Id="rId17" Target="../media/image21.svg" Type="http://schemas.openxmlformats.org/officeDocument/2006/relationships/image"/><Relationship Id="rId18" Target="../media/image22.png" Type="http://schemas.openxmlformats.org/officeDocument/2006/relationships/image"/><Relationship Id="rId19" Target="../media/image23.png" Type="http://schemas.openxmlformats.org/officeDocument/2006/relationships/image"/><Relationship Id="rId2" Target="../media/image6.png" Type="http://schemas.openxmlformats.org/officeDocument/2006/relationships/image"/><Relationship Id="rId20" Target="../media/image24.png" Type="http://schemas.openxmlformats.org/officeDocument/2006/relationships/image"/><Relationship Id="rId21" Target="../media/image25.png" Type="http://schemas.openxmlformats.org/officeDocument/2006/relationships/image"/><Relationship Id="rId22" Target="../media/image26.png" Type="http://schemas.openxmlformats.org/officeDocument/2006/relationships/image"/><Relationship Id="rId23" Target="../media/image27.png" Type="http://schemas.openxmlformats.org/officeDocument/2006/relationships/image"/><Relationship Id="rId24" Target="../media/image28.png" Type="http://schemas.openxmlformats.org/officeDocument/2006/relationships/image"/><Relationship Id="rId25" Target="../media/image29.png" Type="http://schemas.openxmlformats.org/officeDocument/2006/relationships/image"/><Relationship Id="rId26" Target="../media/image30.png" Type="http://schemas.openxmlformats.org/officeDocument/2006/relationships/image"/><Relationship Id="rId27" Target="../media/image31.png" Type="http://schemas.openxmlformats.org/officeDocument/2006/relationships/image"/><Relationship Id="rId28" Target="../media/image32.png" Type="http://schemas.openxmlformats.org/officeDocument/2006/relationships/image"/><Relationship Id="rId29" Target="../media/image33.png" Type="http://schemas.openxmlformats.org/officeDocument/2006/relationships/image"/><Relationship Id="rId3" Target="../media/image7.svg" Type="http://schemas.openxmlformats.org/officeDocument/2006/relationships/image"/><Relationship Id="rId30" Target="../media/image34.png" Type="http://schemas.openxmlformats.org/officeDocument/2006/relationships/image"/><Relationship Id="rId31" Target="../media/image35.png" Type="http://schemas.openxmlformats.org/officeDocument/2006/relationships/image"/><Relationship Id="rId32" Target="../media/image36.png" Type="http://schemas.openxmlformats.org/officeDocument/2006/relationships/image"/><Relationship Id="rId33" Target="../media/image37.png" Type="http://schemas.openxmlformats.org/officeDocument/2006/relationships/image"/><Relationship Id="rId34" Target="../media/image38.png" Type="http://schemas.openxmlformats.org/officeDocument/2006/relationships/image"/><Relationship Id="rId35" Target="../media/image39.svg" Type="http://schemas.openxmlformats.org/officeDocument/2006/relationships/image"/><Relationship Id="rId36" Target="../media/image40.png" Type="http://schemas.openxmlformats.org/officeDocument/2006/relationships/image"/><Relationship Id="rId37" Target="../media/image41.svg" Type="http://schemas.openxmlformats.org/officeDocument/2006/relationships/image"/><Relationship Id="rId38" Target="../media/image42.png" Type="http://schemas.openxmlformats.org/officeDocument/2006/relationships/image"/><Relationship Id="rId39" Target="../media/image43.svg" Type="http://schemas.openxmlformats.org/officeDocument/2006/relationships/image"/><Relationship Id="rId4" Target="../media/image8.png" Type="http://schemas.openxmlformats.org/officeDocument/2006/relationships/image"/><Relationship Id="rId40" Target="../media/image44.png" Type="http://schemas.openxmlformats.org/officeDocument/2006/relationships/image"/><Relationship Id="rId41" Target="../media/image45.png" Type="http://schemas.openxmlformats.org/officeDocument/2006/relationships/image"/><Relationship Id="rId42" Target="../media/image46.png" Type="http://schemas.openxmlformats.org/officeDocument/2006/relationships/image"/><Relationship Id="rId43" Target="../media/image47.png" Type="http://schemas.openxmlformats.org/officeDocument/2006/relationships/image"/><Relationship Id="rId44" Target="../media/image48.png" Type="http://schemas.openxmlformats.org/officeDocument/2006/relationships/image"/><Relationship Id="rId45" Target="../media/image49.png" Type="http://schemas.openxmlformats.org/officeDocument/2006/relationships/image"/><Relationship Id="rId46" Target="../media/image50.png" Type="http://schemas.openxmlformats.org/officeDocument/2006/relationships/image"/><Relationship Id="rId47" Target="../media/image51.png" Type="http://schemas.openxmlformats.org/officeDocument/2006/relationships/image"/><Relationship Id="rId48" Target="../media/image52.png" Type="http://schemas.openxmlformats.org/officeDocument/2006/relationships/image"/><Relationship Id="rId49" Target="../media/image53.png" Type="http://schemas.openxmlformats.org/officeDocument/2006/relationships/image"/><Relationship Id="rId5" Target="../media/image9.svg" Type="http://schemas.openxmlformats.org/officeDocument/2006/relationships/image"/><Relationship Id="rId50" Target="../media/image54.png" Type="http://schemas.openxmlformats.org/officeDocument/2006/relationships/image"/><Relationship Id="rId51" Target="../media/image55.png" Type="http://schemas.openxmlformats.org/officeDocument/2006/relationships/image"/><Relationship Id="rId52" Target="../media/image56.png" Type="http://schemas.openxmlformats.org/officeDocument/2006/relationships/image"/><Relationship Id="rId53" Target="../media/image57.png" Type="http://schemas.openxmlformats.org/officeDocument/2006/relationships/image"/><Relationship Id="rId54" Target="../media/image58.png" Type="http://schemas.openxmlformats.org/officeDocument/2006/relationships/image"/><Relationship Id="rId55" Target="../media/image59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1.png" Type="http://schemas.openxmlformats.org/officeDocument/2006/relationships/image"/><Relationship Id="rId3" Target="../media/image62.png" Type="http://schemas.openxmlformats.org/officeDocument/2006/relationships/image"/><Relationship Id="rId4" Target="../media/image63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4.png" Type="http://schemas.openxmlformats.org/officeDocument/2006/relationships/image"/><Relationship Id="rId3" Target="../media/image6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66.png" Type="http://schemas.openxmlformats.org/officeDocument/2006/relationships/image"/><Relationship Id="rId4" Target="../media/image67.png" Type="http://schemas.openxmlformats.org/officeDocument/2006/relationships/image"/><Relationship Id="rId5" Target="../media/image68.png" Type="http://schemas.openxmlformats.org/officeDocument/2006/relationships/image"/><Relationship Id="rId6" Target="../media/image69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70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7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72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73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74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2163087"/>
            <a:ext cx="15438120" cy="1476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Ứng dụng Di động kết hợp với hệ thống nhúng ESP32</a:t>
            </a:r>
          </a:p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Quản lý và Giám sát cây trồng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96349" y="4705350"/>
            <a:ext cx="5918171" cy="3004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9"/>
              </a:lnSpc>
            </a:pPr>
            <a:r>
              <a:rPr lang="en-US" sz="34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GVHD: </a:t>
            </a:r>
          </a:p>
          <a:p>
            <a:pPr algn="l">
              <a:lnSpc>
                <a:spcPts val="8531"/>
              </a:lnSpc>
            </a:pPr>
            <a:r>
              <a:rPr lang="en-US" sz="34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</a:t>
            </a:r>
            <a:r>
              <a:rPr lang="en-US" sz="34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s.Huỳnh Hoàng Hà</a:t>
            </a:r>
          </a:p>
          <a:p>
            <a:pPr algn="l">
              <a:lnSpc>
                <a:spcPts val="7312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" y="4732479"/>
            <a:ext cx="8899681" cy="361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Thành Viên: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34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Đức Thắng                    23119205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34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Thế Toàn                       23119213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34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Thanh Trí                     23119217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34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Hữu Tuấn                     23119221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34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Thái Tú                         23119225</a:t>
            </a:r>
          </a:p>
          <a:p>
            <a:pPr algn="ctr">
              <a:lnSpc>
                <a:spcPts val="36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173458" y="2459380"/>
            <a:ext cx="11941084" cy="6518619"/>
          </a:xfrm>
          <a:custGeom>
            <a:avLst/>
            <a:gdLst/>
            <a:ahLst/>
            <a:cxnLst/>
            <a:rect r="r" b="b" t="t" l="l"/>
            <a:pathLst>
              <a:path h="6518619" w="11941084">
                <a:moveTo>
                  <a:pt x="0" y="0"/>
                </a:moveTo>
                <a:lnTo>
                  <a:pt x="11941084" y="0"/>
                </a:lnTo>
                <a:lnTo>
                  <a:pt x="11941084" y="6518619"/>
                </a:lnTo>
                <a:lnTo>
                  <a:pt x="0" y="65186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386643" y="1019175"/>
            <a:ext cx="1514713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Idea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173458" y="2739681"/>
            <a:ext cx="11941084" cy="6518619"/>
          </a:xfrm>
          <a:custGeom>
            <a:avLst/>
            <a:gdLst/>
            <a:ahLst/>
            <a:cxnLst/>
            <a:rect r="r" b="b" t="t" l="l"/>
            <a:pathLst>
              <a:path h="6518619" w="11941084">
                <a:moveTo>
                  <a:pt x="0" y="0"/>
                </a:moveTo>
                <a:lnTo>
                  <a:pt x="11941084" y="0"/>
                </a:lnTo>
                <a:lnTo>
                  <a:pt x="11941084" y="6518619"/>
                </a:lnTo>
                <a:lnTo>
                  <a:pt x="0" y="65186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218271" y="1019175"/>
            <a:ext cx="7851457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Function in Mobile app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2578473" y="2363578"/>
            <a:ext cx="13287513" cy="6772394"/>
          </a:xfrm>
          <a:custGeom>
            <a:avLst/>
            <a:gdLst/>
            <a:ahLst/>
            <a:cxnLst/>
            <a:rect r="r" b="b" t="t" l="l"/>
            <a:pathLst>
              <a:path h="6772394" w="13287513">
                <a:moveTo>
                  <a:pt x="0" y="0"/>
                </a:moveTo>
                <a:lnTo>
                  <a:pt x="13287512" y="0"/>
                </a:lnTo>
                <a:lnTo>
                  <a:pt x="13287512" y="6772394"/>
                </a:lnTo>
                <a:lnTo>
                  <a:pt x="0" y="6772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904733" y="1019175"/>
            <a:ext cx="3392924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PROCESS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-101764"/>
            <a:ext cx="15483472" cy="10490528"/>
            <a:chOff x="0" y="0"/>
            <a:chExt cx="20644629" cy="139873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44629" cy="13987371"/>
            </a:xfrm>
            <a:custGeom>
              <a:avLst/>
              <a:gdLst/>
              <a:ahLst/>
              <a:cxnLst/>
              <a:rect r="r" b="b" t="t" l="l"/>
              <a:pathLst>
                <a:path h="13987371" w="20644629">
                  <a:moveTo>
                    <a:pt x="0" y="0"/>
                  </a:moveTo>
                  <a:lnTo>
                    <a:pt x="20644629" y="0"/>
                  </a:lnTo>
                  <a:lnTo>
                    <a:pt x="20644629" y="13987371"/>
                  </a:lnTo>
                  <a:lnTo>
                    <a:pt x="0" y="139873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4072" t="0" r="-14426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263981" y="1605015"/>
              <a:ext cx="4003721" cy="7662574"/>
            </a:xfrm>
            <a:custGeom>
              <a:avLst/>
              <a:gdLst/>
              <a:ahLst/>
              <a:cxnLst/>
              <a:rect r="r" b="b" t="t" l="l"/>
              <a:pathLst>
                <a:path h="7662574" w="4003721">
                  <a:moveTo>
                    <a:pt x="0" y="0"/>
                  </a:moveTo>
                  <a:lnTo>
                    <a:pt x="4003721" y="0"/>
                  </a:lnTo>
                  <a:lnTo>
                    <a:pt x="4003721" y="7662574"/>
                  </a:lnTo>
                  <a:lnTo>
                    <a:pt x="0" y="76625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2249820" y="1605015"/>
              <a:ext cx="6016770" cy="7662574"/>
            </a:xfrm>
            <a:custGeom>
              <a:avLst/>
              <a:gdLst/>
              <a:ahLst/>
              <a:cxnLst/>
              <a:rect r="r" b="b" t="t" l="l"/>
              <a:pathLst>
                <a:path h="7662574" w="6016770">
                  <a:moveTo>
                    <a:pt x="0" y="0"/>
                  </a:moveTo>
                  <a:lnTo>
                    <a:pt x="6016770" y="0"/>
                  </a:lnTo>
                  <a:lnTo>
                    <a:pt x="6016770" y="7662574"/>
                  </a:lnTo>
                  <a:lnTo>
                    <a:pt x="0" y="76625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4249273" y="1605015"/>
              <a:ext cx="6016770" cy="7662574"/>
            </a:xfrm>
            <a:custGeom>
              <a:avLst/>
              <a:gdLst/>
              <a:ahLst/>
              <a:cxnLst/>
              <a:rect r="r" b="b" t="t" l="l"/>
              <a:pathLst>
                <a:path h="7662574" w="6016770">
                  <a:moveTo>
                    <a:pt x="0" y="0"/>
                  </a:moveTo>
                  <a:lnTo>
                    <a:pt x="6016770" y="0"/>
                  </a:lnTo>
                  <a:lnTo>
                    <a:pt x="6016770" y="7662574"/>
                  </a:lnTo>
                  <a:lnTo>
                    <a:pt x="0" y="76625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8248178" y="1605015"/>
              <a:ext cx="4003721" cy="7662574"/>
            </a:xfrm>
            <a:custGeom>
              <a:avLst/>
              <a:gdLst/>
              <a:ahLst/>
              <a:cxnLst/>
              <a:rect r="r" b="b" t="t" l="l"/>
              <a:pathLst>
                <a:path h="7662574" w="4003721">
                  <a:moveTo>
                    <a:pt x="0" y="0"/>
                  </a:moveTo>
                  <a:lnTo>
                    <a:pt x="4003721" y="0"/>
                  </a:lnTo>
                  <a:lnTo>
                    <a:pt x="4003721" y="7662574"/>
                  </a:lnTo>
                  <a:lnTo>
                    <a:pt x="0" y="76625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0234017" y="1605015"/>
              <a:ext cx="6016770" cy="7662574"/>
            </a:xfrm>
            <a:custGeom>
              <a:avLst/>
              <a:gdLst/>
              <a:ahLst/>
              <a:cxnLst/>
              <a:rect r="r" b="b" t="t" l="l"/>
              <a:pathLst>
                <a:path h="7662574" w="6016770">
                  <a:moveTo>
                    <a:pt x="0" y="0"/>
                  </a:moveTo>
                  <a:lnTo>
                    <a:pt x="6016770" y="0"/>
                  </a:lnTo>
                  <a:lnTo>
                    <a:pt x="6016770" y="7662574"/>
                  </a:lnTo>
                  <a:lnTo>
                    <a:pt x="0" y="76625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2233470" y="1605015"/>
              <a:ext cx="6016770" cy="7662574"/>
            </a:xfrm>
            <a:custGeom>
              <a:avLst/>
              <a:gdLst/>
              <a:ahLst/>
              <a:cxnLst/>
              <a:rect r="r" b="b" t="t" l="l"/>
              <a:pathLst>
                <a:path h="7662574" w="6016770">
                  <a:moveTo>
                    <a:pt x="0" y="0"/>
                  </a:moveTo>
                  <a:lnTo>
                    <a:pt x="6016770" y="0"/>
                  </a:lnTo>
                  <a:lnTo>
                    <a:pt x="6016770" y="7662574"/>
                  </a:lnTo>
                  <a:lnTo>
                    <a:pt x="0" y="76625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6232375" y="1605015"/>
              <a:ext cx="4017317" cy="7662574"/>
            </a:xfrm>
            <a:custGeom>
              <a:avLst/>
              <a:gdLst/>
              <a:ahLst/>
              <a:cxnLst/>
              <a:rect r="r" b="b" t="t" l="l"/>
              <a:pathLst>
                <a:path h="7662574" w="4017317">
                  <a:moveTo>
                    <a:pt x="0" y="0"/>
                  </a:moveTo>
                  <a:lnTo>
                    <a:pt x="4017318" y="0"/>
                  </a:lnTo>
                  <a:lnTo>
                    <a:pt x="4017318" y="7662574"/>
                  </a:lnTo>
                  <a:lnTo>
                    <a:pt x="0" y="76625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1" id="11"/>
            <p:cNvGrpSpPr/>
            <p:nvPr/>
          </p:nvGrpSpPr>
          <p:grpSpPr>
            <a:xfrm rot="0">
              <a:off x="576504" y="1659985"/>
              <a:ext cx="1575627" cy="299245"/>
              <a:chOff x="0" y="0"/>
              <a:chExt cx="1130300" cy="214668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1303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30300">
                    <a:moveTo>
                      <a:pt x="0" y="0"/>
                    </a:moveTo>
                    <a:lnTo>
                      <a:pt x="1130300" y="0"/>
                    </a:lnTo>
                    <a:lnTo>
                      <a:pt x="11303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3" id="13"/>
            <p:cNvGrpSpPr/>
            <p:nvPr/>
          </p:nvGrpSpPr>
          <p:grpSpPr>
            <a:xfrm rot="0">
              <a:off x="576504" y="8952163"/>
              <a:ext cx="1575627" cy="299245"/>
              <a:chOff x="0" y="0"/>
              <a:chExt cx="1130300" cy="214668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1303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30300">
                    <a:moveTo>
                      <a:pt x="0" y="0"/>
                    </a:moveTo>
                    <a:lnTo>
                      <a:pt x="1130300" y="0"/>
                    </a:lnTo>
                    <a:lnTo>
                      <a:pt x="11303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9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5" id="15"/>
            <p:cNvGrpSpPr/>
            <p:nvPr/>
          </p:nvGrpSpPr>
          <p:grpSpPr>
            <a:xfrm rot="0">
              <a:off x="290873" y="1959212"/>
              <a:ext cx="285631" cy="6992951"/>
              <a:chOff x="0" y="0"/>
              <a:chExt cx="204902" cy="50165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204851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0">
                  <a:alphaModFix amt="7843"/>
                </a:blip>
                <a:stretch>
                  <a:fillRect l="0" t="0" r="-24" b="0"/>
                </a:stretch>
              </a:blipFill>
            </p:spPr>
          </p:sp>
        </p:grpSp>
        <p:grpSp>
          <p:nvGrpSpPr>
            <p:cNvPr name="Group 17" id="17"/>
            <p:cNvGrpSpPr/>
            <p:nvPr/>
          </p:nvGrpSpPr>
          <p:grpSpPr>
            <a:xfrm rot="0">
              <a:off x="2152131" y="1959212"/>
              <a:ext cx="285631" cy="6992951"/>
              <a:chOff x="0" y="0"/>
              <a:chExt cx="204902" cy="50165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04851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1">
                  <a:alphaModFix amt="7843"/>
                </a:blip>
                <a:stretch>
                  <a:fillRect l="0" t="0" r="-24" b="0"/>
                </a:stretch>
              </a:blipFill>
            </p:spPr>
          </p:sp>
        </p:grpSp>
        <p:grpSp>
          <p:nvGrpSpPr>
            <p:cNvPr name="Group 19" id="19"/>
            <p:cNvGrpSpPr/>
            <p:nvPr/>
          </p:nvGrpSpPr>
          <p:grpSpPr>
            <a:xfrm rot="0">
              <a:off x="290873" y="1659985"/>
              <a:ext cx="285631" cy="299245"/>
              <a:chOff x="0" y="0"/>
              <a:chExt cx="204902" cy="214668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2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21" id="21"/>
            <p:cNvGrpSpPr/>
            <p:nvPr/>
          </p:nvGrpSpPr>
          <p:grpSpPr>
            <a:xfrm rot="0">
              <a:off x="2152131" y="1659985"/>
              <a:ext cx="285631" cy="299245"/>
              <a:chOff x="0" y="0"/>
              <a:chExt cx="204902" cy="214668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3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23" id="23"/>
            <p:cNvGrpSpPr/>
            <p:nvPr/>
          </p:nvGrpSpPr>
          <p:grpSpPr>
            <a:xfrm rot="0">
              <a:off x="2152131" y="8952163"/>
              <a:ext cx="285631" cy="299245"/>
              <a:chOff x="0" y="0"/>
              <a:chExt cx="204902" cy="214668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4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25" id="25"/>
            <p:cNvGrpSpPr/>
            <p:nvPr/>
          </p:nvGrpSpPr>
          <p:grpSpPr>
            <a:xfrm rot="0">
              <a:off x="290873" y="8952163"/>
              <a:ext cx="285631" cy="299245"/>
              <a:chOff x="0" y="0"/>
              <a:chExt cx="204902" cy="214668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5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27" id="27"/>
            <p:cNvGrpSpPr/>
            <p:nvPr/>
          </p:nvGrpSpPr>
          <p:grpSpPr>
            <a:xfrm rot="0">
              <a:off x="2577019" y="1659985"/>
              <a:ext cx="1557923" cy="299245"/>
              <a:chOff x="0" y="0"/>
              <a:chExt cx="1117600" cy="214668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11176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17600">
                    <a:moveTo>
                      <a:pt x="0" y="0"/>
                    </a:moveTo>
                    <a:lnTo>
                      <a:pt x="1117600" y="0"/>
                    </a:lnTo>
                    <a:lnTo>
                      <a:pt x="11176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6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2577019" y="8952163"/>
              <a:ext cx="1557923" cy="299245"/>
              <a:chOff x="0" y="0"/>
              <a:chExt cx="1117600" cy="214668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11176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17600">
                    <a:moveTo>
                      <a:pt x="0" y="0"/>
                    </a:moveTo>
                    <a:lnTo>
                      <a:pt x="1117600" y="0"/>
                    </a:lnTo>
                    <a:lnTo>
                      <a:pt x="11176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7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31" id="31"/>
            <p:cNvGrpSpPr/>
            <p:nvPr/>
          </p:nvGrpSpPr>
          <p:grpSpPr>
            <a:xfrm rot="0">
              <a:off x="2277774" y="1959212"/>
              <a:ext cx="299245" cy="6992951"/>
              <a:chOff x="0" y="0"/>
              <a:chExt cx="214668" cy="50165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8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33" id="33"/>
            <p:cNvGrpSpPr/>
            <p:nvPr/>
          </p:nvGrpSpPr>
          <p:grpSpPr>
            <a:xfrm rot="0">
              <a:off x="4134943" y="1959212"/>
              <a:ext cx="299245" cy="6992951"/>
              <a:chOff x="0" y="0"/>
              <a:chExt cx="214668" cy="50165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9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2277774" y="1659985"/>
              <a:ext cx="299245" cy="299245"/>
              <a:chOff x="0" y="0"/>
              <a:chExt cx="214668" cy="214668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0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37" id="37"/>
            <p:cNvGrpSpPr/>
            <p:nvPr/>
          </p:nvGrpSpPr>
          <p:grpSpPr>
            <a:xfrm rot="0">
              <a:off x="4134943" y="1659985"/>
              <a:ext cx="299245" cy="299245"/>
              <a:chOff x="0" y="0"/>
              <a:chExt cx="214668" cy="214668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1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39" id="39"/>
            <p:cNvGrpSpPr/>
            <p:nvPr/>
          </p:nvGrpSpPr>
          <p:grpSpPr>
            <a:xfrm rot="0">
              <a:off x="4134943" y="8952163"/>
              <a:ext cx="299245" cy="299245"/>
              <a:chOff x="0" y="0"/>
              <a:chExt cx="214668" cy="214668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2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41" id="41"/>
            <p:cNvGrpSpPr/>
            <p:nvPr/>
          </p:nvGrpSpPr>
          <p:grpSpPr>
            <a:xfrm rot="0">
              <a:off x="2277774" y="8952163"/>
              <a:ext cx="299245" cy="299245"/>
              <a:chOff x="0" y="0"/>
              <a:chExt cx="214668" cy="214668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3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43" id="43"/>
            <p:cNvGrpSpPr/>
            <p:nvPr/>
          </p:nvGrpSpPr>
          <p:grpSpPr>
            <a:xfrm rot="0">
              <a:off x="4577534" y="1659985"/>
              <a:ext cx="3558438" cy="299245"/>
              <a:chOff x="0" y="0"/>
              <a:chExt cx="2552700" cy="214668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5527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552700">
                    <a:moveTo>
                      <a:pt x="0" y="0"/>
                    </a:moveTo>
                    <a:lnTo>
                      <a:pt x="2552700" y="0"/>
                    </a:lnTo>
                    <a:lnTo>
                      <a:pt x="25527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6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45" id="45"/>
            <p:cNvGrpSpPr/>
            <p:nvPr/>
          </p:nvGrpSpPr>
          <p:grpSpPr>
            <a:xfrm rot="0">
              <a:off x="4577534" y="8952163"/>
              <a:ext cx="3558438" cy="299245"/>
              <a:chOff x="0" y="0"/>
              <a:chExt cx="2552700" cy="214668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25527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552700">
                    <a:moveTo>
                      <a:pt x="0" y="0"/>
                    </a:moveTo>
                    <a:lnTo>
                      <a:pt x="2552700" y="0"/>
                    </a:lnTo>
                    <a:lnTo>
                      <a:pt x="25527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7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47" id="47"/>
            <p:cNvGrpSpPr/>
            <p:nvPr/>
          </p:nvGrpSpPr>
          <p:grpSpPr>
            <a:xfrm rot="0">
              <a:off x="4278289" y="1959212"/>
              <a:ext cx="299245" cy="6992951"/>
              <a:chOff x="0" y="0"/>
              <a:chExt cx="214668" cy="50165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8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49" id="49"/>
            <p:cNvGrpSpPr/>
            <p:nvPr/>
          </p:nvGrpSpPr>
          <p:grpSpPr>
            <a:xfrm rot="0">
              <a:off x="8135973" y="1959212"/>
              <a:ext cx="299245" cy="6992951"/>
              <a:chOff x="0" y="0"/>
              <a:chExt cx="214668" cy="50165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9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51" id="51"/>
            <p:cNvGrpSpPr/>
            <p:nvPr/>
          </p:nvGrpSpPr>
          <p:grpSpPr>
            <a:xfrm rot="0">
              <a:off x="4278289" y="1659985"/>
              <a:ext cx="299245" cy="299245"/>
              <a:chOff x="0" y="0"/>
              <a:chExt cx="214668" cy="214668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0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53" id="53"/>
            <p:cNvGrpSpPr/>
            <p:nvPr/>
          </p:nvGrpSpPr>
          <p:grpSpPr>
            <a:xfrm rot="0">
              <a:off x="8135973" y="1659985"/>
              <a:ext cx="299245" cy="299245"/>
              <a:chOff x="0" y="0"/>
              <a:chExt cx="214668" cy="214668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1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55" id="55"/>
            <p:cNvGrpSpPr/>
            <p:nvPr/>
          </p:nvGrpSpPr>
          <p:grpSpPr>
            <a:xfrm rot="0">
              <a:off x="8135973" y="8952163"/>
              <a:ext cx="299245" cy="299245"/>
              <a:chOff x="0" y="0"/>
              <a:chExt cx="214668" cy="214668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2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57" id="57"/>
            <p:cNvGrpSpPr/>
            <p:nvPr/>
          </p:nvGrpSpPr>
          <p:grpSpPr>
            <a:xfrm rot="0">
              <a:off x="4278289" y="8952163"/>
              <a:ext cx="299245" cy="299245"/>
              <a:chOff x="0" y="0"/>
              <a:chExt cx="214668" cy="214668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3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59" id="59"/>
            <p:cNvGrpSpPr/>
            <p:nvPr/>
          </p:nvGrpSpPr>
          <p:grpSpPr>
            <a:xfrm rot="0">
              <a:off x="8560861" y="1659985"/>
              <a:ext cx="1575627" cy="299245"/>
              <a:chOff x="0" y="0"/>
              <a:chExt cx="1130300" cy="214668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11303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30300">
                    <a:moveTo>
                      <a:pt x="0" y="0"/>
                    </a:moveTo>
                    <a:lnTo>
                      <a:pt x="1130300" y="0"/>
                    </a:lnTo>
                    <a:lnTo>
                      <a:pt x="11303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61" id="61"/>
            <p:cNvGrpSpPr/>
            <p:nvPr/>
          </p:nvGrpSpPr>
          <p:grpSpPr>
            <a:xfrm rot="0">
              <a:off x="8560861" y="8952163"/>
              <a:ext cx="1575627" cy="299245"/>
              <a:chOff x="0" y="0"/>
              <a:chExt cx="1130300" cy="214668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11303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30300">
                    <a:moveTo>
                      <a:pt x="0" y="0"/>
                    </a:moveTo>
                    <a:lnTo>
                      <a:pt x="1130300" y="0"/>
                    </a:lnTo>
                    <a:lnTo>
                      <a:pt x="11303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9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63" id="63"/>
            <p:cNvGrpSpPr/>
            <p:nvPr/>
          </p:nvGrpSpPr>
          <p:grpSpPr>
            <a:xfrm rot="0">
              <a:off x="8275230" y="1959212"/>
              <a:ext cx="285631" cy="6992951"/>
              <a:chOff x="0" y="0"/>
              <a:chExt cx="204902" cy="5016500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204851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0">
                  <a:alphaModFix amt="7843"/>
                </a:blip>
                <a:stretch>
                  <a:fillRect l="0" t="0" r="-24" b="0"/>
                </a:stretch>
              </a:blipFill>
            </p:spPr>
          </p:sp>
        </p:grpSp>
        <p:grpSp>
          <p:nvGrpSpPr>
            <p:cNvPr name="Group 65" id="65"/>
            <p:cNvGrpSpPr/>
            <p:nvPr/>
          </p:nvGrpSpPr>
          <p:grpSpPr>
            <a:xfrm rot="0">
              <a:off x="10136488" y="1959212"/>
              <a:ext cx="285631" cy="6992951"/>
              <a:chOff x="0" y="0"/>
              <a:chExt cx="204902" cy="5016500"/>
            </a:xfrm>
          </p:grpSpPr>
          <p:sp>
            <p:nvSpPr>
              <p:cNvPr name="Freeform 66" id="66"/>
              <p:cNvSpPr/>
              <p:nvPr/>
            </p:nvSpPr>
            <p:spPr>
              <a:xfrm flipH="false" flipV="false" rot="0">
                <a:off x="0" y="0"/>
                <a:ext cx="204851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1">
                  <a:alphaModFix amt="7843"/>
                </a:blip>
                <a:stretch>
                  <a:fillRect l="0" t="0" r="-24" b="0"/>
                </a:stretch>
              </a:blipFill>
            </p:spPr>
          </p:sp>
        </p:grpSp>
        <p:grpSp>
          <p:nvGrpSpPr>
            <p:cNvPr name="Group 67" id="67"/>
            <p:cNvGrpSpPr/>
            <p:nvPr/>
          </p:nvGrpSpPr>
          <p:grpSpPr>
            <a:xfrm rot="0">
              <a:off x="8275230" y="1659985"/>
              <a:ext cx="285631" cy="299245"/>
              <a:chOff x="0" y="0"/>
              <a:chExt cx="204902" cy="214668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2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69" id="69"/>
            <p:cNvGrpSpPr/>
            <p:nvPr/>
          </p:nvGrpSpPr>
          <p:grpSpPr>
            <a:xfrm rot="0">
              <a:off x="10136488" y="1659985"/>
              <a:ext cx="285631" cy="299245"/>
              <a:chOff x="0" y="0"/>
              <a:chExt cx="204902" cy="214668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3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71" id="71"/>
            <p:cNvGrpSpPr/>
            <p:nvPr/>
          </p:nvGrpSpPr>
          <p:grpSpPr>
            <a:xfrm rot="0">
              <a:off x="10136488" y="8952163"/>
              <a:ext cx="285631" cy="299245"/>
              <a:chOff x="0" y="0"/>
              <a:chExt cx="204902" cy="214668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4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73" id="73"/>
            <p:cNvGrpSpPr/>
            <p:nvPr/>
          </p:nvGrpSpPr>
          <p:grpSpPr>
            <a:xfrm rot="0">
              <a:off x="8275230" y="8952163"/>
              <a:ext cx="285631" cy="299245"/>
              <a:chOff x="0" y="0"/>
              <a:chExt cx="204902" cy="214668"/>
            </a:xfrm>
          </p:grpSpPr>
          <p:sp>
            <p:nvSpPr>
              <p:cNvPr name="Freeform 74" id="74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5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75" id="75"/>
            <p:cNvGrpSpPr/>
            <p:nvPr/>
          </p:nvGrpSpPr>
          <p:grpSpPr>
            <a:xfrm rot="0">
              <a:off x="10561376" y="1659985"/>
              <a:ext cx="1557923" cy="299245"/>
              <a:chOff x="0" y="0"/>
              <a:chExt cx="1117600" cy="214668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0" y="0"/>
                <a:ext cx="11176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17600">
                    <a:moveTo>
                      <a:pt x="0" y="0"/>
                    </a:moveTo>
                    <a:lnTo>
                      <a:pt x="1117600" y="0"/>
                    </a:lnTo>
                    <a:lnTo>
                      <a:pt x="11176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6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561376" y="8952163"/>
              <a:ext cx="1557923" cy="299245"/>
              <a:chOff x="0" y="0"/>
              <a:chExt cx="1117600" cy="214668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11176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17600">
                    <a:moveTo>
                      <a:pt x="0" y="0"/>
                    </a:moveTo>
                    <a:lnTo>
                      <a:pt x="1117600" y="0"/>
                    </a:lnTo>
                    <a:lnTo>
                      <a:pt x="11176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7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79" id="79"/>
            <p:cNvGrpSpPr/>
            <p:nvPr/>
          </p:nvGrpSpPr>
          <p:grpSpPr>
            <a:xfrm rot="0">
              <a:off x="10262131" y="1959212"/>
              <a:ext cx="299245" cy="6992951"/>
              <a:chOff x="0" y="0"/>
              <a:chExt cx="214668" cy="5016500"/>
            </a:xfrm>
          </p:grpSpPr>
          <p:sp>
            <p:nvSpPr>
              <p:cNvPr name="Freeform 80" id="80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8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81" id="81"/>
            <p:cNvGrpSpPr/>
            <p:nvPr/>
          </p:nvGrpSpPr>
          <p:grpSpPr>
            <a:xfrm rot="0">
              <a:off x="12119299" y="1959212"/>
              <a:ext cx="299245" cy="6992951"/>
              <a:chOff x="0" y="0"/>
              <a:chExt cx="214668" cy="5016500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9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83" id="83"/>
            <p:cNvGrpSpPr/>
            <p:nvPr/>
          </p:nvGrpSpPr>
          <p:grpSpPr>
            <a:xfrm rot="0">
              <a:off x="10262131" y="1659985"/>
              <a:ext cx="299245" cy="299245"/>
              <a:chOff x="0" y="0"/>
              <a:chExt cx="214668" cy="214668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0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85" id="85"/>
            <p:cNvGrpSpPr/>
            <p:nvPr/>
          </p:nvGrpSpPr>
          <p:grpSpPr>
            <a:xfrm rot="0">
              <a:off x="12119299" y="1659985"/>
              <a:ext cx="299245" cy="299245"/>
              <a:chOff x="0" y="0"/>
              <a:chExt cx="214668" cy="214668"/>
            </a:xfrm>
          </p:grpSpPr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1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87" id="87"/>
            <p:cNvGrpSpPr/>
            <p:nvPr/>
          </p:nvGrpSpPr>
          <p:grpSpPr>
            <a:xfrm rot="0">
              <a:off x="12119299" y="8952163"/>
              <a:ext cx="299245" cy="299245"/>
              <a:chOff x="0" y="0"/>
              <a:chExt cx="214668" cy="214668"/>
            </a:xfrm>
          </p:grpSpPr>
          <p:sp>
            <p:nvSpPr>
              <p:cNvPr name="Freeform 88" id="88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2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89" id="89"/>
            <p:cNvGrpSpPr/>
            <p:nvPr/>
          </p:nvGrpSpPr>
          <p:grpSpPr>
            <a:xfrm rot="0">
              <a:off x="10262131" y="8952163"/>
              <a:ext cx="299245" cy="299245"/>
              <a:chOff x="0" y="0"/>
              <a:chExt cx="214668" cy="214668"/>
            </a:xfrm>
          </p:grpSpPr>
          <p:sp>
            <p:nvSpPr>
              <p:cNvPr name="Freeform 90" id="90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3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91" id="91"/>
            <p:cNvGrpSpPr/>
            <p:nvPr/>
          </p:nvGrpSpPr>
          <p:grpSpPr>
            <a:xfrm rot="0">
              <a:off x="12561891" y="1659985"/>
              <a:ext cx="3558438" cy="299245"/>
              <a:chOff x="0" y="0"/>
              <a:chExt cx="2552700" cy="214668"/>
            </a:xfrm>
          </p:grpSpPr>
          <p:sp>
            <p:nvSpPr>
              <p:cNvPr name="Freeform 92" id="92"/>
              <p:cNvSpPr/>
              <p:nvPr/>
            </p:nvSpPr>
            <p:spPr>
              <a:xfrm flipH="false" flipV="false" rot="0">
                <a:off x="0" y="0"/>
                <a:ext cx="25527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552700">
                    <a:moveTo>
                      <a:pt x="0" y="0"/>
                    </a:moveTo>
                    <a:lnTo>
                      <a:pt x="2552700" y="0"/>
                    </a:lnTo>
                    <a:lnTo>
                      <a:pt x="25527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6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93" id="93"/>
            <p:cNvGrpSpPr/>
            <p:nvPr/>
          </p:nvGrpSpPr>
          <p:grpSpPr>
            <a:xfrm rot="0">
              <a:off x="12561891" y="8952163"/>
              <a:ext cx="3558438" cy="299245"/>
              <a:chOff x="0" y="0"/>
              <a:chExt cx="2552700" cy="214668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25527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552700">
                    <a:moveTo>
                      <a:pt x="0" y="0"/>
                    </a:moveTo>
                    <a:lnTo>
                      <a:pt x="2552700" y="0"/>
                    </a:lnTo>
                    <a:lnTo>
                      <a:pt x="25527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7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95" id="95"/>
            <p:cNvGrpSpPr/>
            <p:nvPr/>
          </p:nvGrpSpPr>
          <p:grpSpPr>
            <a:xfrm rot="0">
              <a:off x="12262646" y="1959212"/>
              <a:ext cx="299245" cy="6992951"/>
              <a:chOff x="0" y="0"/>
              <a:chExt cx="214668" cy="5016500"/>
            </a:xfrm>
          </p:grpSpPr>
          <p:sp>
            <p:nvSpPr>
              <p:cNvPr name="Freeform 96" id="96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8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97" id="97"/>
            <p:cNvGrpSpPr/>
            <p:nvPr/>
          </p:nvGrpSpPr>
          <p:grpSpPr>
            <a:xfrm rot="0">
              <a:off x="16120329" y="1959212"/>
              <a:ext cx="299245" cy="6992951"/>
              <a:chOff x="0" y="0"/>
              <a:chExt cx="214668" cy="5016500"/>
            </a:xfrm>
          </p:grpSpPr>
          <p:sp>
            <p:nvSpPr>
              <p:cNvPr name="Freeform 98" id="98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9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99" id="99"/>
            <p:cNvGrpSpPr/>
            <p:nvPr/>
          </p:nvGrpSpPr>
          <p:grpSpPr>
            <a:xfrm rot="0">
              <a:off x="12262646" y="1659985"/>
              <a:ext cx="299245" cy="299245"/>
              <a:chOff x="0" y="0"/>
              <a:chExt cx="214668" cy="214668"/>
            </a:xfrm>
          </p:grpSpPr>
          <p:sp>
            <p:nvSpPr>
              <p:cNvPr name="Freeform 100" id="100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0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01" id="101"/>
            <p:cNvGrpSpPr/>
            <p:nvPr/>
          </p:nvGrpSpPr>
          <p:grpSpPr>
            <a:xfrm rot="0">
              <a:off x="16120329" y="1659985"/>
              <a:ext cx="299245" cy="299245"/>
              <a:chOff x="0" y="0"/>
              <a:chExt cx="214668" cy="214668"/>
            </a:xfrm>
          </p:grpSpPr>
          <p:sp>
            <p:nvSpPr>
              <p:cNvPr name="Freeform 102" id="102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1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03" id="103"/>
            <p:cNvGrpSpPr/>
            <p:nvPr/>
          </p:nvGrpSpPr>
          <p:grpSpPr>
            <a:xfrm rot="0">
              <a:off x="16120329" y="8952163"/>
              <a:ext cx="299245" cy="299245"/>
              <a:chOff x="0" y="0"/>
              <a:chExt cx="214668" cy="214668"/>
            </a:xfrm>
          </p:grpSpPr>
          <p:sp>
            <p:nvSpPr>
              <p:cNvPr name="Freeform 104" id="104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2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05" id="105"/>
            <p:cNvGrpSpPr/>
            <p:nvPr/>
          </p:nvGrpSpPr>
          <p:grpSpPr>
            <a:xfrm rot="0">
              <a:off x="12262646" y="8952163"/>
              <a:ext cx="299245" cy="299245"/>
              <a:chOff x="0" y="0"/>
              <a:chExt cx="214668" cy="214668"/>
            </a:xfrm>
          </p:grpSpPr>
          <p:sp>
            <p:nvSpPr>
              <p:cNvPr name="Freeform 106" id="106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3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07" id="107"/>
            <p:cNvGrpSpPr/>
            <p:nvPr/>
          </p:nvGrpSpPr>
          <p:grpSpPr>
            <a:xfrm rot="0">
              <a:off x="16562921" y="1659985"/>
              <a:ext cx="1557923" cy="299245"/>
              <a:chOff x="0" y="0"/>
              <a:chExt cx="1117600" cy="214668"/>
            </a:xfrm>
          </p:grpSpPr>
          <p:sp>
            <p:nvSpPr>
              <p:cNvPr name="Freeform 108" id="108"/>
              <p:cNvSpPr/>
              <p:nvPr/>
            </p:nvSpPr>
            <p:spPr>
              <a:xfrm flipH="false" flipV="false" rot="0">
                <a:off x="0" y="0"/>
                <a:ext cx="11176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17600">
                    <a:moveTo>
                      <a:pt x="0" y="0"/>
                    </a:moveTo>
                    <a:lnTo>
                      <a:pt x="1117600" y="0"/>
                    </a:lnTo>
                    <a:lnTo>
                      <a:pt x="11176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6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09" id="109"/>
            <p:cNvGrpSpPr/>
            <p:nvPr/>
          </p:nvGrpSpPr>
          <p:grpSpPr>
            <a:xfrm rot="0">
              <a:off x="16562921" y="8952163"/>
              <a:ext cx="1557923" cy="299245"/>
              <a:chOff x="0" y="0"/>
              <a:chExt cx="1117600" cy="214668"/>
            </a:xfrm>
          </p:grpSpPr>
          <p:sp>
            <p:nvSpPr>
              <p:cNvPr name="Freeform 110" id="110"/>
              <p:cNvSpPr/>
              <p:nvPr/>
            </p:nvSpPr>
            <p:spPr>
              <a:xfrm flipH="false" flipV="false" rot="0">
                <a:off x="0" y="0"/>
                <a:ext cx="11176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17600">
                    <a:moveTo>
                      <a:pt x="0" y="0"/>
                    </a:moveTo>
                    <a:lnTo>
                      <a:pt x="1117600" y="0"/>
                    </a:lnTo>
                    <a:lnTo>
                      <a:pt x="11176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7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11" id="111"/>
            <p:cNvGrpSpPr/>
            <p:nvPr/>
          </p:nvGrpSpPr>
          <p:grpSpPr>
            <a:xfrm rot="0">
              <a:off x="16263693" y="1959212"/>
              <a:ext cx="299245" cy="6992951"/>
              <a:chOff x="0" y="0"/>
              <a:chExt cx="214668" cy="5016500"/>
            </a:xfrm>
          </p:grpSpPr>
          <p:sp>
            <p:nvSpPr>
              <p:cNvPr name="Freeform 112" id="112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8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113" id="113"/>
            <p:cNvGrpSpPr/>
            <p:nvPr/>
          </p:nvGrpSpPr>
          <p:grpSpPr>
            <a:xfrm rot="0">
              <a:off x="18120844" y="1959212"/>
              <a:ext cx="299245" cy="6992951"/>
              <a:chOff x="0" y="0"/>
              <a:chExt cx="214668" cy="5016500"/>
            </a:xfrm>
          </p:grpSpPr>
          <p:sp>
            <p:nvSpPr>
              <p:cNvPr name="Freeform 114" id="114"/>
              <p:cNvSpPr/>
              <p:nvPr/>
            </p:nvSpPr>
            <p:spPr>
              <a:xfrm flipH="false" flipV="false" rot="0">
                <a:off x="0" y="0"/>
                <a:ext cx="214630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9">
                  <a:alphaModFix amt="7843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115" id="115"/>
            <p:cNvGrpSpPr/>
            <p:nvPr/>
          </p:nvGrpSpPr>
          <p:grpSpPr>
            <a:xfrm rot="0">
              <a:off x="16263693" y="1659985"/>
              <a:ext cx="299245" cy="299245"/>
              <a:chOff x="0" y="0"/>
              <a:chExt cx="214668" cy="214668"/>
            </a:xfrm>
          </p:grpSpPr>
          <p:sp>
            <p:nvSpPr>
              <p:cNvPr name="Freeform 116" id="116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0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17" id="117"/>
            <p:cNvGrpSpPr/>
            <p:nvPr/>
          </p:nvGrpSpPr>
          <p:grpSpPr>
            <a:xfrm rot="0">
              <a:off x="18120844" y="1659985"/>
              <a:ext cx="299245" cy="299245"/>
              <a:chOff x="0" y="0"/>
              <a:chExt cx="214668" cy="214668"/>
            </a:xfrm>
          </p:grpSpPr>
          <p:sp>
            <p:nvSpPr>
              <p:cNvPr name="Freeform 118" id="118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1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19" id="119"/>
            <p:cNvGrpSpPr/>
            <p:nvPr/>
          </p:nvGrpSpPr>
          <p:grpSpPr>
            <a:xfrm rot="0">
              <a:off x="18120844" y="8952163"/>
              <a:ext cx="299245" cy="299245"/>
              <a:chOff x="0" y="0"/>
              <a:chExt cx="214668" cy="214668"/>
            </a:xfrm>
          </p:grpSpPr>
          <p:sp>
            <p:nvSpPr>
              <p:cNvPr name="Freeform 120" id="120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2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21" id="121"/>
            <p:cNvGrpSpPr/>
            <p:nvPr/>
          </p:nvGrpSpPr>
          <p:grpSpPr>
            <a:xfrm rot="0">
              <a:off x="16263693" y="8952163"/>
              <a:ext cx="299245" cy="299245"/>
              <a:chOff x="0" y="0"/>
              <a:chExt cx="214668" cy="214668"/>
            </a:xfrm>
          </p:grpSpPr>
          <p:sp>
            <p:nvSpPr>
              <p:cNvPr name="Freeform 122" id="122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3">
                  <a:alphaModFix amt="7843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23" id="123"/>
            <p:cNvGrpSpPr/>
            <p:nvPr/>
          </p:nvGrpSpPr>
          <p:grpSpPr>
            <a:xfrm rot="0">
              <a:off x="18545732" y="1659985"/>
              <a:ext cx="1575627" cy="299245"/>
              <a:chOff x="0" y="0"/>
              <a:chExt cx="1130300" cy="214668"/>
            </a:xfrm>
          </p:grpSpPr>
          <p:sp>
            <p:nvSpPr>
              <p:cNvPr name="Freeform 124" id="124"/>
              <p:cNvSpPr/>
              <p:nvPr/>
            </p:nvSpPr>
            <p:spPr>
              <a:xfrm flipH="false" flipV="false" rot="0">
                <a:off x="0" y="0"/>
                <a:ext cx="11303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30300">
                    <a:moveTo>
                      <a:pt x="0" y="0"/>
                    </a:moveTo>
                    <a:lnTo>
                      <a:pt x="1130300" y="0"/>
                    </a:lnTo>
                    <a:lnTo>
                      <a:pt x="11303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25" id="125"/>
            <p:cNvGrpSpPr/>
            <p:nvPr/>
          </p:nvGrpSpPr>
          <p:grpSpPr>
            <a:xfrm rot="0">
              <a:off x="18545732" y="8952163"/>
              <a:ext cx="1575627" cy="299245"/>
              <a:chOff x="0" y="0"/>
              <a:chExt cx="1130300" cy="214668"/>
            </a:xfrm>
          </p:grpSpPr>
          <p:sp>
            <p:nvSpPr>
              <p:cNvPr name="Freeform 126" id="126"/>
              <p:cNvSpPr/>
              <p:nvPr/>
            </p:nvSpPr>
            <p:spPr>
              <a:xfrm flipH="false" flipV="false" rot="0">
                <a:off x="0" y="0"/>
                <a:ext cx="11303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1130300">
                    <a:moveTo>
                      <a:pt x="0" y="0"/>
                    </a:moveTo>
                    <a:lnTo>
                      <a:pt x="1130300" y="0"/>
                    </a:lnTo>
                    <a:lnTo>
                      <a:pt x="11303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9">
                  <a:alphaModFix amt="7843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27" id="127"/>
            <p:cNvGrpSpPr/>
            <p:nvPr/>
          </p:nvGrpSpPr>
          <p:grpSpPr>
            <a:xfrm rot="0">
              <a:off x="18260101" y="1959212"/>
              <a:ext cx="285631" cy="6992951"/>
              <a:chOff x="0" y="0"/>
              <a:chExt cx="204902" cy="5016500"/>
            </a:xfrm>
          </p:grpSpPr>
          <p:sp>
            <p:nvSpPr>
              <p:cNvPr name="Freeform 128" id="128"/>
              <p:cNvSpPr/>
              <p:nvPr/>
            </p:nvSpPr>
            <p:spPr>
              <a:xfrm flipH="false" flipV="false" rot="0">
                <a:off x="0" y="0"/>
                <a:ext cx="204851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0">
                  <a:alphaModFix amt="7843"/>
                </a:blip>
                <a:stretch>
                  <a:fillRect l="0" t="0" r="-24" b="0"/>
                </a:stretch>
              </a:blipFill>
            </p:spPr>
          </p:sp>
        </p:grpSp>
        <p:grpSp>
          <p:nvGrpSpPr>
            <p:cNvPr name="Group 129" id="129"/>
            <p:cNvGrpSpPr/>
            <p:nvPr/>
          </p:nvGrpSpPr>
          <p:grpSpPr>
            <a:xfrm rot="0">
              <a:off x="20121359" y="1959212"/>
              <a:ext cx="285631" cy="6992951"/>
              <a:chOff x="0" y="0"/>
              <a:chExt cx="204902" cy="5016500"/>
            </a:xfrm>
          </p:grpSpPr>
          <p:sp>
            <p:nvSpPr>
              <p:cNvPr name="Freeform 130" id="130"/>
              <p:cNvSpPr/>
              <p:nvPr/>
            </p:nvSpPr>
            <p:spPr>
              <a:xfrm flipH="false" flipV="false" rot="0">
                <a:off x="0" y="0"/>
                <a:ext cx="204851" cy="5016500"/>
              </a:xfrm>
              <a:custGeom>
                <a:avLst/>
                <a:gdLst/>
                <a:ahLst/>
                <a:cxnLst/>
                <a:rect r="r" b="b" t="t" l="l"/>
                <a:pathLst>
                  <a:path h="501650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5016500"/>
                    </a:lnTo>
                    <a:lnTo>
                      <a:pt x="0" y="50165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1">
                  <a:alphaModFix amt="7843"/>
                </a:blip>
                <a:stretch>
                  <a:fillRect l="0" t="0" r="-24" b="0"/>
                </a:stretch>
              </a:blipFill>
            </p:spPr>
          </p:sp>
        </p:grpSp>
        <p:grpSp>
          <p:nvGrpSpPr>
            <p:cNvPr name="Group 131" id="131"/>
            <p:cNvGrpSpPr/>
            <p:nvPr/>
          </p:nvGrpSpPr>
          <p:grpSpPr>
            <a:xfrm rot="0">
              <a:off x="18260101" y="1659985"/>
              <a:ext cx="285631" cy="299245"/>
              <a:chOff x="0" y="0"/>
              <a:chExt cx="204902" cy="214668"/>
            </a:xfrm>
          </p:grpSpPr>
          <p:sp>
            <p:nvSpPr>
              <p:cNvPr name="Freeform 132" id="132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2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133" id="133"/>
            <p:cNvGrpSpPr/>
            <p:nvPr/>
          </p:nvGrpSpPr>
          <p:grpSpPr>
            <a:xfrm rot="0">
              <a:off x="20121359" y="1659985"/>
              <a:ext cx="285631" cy="299245"/>
              <a:chOff x="0" y="0"/>
              <a:chExt cx="204902" cy="214668"/>
            </a:xfrm>
          </p:grpSpPr>
          <p:sp>
            <p:nvSpPr>
              <p:cNvPr name="Freeform 134" id="134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3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135" id="135"/>
            <p:cNvGrpSpPr/>
            <p:nvPr/>
          </p:nvGrpSpPr>
          <p:grpSpPr>
            <a:xfrm rot="0">
              <a:off x="20121359" y="8952163"/>
              <a:ext cx="285631" cy="299245"/>
              <a:chOff x="0" y="0"/>
              <a:chExt cx="204902" cy="214668"/>
            </a:xfrm>
          </p:grpSpPr>
          <p:sp>
            <p:nvSpPr>
              <p:cNvPr name="Freeform 136" id="136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4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137" id="137"/>
            <p:cNvGrpSpPr/>
            <p:nvPr/>
          </p:nvGrpSpPr>
          <p:grpSpPr>
            <a:xfrm rot="0">
              <a:off x="18260101" y="8952163"/>
              <a:ext cx="285631" cy="299245"/>
              <a:chOff x="0" y="0"/>
              <a:chExt cx="204902" cy="214668"/>
            </a:xfrm>
          </p:grpSpPr>
          <p:sp>
            <p:nvSpPr>
              <p:cNvPr name="Freeform 138" id="138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5">
                  <a:alphaModFix amt="7843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139" id="139"/>
            <p:cNvGrpSpPr/>
            <p:nvPr/>
          </p:nvGrpSpPr>
          <p:grpSpPr>
            <a:xfrm rot="0">
              <a:off x="586029" y="9612014"/>
              <a:ext cx="7195304" cy="3740467"/>
              <a:chOff x="0" y="0"/>
              <a:chExt cx="3871239" cy="2012455"/>
            </a:xfrm>
          </p:grpSpPr>
          <p:sp>
            <p:nvSpPr>
              <p:cNvPr name="Freeform 140" id="140"/>
              <p:cNvSpPr/>
              <p:nvPr/>
            </p:nvSpPr>
            <p:spPr>
              <a:xfrm flipH="false" flipV="false" rot="0">
                <a:off x="0" y="0"/>
                <a:ext cx="3871211" cy="2012436"/>
              </a:xfrm>
              <a:custGeom>
                <a:avLst/>
                <a:gdLst/>
                <a:ahLst/>
                <a:cxnLst/>
                <a:rect r="r" b="b" t="t" l="l"/>
                <a:pathLst>
                  <a:path h="2012436" w="3871211">
                    <a:moveTo>
                      <a:pt x="0" y="0"/>
                    </a:moveTo>
                    <a:lnTo>
                      <a:pt x="3871211" y="0"/>
                    </a:lnTo>
                    <a:lnTo>
                      <a:pt x="3871211" y="2012436"/>
                    </a:lnTo>
                    <a:lnTo>
                      <a:pt x="0" y="2012436"/>
                    </a:lnTo>
                    <a:close/>
                  </a:path>
                </a:pathLst>
              </a:custGeom>
              <a:solidFill>
                <a:srgbClr val="141414">
                  <a:alpha val="0"/>
                </a:srgbClr>
              </a:solidFill>
            </p:spPr>
          </p:sp>
        </p:grpSp>
        <p:sp>
          <p:nvSpPr>
            <p:cNvPr name="Freeform 141" id="141"/>
            <p:cNvSpPr/>
            <p:nvPr/>
          </p:nvSpPr>
          <p:spPr>
            <a:xfrm flipH="false" flipV="false" rot="0">
              <a:off x="18231810" y="1605015"/>
              <a:ext cx="2221899" cy="7662574"/>
            </a:xfrm>
            <a:custGeom>
              <a:avLst/>
              <a:gdLst/>
              <a:ahLst/>
              <a:cxnLst/>
              <a:rect r="r" b="b" t="t" l="l"/>
              <a:pathLst>
                <a:path h="7662574" w="2221899">
                  <a:moveTo>
                    <a:pt x="0" y="0"/>
                  </a:moveTo>
                  <a:lnTo>
                    <a:pt x="2221900" y="0"/>
                  </a:lnTo>
                  <a:lnTo>
                    <a:pt x="2221900" y="7662574"/>
                  </a:lnTo>
                  <a:lnTo>
                    <a:pt x="0" y="76625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2" id="142"/>
            <p:cNvSpPr/>
            <p:nvPr/>
          </p:nvSpPr>
          <p:spPr>
            <a:xfrm flipH="false" flipV="false" rot="0">
              <a:off x="263981" y="9249160"/>
              <a:ext cx="16585296" cy="4411773"/>
            </a:xfrm>
            <a:custGeom>
              <a:avLst/>
              <a:gdLst/>
              <a:ahLst/>
              <a:cxnLst/>
              <a:rect r="r" b="b" t="t" l="l"/>
              <a:pathLst>
                <a:path h="4411773" w="16585296">
                  <a:moveTo>
                    <a:pt x="0" y="0"/>
                  </a:moveTo>
                  <a:lnTo>
                    <a:pt x="16585297" y="0"/>
                  </a:lnTo>
                  <a:lnTo>
                    <a:pt x="16585297" y="4411773"/>
                  </a:lnTo>
                  <a:lnTo>
                    <a:pt x="0" y="4411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3" id="143"/>
            <p:cNvSpPr/>
            <p:nvPr/>
          </p:nvSpPr>
          <p:spPr>
            <a:xfrm flipH="false" flipV="false" rot="0">
              <a:off x="7867319" y="9249160"/>
              <a:ext cx="12382356" cy="4411773"/>
            </a:xfrm>
            <a:custGeom>
              <a:avLst/>
              <a:gdLst/>
              <a:ahLst/>
              <a:cxnLst/>
              <a:rect r="r" b="b" t="t" l="l"/>
              <a:pathLst>
                <a:path h="4411773" w="12382356">
                  <a:moveTo>
                    <a:pt x="0" y="0"/>
                  </a:moveTo>
                  <a:lnTo>
                    <a:pt x="12382356" y="0"/>
                  </a:lnTo>
                  <a:lnTo>
                    <a:pt x="12382356" y="4411773"/>
                  </a:lnTo>
                  <a:lnTo>
                    <a:pt x="0" y="4411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44" id="144"/>
            <p:cNvGrpSpPr/>
            <p:nvPr/>
          </p:nvGrpSpPr>
          <p:grpSpPr>
            <a:xfrm rot="0">
              <a:off x="576504" y="9307954"/>
              <a:ext cx="7187691" cy="299245"/>
              <a:chOff x="0" y="0"/>
              <a:chExt cx="5156200" cy="214668"/>
            </a:xfrm>
          </p:grpSpPr>
          <p:sp>
            <p:nvSpPr>
              <p:cNvPr name="Freeform 145" id="145"/>
              <p:cNvSpPr/>
              <p:nvPr/>
            </p:nvSpPr>
            <p:spPr>
              <a:xfrm flipH="false" flipV="false" rot="0">
                <a:off x="0" y="0"/>
                <a:ext cx="51562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5156200">
                    <a:moveTo>
                      <a:pt x="0" y="0"/>
                    </a:moveTo>
                    <a:lnTo>
                      <a:pt x="5156200" y="0"/>
                    </a:lnTo>
                    <a:lnTo>
                      <a:pt x="51562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0">
                  <a:alphaModFix amt="5882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46" id="146"/>
            <p:cNvGrpSpPr/>
            <p:nvPr/>
          </p:nvGrpSpPr>
          <p:grpSpPr>
            <a:xfrm rot="0">
              <a:off x="576504" y="13342674"/>
              <a:ext cx="7187691" cy="299245"/>
              <a:chOff x="0" y="0"/>
              <a:chExt cx="5156200" cy="214668"/>
            </a:xfrm>
          </p:grpSpPr>
          <p:sp>
            <p:nvSpPr>
              <p:cNvPr name="Freeform 147" id="147"/>
              <p:cNvSpPr/>
              <p:nvPr/>
            </p:nvSpPr>
            <p:spPr>
              <a:xfrm flipH="false" flipV="false" rot="0">
                <a:off x="0" y="0"/>
                <a:ext cx="51562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5156200">
                    <a:moveTo>
                      <a:pt x="0" y="0"/>
                    </a:moveTo>
                    <a:lnTo>
                      <a:pt x="5156200" y="0"/>
                    </a:lnTo>
                    <a:lnTo>
                      <a:pt x="51562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1">
                  <a:alphaModFix amt="5882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48" id="148"/>
            <p:cNvGrpSpPr/>
            <p:nvPr/>
          </p:nvGrpSpPr>
          <p:grpSpPr>
            <a:xfrm rot="0">
              <a:off x="290873" y="9607199"/>
              <a:ext cx="285631" cy="3735475"/>
              <a:chOff x="0" y="0"/>
              <a:chExt cx="204902" cy="2679700"/>
            </a:xfrm>
          </p:grpSpPr>
          <p:sp>
            <p:nvSpPr>
              <p:cNvPr name="Freeform 149" id="149"/>
              <p:cNvSpPr/>
              <p:nvPr/>
            </p:nvSpPr>
            <p:spPr>
              <a:xfrm flipH="false" flipV="false" rot="0">
                <a:off x="0" y="0"/>
                <a:ext cx="204851" cy="2679700"/>
              </a:xfrm>
              <a:custGeom>
                <a:avLst/>
                <a:gdLst/>
                <a:ahLst/>
                <a:cxnLst/>
                <a:rect r="r" b="b" t="t" l="l"/>
                <a:pathLst>
                  <a:path h="267970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679700"/>
                    </a:lnTo>
                    <a:lnTo>
                      <a:pt x="0" y="2679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2">
                  <a:alphaModFix amt="5882"/>
                </a:blip>
                <a:stretch>
                  <a:fillRect l="0" t="0" r="-24" b="0"/>
                </a:stretch>
              </a:blipFill>
            </p:spPr>
          </p:sp>
        </p:grpSp>
        <p:grpSp>
          <p:nvGrpSpPr>
            <p:cNvPr name="Group 150" id="150"/>
            <p:cNvGrpSpPr/>
            <p:nvPr/>
          </p:nvGrpSpPr>
          <p:grpSpPr>
            <a:xfrm rot="0">
              <a:off x="7764195" y="9607199"/>
              <a:ext cx="285631" cy="3735475"/>
              <a:chOff x="0" y="0"/>
              <a:chExt cx="204902" cy="2679700"/>
            </a:xfrm>
          </p:grpSpPr>
          <p:sp>
            <p:nvSpPr>
              <p:cNvPr name="Freeform 151" id="151"/>
              <p:cNvSpPr/>
              <p:nvPr/>
            </p:nvSpPr>
            <p:spPr>
              <a:xfrm flipH="false" flipV="false" rot="0">
                <a:off x="0" y="0"/>
                <a:ext cx="204851" cy="2679700"/>
              </a:xfrm>
              <a:custGeom>
                <a:avLst/>
                <a:gdLst/>
                <a:ahLst/>
                <a:cxnLst/>
                <a:rect r="r" b="b" t="t" l="l"/>
                <a:pathLst>
                  <a:path h="267970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679700"/>
                    </a:lnTo>
                    <a:lnTo>
                      <a:pt x="0" y="2679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3">
                  <a:alphaModFix amt="5882"/>
                </a:blip>
                <a:stretch>
                  <a:fillRect l="0" t="0" r="-24" b="0"/>
                </a:stretch>
              </a:blipFill>
            </p:spPr>
          </p:sp>
        </p:grpSp>
        <p:grpSp>
          <p:nvGrpSpPr>
            <p:cNvPr name="Group 152" id="152"/>
            <p:cNvGrpSpPr/>
            <p:nvPr/>
          </p:nvGrpSpPr>
          <p:grpSpPr>
            <a:xfrm rot="0">
              <a:off x="290873" y="9307954"/>
              <a:ext cx="285631" cy="299245"/>
              <a:chOff x="0" y="0"/>
              <a:chExt cx="204902" cy="214668"/>
            </a:xfrm>
          </p:grpSpPr>
          <p:sp>
            <p:nvSpPr>
              <p:cNvPr name="Freeform 153" id="153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4">
                  <a:alphaModFix amt="5882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154" id="154"/>
            <p:cNvGrpSpPr/>
            <p:nvPr/>
          </p:nvGrpSpPr>
          <p:grpSpPr>
            <a:xfrm rot="0">
              <a:off x="7764195" y="9307954"/>
              <a:ext cx="285631" cy="299245"/>
              <a:chOff x="0" y="0"/>
              <a:chExt cx="204902" cy="214668"/>
            </a:xfrm>
          </p:grpSpPr>
          <p:sp>
            <p:nvSpPr>
              <p:cNvPr name="Freeform 155" id="155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5">
                  <a:alphaModFix amt="5882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156" id="156"/>
            <p:cNvGrpSpPr/>
            <p:nvPr/>
          </p:nvGrpSpPr>
          <p:grpSpPr>
            <a:xfrm rot="0">
              <a:off x="7764195" y="13342674"/>
              <a:ext cx="285631" cy="299245"/>
              <a:chOff x="0" y="0"/>
              <a:chExt cx="204902" cy="214668"/>
            </a:xfrm>
          </p:grpSpPr>
          <p:sp>
            <p:nvSpPr>
              <p:cNvPr name="Freeform 157" id="157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6">
                  <a:alphaModFix amt="5882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158" id="158"/>
            <p:cNvGrpSpPr/>
            <p:nvPr/>
          </p:nvGrpSpPr>
          <p:grpSpPr>
            <a:xfrm rot="0">
              <a:off x="290873" y="13342674"/>
              <a:ext cx="285631" cy="299245"/>
              <a:chOff x="0" y="0"/>
              <a:chExt cx="204902" cy="214668"/>
            </a:xfrm>
          </p:grpSpPr>
          <p:sp>
            <p:nvSpPr>
              <p:cNvPr name="Freeform 159" id="159"/>
              <p:cNvSpPr/>
              <p:nvPr/>
            </p:nvSpPr>
            <p:spPr>
              <a:xfrm flipH="false" flipV="false" rot="0">
                <a:off x="0" y="0"/>
                <a:ext cx="204851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04851">
                    <a:moveTo>
                      <a:pt x="0" y="0"/>
                    </a:moveTo>
                    <a:lnTo>
                      <a:pt x="204851" y="0"/>
                    </a:lnTo>
                    <a:lnTo>
                      <a:pt x="204851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7">
                  <a:alphaModFix amt="5882"/>
                </a:blip>
                <a:stretch>
                  <a:fillRect l="0" t="0" r="-24" b="-17"/>
                </a:stretch>
              </a:blipFill>
            </p:spPr>
          </p:sp>
        </p:grpSp>
        <p:grpSp>
          <p:nvGrpSpPr>
            <p:cNvPr name="Group 160" id="160"/>
            <p:cNvGrpSpPr/>
            <p:nvPr/>
          </p:nvGrpSpPr>
          <p:grpSpPr>
            <a:xfrm rot="0">
              <a:off x="8189084" y="9307954"/>
              <a:ext cx="8533170" cy="299245"/>
              <a:chOff x="0" y="0"/>
              <a:chExt cx="6121400" cy="214668"/>
            </a:xfrm>
          </p:grpSpPr>
          <p:sp>
            <p:nvSpPr>
              <p:cNvPr name="Freeform 161" id="161"/>
              <p:cNvSpPr/>
              <p:nvPr/>
            </p:nvSpPr>
            <p:spPr>
              <a:xfrm flipH="false" flipV="false" rot="0">
                <a:off x="0" y="0"/>
                <a:ext cx="61214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6121400">
                    <a:moveTo>
                      <a:pt x="0" y="0"/>
                    </a:moveTo>
                    <a:lnTo>
                      <a:pt x="6121400" y="0"/>
                    </a:lnTo>
                    <a:lnTo>
                      <a:pt x="61214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0">
                  <a:alphaModFix amt="5882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62" id="162"/>
            <p:cNvGrpSpPr/>
            <p:nvPr/>
          </p:nvGrpSpPr>
          <p:grpSpPr>
            <a:xfrm rot="0">
              <a:off x="8189084" y="13342674"/>
              <a:ext cx="8533170" cy="299245"/>
              <a:chOff x="0" y="0"/>
              <a:chExt cx="6121400" cy="214668"/>
            </a:xfrm>
          </p:grpSpPr>
          <p:sp>
            <p:nvSpPr>
              <p:cNvPr name="Freeform 163" id="163"/>
              <p:cNvSpPr/>
              <p:nvPr/>
            </p:nvSpPr>
            <p:spPr>
              <a:xfrm flipH="false" flipV="false" rot="0">
                <a:off x="0" y="0"/>
                <a:ext cx="61214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6121400">
                    <a:moveTo>
                      <a:pt x="0" y="0"/>
                    </a:moveTo>
                    <a:lnTo>
                      <a:pt x="6121400" y="0"/>
                    </a:lnTo>
                    <a:lnTo>
                      <a:pt x="61214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1">
                  <a:alphaModFix amt="5882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64" id="164"/>
            <p:cNvGrpSpPr/>
            <p:nvPr/>
          </p:nvGrpSpPr>
          <p:grpSpPr>
            <a:xfrm rot="0">
              <a:off x="7889838" y="9607199"/>
              <a:ext cx="299245" cy="3735475"/>
              <a:chOff x="0" y="0"/>
              <a:chExt cx="214668" cy="2679700"/>
            </a:xfrm>
          </p:grpSpPr>
          <p:sp>
            <p:nvSpPr>
              <p:cNvPr name="Freeform 165" id="165"/>
              <p:cNvSpPr/>
              <p:nvPr/>
            </p:nvSpPr>
            <p:spPr>
              <a:xfrm flipH="false" flipV="false" rot="0">
                <a:off x="0" y="0"/>
                <a:ext cx="214630" cy="2679700"/>
              </a:xfrm>
              <a:custGeom>
                <a:avLst/>
                <a:gdLst/>
                <a:ahLst/>
                <a:cxnLst/>
                <a:rect r="r" b="b" t="t" l="l"/>
                <a:pathLst>
                  <a:path h="26797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679700"/>
                    </a:lnTo>
                    <a:lnTo>
                      <a:pt x="0" y="2679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8">
                  <a:alphaModFix amt="5882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166" id="166"/>
            <p:cNvGrpSpPr/>
            <p:nvPr/>
          </p:nvGrpSpPr>
          <p:grpSpPr>
            <a:xfrm rot="0">
              <a:off x="16722254" y="9607199"/>
              <a:ext cx="299245" cy="3735475"/>
              <a:chOff x="0" y="0"/>
              <a:chExt cx="214668" cy="2679700"/>
            </a:xfrm>
          </p:grpSpPr>
          <p:sp>
            <p:nvSpPr>
              <p:cNvPr name="Freeform 167" id="167"/>
              <p:cNvSpPr/>
              <p:nvPr/>
            </p:nvSpPr>
            <p:spPr>
              <a:xfrm flipH="false" flipV="false" rot="0">
                <a:off x="0" y="0"/>
                <a:ext cx="214630" cy="2679700"/>
              </a:xfrm>
              <a:custGeom>
                <a:avLst/>
                <a:gdLst/>
                <a:ahLst/>
                <a:cxnLst/>
                <a:rect r="r" b="b" t="t" l="l"/>
                <a:pathLst>
                  <a:path h="26797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679700"/>
                    </a:lnTo>
                    <a:lnTo>
                      <a:pt x="0" y="2679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9">
                  <a:alphaModFix amt="5882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168" id="168"/>
            <p:cNvGrpSpPr/>
            <p:nvPr/>
          </p:nvGrpSpPr>
          <p:grpSpPr>
            <a:xfrm rot="0">
              <a:off x="7889838" y="9307954"/>
              <a:ext cx="299245" cy="299245"/>
              <a:chOff x="0" y="0"/>
              <a:chExt cx="214668" cy="214668"/>
            </a:xfrm>
          </p:grpSpPr>
          <p:sp>
            <p:nvSpPr>
              <p:cNvPr name="Freeform 169" id="169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0">
                  <a:alphaModFix amt="5882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70" id="170"/>
            <p:cNvGrpSpPr/>
            <p:nvPr/>
          </p:nvGrpSpPr>
          <p:grpSpPr>
            <a:xfrm rot="0">
              <a:off x="16722254" y="9307954"/>
              <a:ext cx="299245" cy="299245"/>
              <a:chOff x="0" y="0"/>
              <a:chExt cx="214668" cy="214668"/>
            </a:xfrm>
          </p:grpSpPr>
          <p:sp>
            <p:nvSpPr>
              <p:cNvPr name="Freeform 171" id="171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1">
                  <a:alphaModFix amt="5882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72" id="172"/>
            <p:cNvGrpSpPr/>
            <p:nvPr/>
          </p:nvGrpSpPr>
          <p:grpSpPr>
            <a:xfrm rot="0">
              <a:off x="16722254" y="13342674"/>
              <a:ext cx="299245" cy="299245"/>
              <a:chOff x="0" y="0"/>
              <a:chExt cx="214668" cy="214668"/>
            </a:xfrm>
          </p:grpSpPr>
          <p:sp>
            <p:nvSpPr>
              <p:cNvPr name="Freeform 173" id="173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2">
                  <a:alphaModFix amt="5882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74" id="174"/>
            <p:cNvGrpSpPr/>
            <p:nvPr/>
          </p:nvGrpSpPr>
          <p:grpSpPr>
            <a:xfrm rot="0">
              <a:off x="7889838" y="13342674"/>
              <a:ext cx="299245" cy="299245"/>
              <a:chOff x="0" y="0"/>
              <a:chExt cx="214668" cy="214668"/>
            </a:xfrm>
          </p:grpSpPr>
          <p:sp>
            <p:nvSpPr>
              <p:cNvPr name="Freeform 175" id="175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3">
                  <a:alphaModFix amt="5882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76" id="176"/>
            <p:cNvGrpSpPr/>
            <p:nvPr/>
          </p:nvGrpSpPr>
          <p:grpSpPr>
            <a:xfrm rot="0">
              <a:off x="17164846" y="9307954"/>
              <a:ext cx="2956513" cy="299245"/>
              <a:chOff x="0" y="0"/>
              <a:chExt cx="2120900" cy="214668"/>
            </a:xfrm>
          </p:grpSpPr>
          <p:sp>
            <p:nvSpPr>
              <p:cNvPr name="Freeform 177" id="177"/>
              <p:cNvSpPr/>
              <p:nvPr/>
            </p:nvSpPr>
            <p:spPr>
              <a:xfrm flipH="false" flipV="false" rot="0">
                <a:off x="0" y="0"/>
                <a:ext cx="21209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20900">
                    <a:moveTo>
                      <a:pt x="0" y="0"/>
                    </a:moveTo>
                    <a:lnTo>
                      <a:pt x="2120900" y="0"/>
                    </a:lnTo>
                    <a:lnTo>
                      <a:pt x="21209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0">
                  <a:alphaModFix amt="5882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78" id="178"/>
            <p:cNvGrpSpPr/>
            <p:nvPr/>
          </p:nvGrpSpPr>
          <p:grpSpPr>
            <a:xfrm rot="0">
              <a:off x="17164846" y="13342674"/>
              <a:ext cx="2956513" cy="299245"/>
              <a:chOff x="0" y="0"/>
              <a:chExt cx="2120900" cy="214668"/>
            </a:xfrm>
          </p:grpSpPr>
          <p:sp>
            <p:nvSpPr>
              <p:cNvPr name="Freeform 179" id="179"/>
              <p:cNvSpPr/>
              <p:nvPr/>
            </p:nvSpPr>
            <p:spPr>
              <a:xfrm flipH="false" flipV="false" rot="0">
                <a:off x="0" y="0"/>
                <a:ext cx="212090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20900">
                    <a:moveTo>
                      <a:pt x="0" y="0"/>
                    </a:moveTo>
                    <a:lnTo>
                      <a:pt x="2120900" y="0"/>
                    </a:lnTo>
                    <a:lnTo>
                      <a:pt x="212090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1">
                  <a:alphaModFix amt="5882"/>
                </a:blip>
                <a:stretch>
                  <a:fillRect l="0" t="0" r="0" b="-17"/>
                </a:stretch>
              </a:blipFill>
            </p:spPr>
          </p:sp>
        </p:grpSp>
        <p:grpSp>
          <p:nvGrpSpPr>
            <p:cNvPr name="Group 180" id="180"/>
            <p:cNvGrpSpPr/>
            <p:nvPr/>
          </p:nvGrpSpPr>
          <p:grpSpPr>
            <a:xfrm rot="0">
              <a:off x="16865618" y="9607199"/>
              <a:ext cx="299245" cy="3735475"/>
              <a:chOff x="0" y="0"/>
              <a:chExt cx="214668" cy="2679700"/>
            </a:xfrm>
          </p:grpSpPr>
          <p:sp>
            <p:nvSpPr>
              <p:cNvPr name="Freeform 181" id="181"/>
              <p:cNvSpPr/>
              <p:nvPr/>
            </p:nvSpPr>
            <p:spPr>
              <a:xfrm flipH="false" flipV="false" rot="0">
                <a:off x="0" y="0"/>
                <a:ext cx="214630" cy="2679700"/>
              </a:xfrm>
              <a:custGeom>
                <a:avLst/>
                <a:gdLst/>
                <a:ahLst/>
                <a:cxnLst/>
                <a:rect r="r" b="b" t="t" l="l"/>
                <a:pathLst>
                  <a:path h="26797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679700"/>
                    </a:lnTo>
                    <a:lnTo>
                      <a:pt x="0" y="2679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8">
                  <a:alphaModFix amt="5882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182" id="182"/>
            <p:cNvGrpSpPr/>
            <p:nvPr/>
          </p:nvGrpSpPr>
          <p:grpSpPr>
            <a:xfrm rot="0">
              <a:off x="20121359" y="9607199"/>
              <a:ext cx="299245" cy="3735475"/>
              <a:chOff x="0" y="0"/>
              <a:chExt cx="214668" cy="2679700"/>
            </a:xfrm>
          </p:grpSpPr>
          <p:sp>
            <p:nvSpPr>
              <p:cNvPr name="Freeform 183" id="183"/>
              <p:cNvSpPr/>
              <p:nvPr/>
            </p:nvSpPr>
            <p:spPr>
              <a:xfrm flipH="false" flipV="false" rot="0">
                <a:off x="0" y="0"/>
                <a:ext cx="214630" cy="2679700"/>
              </a:xfrm>
              <a:custGeom>
                <a:avLst/>
                <a:gdLst/>
                <a:ahLst/>
                <a:cxnLst/>
                <a:rect r="r" b="b" t="t" l="l"/>
                <a:pathLst>
                  <a:path h="267970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679700"/>
                    </a:lnTo>
                    <a:lnTo>
                      <a:pt x="0" y="2679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9">
                  <a:alphaModFix amt="5882"/>
                </a:blip>
                <a:stretch>
                  <a:fillRect l="0" t="0" r="-17" b="0"/>
                </a:stretch>
              </a:blipFill>
            </p:spPr>
          </p:sp>
        </p:grpSp>
        <p:grpSp>
          <p:nvGrpSpPr>
            <p:cNvPr name="Group 184" id="184"/>
            <p:cNvGrpSpPr/>
            <p:nvPr/>
          </p:nvGrpSpPr>
          <p:grpSpPr>
            <a:xfrm rot="0">
              <a:off x="16865618" y="9307954"/>
              <a:ext cx="299245" cy="299245"/>
              <a:chOff x="0" y="0"/>
              <a:chExt cx="214668" cy="214668"/>
            </a:xfrm>
          </p:grpSpPr>
          <p:sp>
            <p:nvSpPr>
              <p:cNvPr name="Freeform 185" id="185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0">
                  <a:alphaModFix amt="5882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86" id="186"/>
            <p:cNvGrpSpPr/>
            <p:nvPr/>
          </p:nvGrpSpPr>
          <p:grpSpPr>
            <a:xfrm rot="0">
              <a:off x="20121359" y="9307954"/>
              <a:ext cx="299245" cy="299245"/>
              <a:chOff x="0" y="0"/>
              <a:chExt cx="214668" cy="214668"/>
            </a:xfrm>
          </p:grpSpPr>
          <p:sp>
            <p:nvSpPr>
              <p:cNvPr name="Freeform 187" id="187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1">
                  <a:alphaModFix amt="5882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88" id="188"/>
            <p:cNvGrpSpPr/>
            <p:nvPr/>
          </p:nvGrpSpPr>
          <p:grpSpPr>
            <a:xfrm rot="0">
              <a:off x="20121359" y="13342674"/>
              <a:ext cx="299245" cy="299245"/>
              <a:chOff x="0" y="0"/>
              <a:chExt cx="214668" cy="214668"/>
            </a:xfrm>
          </p:grpSpPr>
          <p:sp>
            <p:nvSpPr>
              <p:cNvPr name="Freeform 189" id="189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2">
                  <a:alphaModFix amt="5882"/>
                </a:blip>
                <a:stretch>
                  <a:fillRect l="0" t="0" r="-17" b="-17"/>
                </a:stretch>
              </a:blipFill>
            </p:spPr>
          </p:sp>
        </p:grpSp>
        <p:grpSp>
          <p:nvGrpSpPr>
            <p:cNvPr name="Group 190" id="190"/>
            <p:cNvGrpSpPr/>
            <p:nvPr/>
          </p:nvGrpSpPr>
          <p:grpSpPr>
            <a:xfrm rot="0">
              <a:off x="16865618" y="13342674"/>
              <a:ext cx="299245" cy="299245"/>
              <a:chOff x="0" y="0"/>
              <a:chExt cx="214668" cy="214668"/>
            </a:xfrm>
          </p:grpSpPr>
          <p:sp>
            <p:nvSpPr>
              <p:cNvPr name="Freeform 191" id="191"/>
              <p:cNvSpPr/>
              <p:nvPr/>
            </p:nvSpPr>
            <p:spPr>
              <a:xfrm flipH="false" flipV="false" rot="0">
                <a:off x="0" y="0"/>
                <a:ext cx="214630" cy="214630"/>
              </a:xfrm>
              <a:custGeom>
                <a:avLst/>
                <a:gdLst/>
                <a:ahLst/>
                <a:cxnLst/>
                <a:rect r="r" b="b" t="t" l="l"/>
                <a:pathLst>
                  <a:path h="214630" w="214630">
                    <a:moveTo>
                      <a:pt x="0" y="0"/>
                    </a:moveTo>
                    <a:lnTo>
                      <a:pt x="214630" y="0"/>
                    </a:lnTo>
                    <a:lnTo>
                      <a:pt x="214630" y="214630"/>
                    </a:lnTo>
                    <a:lnTo>
                      <a:pt x="0" y="21463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3">
                  <a:alphaModFix amt="5882"/>
                </a:blip>
                <a:stretch>
                  <a:fillRect l="0" t="0" r="-17" b="-17"/>
                </a:stretch>
              </a:blipFill>
            </p:spPr>
          </p:sp>
        </p:grpSp>
        <p:sp>
          <p:nvSpPr>
            <p:cNvPr name="Freeform 192" id="192"/>
            <p:cNvSpPr/>
            <p:nvPr/>
          </p:nvSpPr>
          <p:spPr>
            <a:xfrm flipH="false" flipV="false" rot="0">
              <a:off x="16830848" y="9249160"/>
              <a:ext cx="3636476" cy="4411773"/>
            </a:xfrm>
            <a:custGeom>
              <a:avLst/>
              <a:gdLst/>
              <a:ahLst/>
              <a:cxnLst/>
              <a:rect r="r" b="b" t="t" l="l"/>
              <a:pathLst>
                <a:path h="4411773" w="3636476">
                  <a:moveTo>
                    <a:pt x="0" y="0"/>
                  </a:moveTo>
                  <a:lnTo>
                    <a:pt x="3636476" y="0"/>
                  </a:lnTo>
                  <a:lnTo>
                    <a:pt x="3636476" y="4411773"/>
                  </a:lnTo>
                  <a:lnTo>
                    <a:pt x="0" y="4411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4"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93" id="193"/>
            <p:cNvSpPr txBox="true"/>
            <p:nvPr/>
          </p:nvSpPr>
          <p:spPr>
            <a:xfrm rot="0">
              <a:off x="2593130" y="509937"/>
              <a:ext cx="15835068" cy="70772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01"/>
                </a:lnSpc>
              </a:pPr>
              <a:r>
                <a:rPr lang="en-US" b="true" sz="2168" spc="3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QUY TRÌNH THIẾT KẾ </a:t>
              </a:r>
              <a:r>
                <a:rPr lang="en-US" b="true" sz="2168" spc="39">
                  <a:solidFill>
                    <a:srgbClr val="F6C45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ỨNG DỤNG DI ĐỘNG + ESP32</a:t>
              </a:r>
              <a:r>
                <a:rPr lang="en-US" b="true" sz="2168" spc="3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 GIÁM SÁT CÂY TRỒNG</a:t>
              </a:r>
            </a:p>
            <a:p>
              <a:pPr algn="ctr">
                <a:lnSpc>
                  <a:spcPts val="2811"/>
                </a:lnSpc>
              </a:pPr>
              <a:r>
                <a:rPr lang="en-US" sz="1124">
                  <a:solidFill>
                    <a:srgbClr val="CFE3E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8 bước từ ý tưởng đến sản phẩm — Trọng tâm: Ứng dụng di động — Kết nối ESP32 — Cloud — Kiểm thử — Triển khai</a:t>
              </a:r>
            </a:p>
          </p:txBody>
        </p:sp>
        <p:sp>
          <p:nvSpPr>
            <p:cNvPr name="TextBox 194" id="194"/>
            <p:cNvSpPr txBox="true"/>
            <p:nvPr/>
          </p:nvSpPr>
          <p:spPr>
            <a:xfrm rot="0">
              <a:off x="919265" y="1908349"/>
              <a:ext cx="1194219" cy="4675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b="true" sz="112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PHÂN TÍCH YÊU CẦU</a:t>
              </a:r>
            </a:p>
          </p:txBody>
        </p:sp>
        <p:sp>
          <p:nvSpPr>
            <p:cNvPr name="TextBox 195" id="195"/>
            <p:cNvSpPr txBox="true"/>
            <p:nvPr/>
          </p:nvSpPr>
          <p:spPr>
            <a:xfrm rot="0">
              <a:off x="2915956" y="1908349"/>
              <a:ext cx="1144064" cy="4675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b="true" sz="112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ĐẶC TẢ HỆ THỐNG</a:t>
              </a:r>
            </a:p>
          </p:txBody>
        </p:sp>
        <p:sp>
          <p:nvSpPr>
            <p:cNvPr name="TextBox 196" id="196"/>
            <p:cNvSpPr txBox="true"/>
            <p:nvPr/>
          </p:nvSpPr>
          <p:spPr>
            <a:xfrm rot="0">
              <a:off x="4912647" y="1908349"/>
              <a:ext cx="2903650" cy="4675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b="true" sz="112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THIẾT KẾ KIẾN TRÚC TỔNG THỂ</a:t>
              </a:r>
            </a:p>
          </p:txBody>
        </p:sp>
        <p:sp>
          <p:nvSpPr>
            <p:cNvPr name="TextBox 197" id="197"/>
            <p:cNvSpPr txBox="true"/>
            <p:nvPr/>
          </p:nvSpPr>
          <p:spPr>
            <a:xfrm rot="0">
              <a:off x="8906012" y="1908349"/>
              <a:ext cx="982642" cy="6987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365"/>
                </a:lnSpc>
              </a:pPr>
              <a:r>
                <a:rPr lang="en-US" b="true" sz="112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THIẾT KẾ PHẦN CỨNG</a:t>
              </a:r>
            </a:p>
          </p:txBody>
        </p:sp>
        <p:sp>
          <p:nvSpPr>
            <p:cNvPr name="TextBox 198" id="198"/>
            <p:cNvSpPr txBox="true"/>
            <p:nvPr/>
          </p:nvSpPr>
          <p:spPr>
            <a:xfrm rot="0">
              <a:off x="10902703" y="1908349"/>
              <a:ext cx="1371220" cy="6987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b="true" sz="112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THIẾT KẾ PHẦN MỀM (FIRMWARE)</a:t>
              </a:r>
            </a:p>
          </p:txBody>
        </p:sp>
        <p:sp>
          <p:nvSpPr>
            <p:cNvPr name="TextBox 199" id="199"/>
            <p:cNvSpPr txBox="true"/>
            <p:nvPr/>
          </p:nvSpPr>
          <p:spPr>
            <a:xfrm rot="0">
              <a:off x="12899394" y="1908349"/>
              <a:ext cx="2863481" cy="4675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b="true" sz="112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PHÁT TRIỂN ỨNG DỤNG DI ĐỘNG — TRỌNG TÂM</a:t>
              </a:r>
            </a:p>
          </p:txBody>
        </p:sp>
        <p:sp>
          <p:nvSpPr>
            <p:cNvPr name="TextBox 200" id="200"/>
            <p:cNvSpPr txBox="true"/>
            <p:nvPr/>
          </p:nvSpPr>
          <p:spPr>
            <a:xfrm rot="0">
              <a:off x="16892758" y="1908349"/>
              <a:ext cx="1072860" cy="6987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b="true" sz="112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TÍCH HỢP &amp; KIỂM THỬ</a:t>
              </a:r>
            </a:p>
          </p:txBody>
        </p:sp>
        <p:sp>
          <p:nvSpPr>
            <p:cNvPr name="TextBox 201" id="201"/>
            <p:cNvSpPr txBox="true"/>
            <p:nvPr/>
          </p:nvSpPr>
          <p:spPr>
            <a:xfrm rot="0">
              <a:off x="18889449" y="1908349"/>
              <a:ext cx="1251738" cy="4675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b="true" sz="112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TỐI ƯU &amp; TRIỂN KHAI</a:t>
              </a:r>
            </a:p>
          </p:txBody>
        </p:sp>
        <p:sp>
          <p:nvSpPr>
            <p:cNvPr name="TextBox 202" id="202"/>
            <p:cNvSpPr txBox="true"/>
            <p:nvPr/>
          </p:nvSpPr>
          <p:spPr>
            <a:xfrm rot="0">
              <a:off x="681027" y="2008480"/>
              <a:ext cx="125537" cy="239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61"/>
                </a:lnSpc>
              </a:pPr>
              <a:r>
                <a:rPr lang="en-US" b="true" sz="104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1</a:t>
              </a:r>
            </a:p>
          </p:txBody>
        </p:sp>
        <p:sp>
          <p:nvSpPr>
            <p:cNvPr name="TextBox 203" id="203"/>
            <p:cNvSpPr txBox="true"/>
            <p:nvPr/>
          </p:nvSpPr>
          <p:spPr>
            <a:xfrm rot="0">
              <a:off x="2677718" y="2008480"/>
              <a:ext cx="125537" cy="239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61"/>
                </a:lnSpc>
              </a:pPr>
              <a:r>
                <a:rPr lang="en-US" b="true" sz="104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2</a:t>
              </a:r>
            </a:p>
          </p:txBody>
        </p:sp>
        <p:sp>
          <p:nvSpPr>
            <p:cNvPr name="TextBox 204" id="204"/>
            <p:cNvSpPr txBox="true"/>
            <p:nvPr/>
          </p:nvSpPr>
          <p:spPr>
            <a:xfrm rot="0">
              <a:off x="4674391" y="2008480"/>
              <a:ext cx="125537" cy="239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61"/>
                </a:lnSpc>
              </a:pPr>
              <a:r>
                <a:rPr lang="en-US" b="true" sz="104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3</a:t>
              </a:r>
            </a:p>
          </p:txBody>
        </p:sp>
        <p:sp>
          <p:nvSpPr>
            <p:cNvPr name="TextBox 205" id="205"/>
            <p:cNvSpPr txBox="true"/>
            <p:nvPr/>
          </p:nvSpPr>
          <p:spPr>
            <a:xfrm rot="0">
              <a:off x="8667773" y="2130901"/>
              <a:ext cx="125537" cy="239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61"/>
                </a:lnSpc>
              </a:pPr>
              <a:r>
                <a:rPr lang="en-US" b="true" sz="104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4</a:t>
              </a:r>
            </a:p>
          </p:txBody>
        </p:sp>
        <p:sp>
          <p:nvSpPr>
            <p:cNvPr name="TextBox 206" id="206"/>
            <p:cNvSpPr txBox="true"/>
            <p:nvPr/>
          </p:nvSpPr>
          <p:spPr>
            <a:xfrm rot="0">
              <a:off x="10664464" y="2130901"/>
              <a:ext cx="125537" cy="239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61"/>
                </a:lnSpc>
              </a:pPr>
              <a:r>
                <a:rPr lang="en-US" b="true" sz="104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5</a:t>
              </a:r>
            </a:p>
          </p:txBody>
        </p:sp>
        <p:sp>
          <p:nvSpPr>
            <p:cNvPr name="TextBox 207" id="207"/>
            <p:cNvSpPr txBox="true"/>
            <p:nvPr/>
          </p:nvSpPr>
          <p:spPr>
            <a:xfrm rot="0">
              <a:off x="12661137" y="2008480"/>
              <a:ext cx="125537" cy="239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61"/>
                </a:lnSpc>
              </a:pPr>
              <a:r>
                <a:rPr lang="en-US" b="true" sz="104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6</a:t>
              </a:r>
            </a:p>
          </p:txBody>
        </p:sp>
        <p:sp>
          <p:nvSpPr>
            <p:cNvPr name="TextBox 208" id="208"/>
            <p:cNvSpPr txBox="true"/>
            <p:nvPr/>
          </p:nvSpPr>
          <p:spPr>
            <a:xfrm rot="0">
              <a:off x="16654519" y="2130901"/>
              <a:ext cx="125537" cy="239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61"/>
                </a:lnSpc>
              </a:pPr>
              <a:r>
                <a:rPr lang="en-US" b="true" sz="104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7</a:t>
              </a:r>
            </a:p>
          </p:txBody>
        </p:sp>
        <p:sp>
          <p:nvSpPr>
            <p:cNvPr name="TextBox 209" id="209"/>
            <p:cNvSpPr txBox="true"/>
            <p:nvPr/>
          </p:nvSpPr>
          <p:spPr>
            <a:xfrm rot="0">
              <a:off x="18651210" y="2008480"/>
              <a:ext cx="125537" cy="239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61"/>
                </a:lnSpc>
              </a:pPr>
              <a:r>
                <a:rPr lang="en-US" b="true" sz="104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8</a:t>
              </a:r>
            </a:p>
          </p:txBody>
        </p:sp>
        <p:sp>
          <p:nvSpPr>
            <p:cNvPr name="TextBox 210" id="210"/>
            <p:cNvSpPr txBox="true"/>
            <p:nvPr/>
          </p:nvSpPr>
          <p:spPr>
            <a:xfrm rot="0">
              <a:off x="757330" y="8509075"/>
              <a:ext cx="1257138" cy="3781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b="true" sz="883">
                  <a:solidFill>
                    <a:srgbClr val="1C3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Danh sách yêu cầu</a:t>
              </a:r>
            </a:p>
          </p:txBody>
        </p:sp>
        <p:sp>
          <p:nvSpPr>
            <p:cNvPr name="TextBox 211" id="211"/>
            <p:cNvSpPr txBox="true"/>
            <p:nvPr/>
          </p:nvSpPr>
          <p:spPr>
            <a:xfrm rot="0">
              <a:off x="783248" y="3274134"/>
              <a:ext cx="1414435" cy="464093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Hệ thống cần theo dõi và chăm sóc gì cho cây trồng?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Input: cảm biến</a:t>
              </a:r>
            </a:p>
            <a:p>
              <a:pPr algn="l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độ ẩm đất, nhiệt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độ, ánh sáng, mực</a:t>
              </a:r>
            </a:p>
            <a:p>
              <a:pPr algn="l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nước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Output: bơm</a:t>
              </a:r>
            </a:p>
            <a:p>
              <a:pPr algn="l">
                <a:lnSpc>
                  <a:spcPts val="5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nước, đèn, quạt,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thông báo App</a:t>
              </a:r>
            </a:p>
            <a:p>
              <a:pPr algn="l">
                <a:lnSpc>
                  <a:spcPts val="1164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Người dùng: xem</a:t>
              </a:r>
            </a:p>
            <a:p>
              <a:pPr algn="l">
                <a:lnSpc>
                  <a:spcPts val="1566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dữ liệu, điều khiển</a:t>
              </a:r>
            </a:p>
            <a:p>
              <a:pPr algn="l">
                <a:lnSpc>
                  <a:spcPts val="1164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từ xa qua App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Timing: tần suất</a:t>
              </a:r>
            </a:p>
            <a:p>
              <a:pPr algn="l">
                <a:lnSpc>
                  <a:spcPts val="5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đo, độ trễ cảnh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báo</a:t>
              </a:r>
            </a:p>
            <a:p>
              <a:pPr algn="l">
                <a:lnSpc>
                  <a:spcPts val="1164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Giao tiếp: WiFi,</a:t>
              </a:r>
            </a:p>
            <a:p>
              <a:pPr algn="l">
                <a:lnSpc>
                  <a:spcPts val="1566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MQTT/HTTP,</a:t>
              </a:r>
            </a:p>
            <a:p>
              <a:pPr algn="l">
                <a:lnSpc>
                  <a:spcPts val="1164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Bluetooth</a:t>
              </a:r>
            </a:p>
          </p:txBody>
        </p:sp>
        <p:sp>
          <p:nvSpPr>
            <p:cNvPr name="TextBox 212" id="212"/>
            <p:cNvSpPr txBox="true"/>
            <p:nvPr/>
          </p:nvSpPr>
          <p:spPr>
            <a:xfrm rot="0">
              <a:off x="1328804" y="10172565"/>
              <a:ext cx="635279" cy="197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37"/>
                </a:lnSpc>
              </a:pPr>
              <a:r>
                <a:rPr lang="en-US" b="true" sz="88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System</a:t>
              </a:r>
            </a:p>
          </p:txBody>
        </p:sp>
        <p:sp>
          <p:nvSpPr>
            <p:cNvPr name="TextBox 213" id="213"/>
            <p:cNvSpPr txBox="true"/>
            <p:nvPr/>
          </p:nvSpPr>
          <p:spPr>
            <a:xfrm rot="0">
              <a:off x="1574071" y="10635020"/>
              <a:ext cx="967099" cy="197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37"/>
                </a:lnSpc>
              </a:pPr>
              <a:r>
                <a:rPr lang="en-US" b="true" sz="88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Integration</a:t>
              </a:r>
            </a:p>
          </p:txBody>
        </p:sp>
        <p:sp>
          <p:nvSpPr>
            <p:cNvPr name="TextBox 214" id="214"/>
            <p:cNvSpPr txBox="true"/>
            <p:nvPr/>
          </p:nvSpPr>
          <p:spPr>
            <a:xfrm rot="0">
              <a:off x="2147457" y="11097475"/>
              <a:ext cx="629808" cy="197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37"/>
                </a:lnSpc>
              </a:pPr>
              <a:r>
                <a:rPr lang="en-US" b="true" sz="88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Module</a:t>
              </a:r>
            </a:p>
          </p:txBody>
        </p:sp>
        <p:sp>
          <p:nvSpPr>
            <p:cNvPr name="TextBox 215" id="215"/>
            <p:cNvSpPr txBox="true"/>
            <p:nvPr/>
          </p:nvSpPr>
          <p:spPr>
            <a:xfrm rot="0">
              <a:off x="2435638" y="11559931"/>
              <a:ext cx="874455" cy="197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37"/>
                </a:lnSpc>
              </a:pPr>
              <a:r>
                <a:rPr lang="en-US" b="true" sz="88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Driver / UI</a:t>
              </a:r>
            </a:p>
          </p:txBody>
        </p:sp>
        <p:sp>
          <p:nvSpPr>
            <p:cNvPr name="TextBox 216" id="216"/>
            <p:cNvSpPr txBox="true"/>
            <p:nvPr/>
          </p:nvSpPr>
          <p:spPr>
            <a:xfrm rot="0">
              <a:off x="3097029" y="12022404"/>
              <a:ext cx="357579" cy="197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37"/>
                </a:lnSpc>
              </a:pPr>
              <a:r>
                <a:rPr lang="en-US" b="true" sz="88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Unit</a:t>
              </a:r>
            </a:p>
          </p:txBody>
        </p:sp>
        <p:sp>
          <p:nvSpPr>
            <p:cNvPr name="TextBox 217" id="217"/>
            <p:cNvSpPr txBox="true"/>
            <p:nvPr/>
          </p:nvSpPr>
          <p:spPr>
            <a:xfrm rot="0">
              <a:off x="2823508" y="8509075"/>
              <a:ext cx="1115367" cy="3781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b="true" sz="883">
                  <a:solidFill>
                    <a:srgbClr val="1C3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System Specification</a:t>
              </a:r>
            </a:p>
          </p:txBody>
        </p:sp>
        <p:sp>
          <p:nvSpPr>
            <p:cNvPr name="TextBox 218" id="218"/>
            <p:cNvSpPr txBox="true"/>
            <p:nvPr/>
          </p:nvSpPr>
          <p:spPr>
            <a:xfrm rot="0">
              <a:off x="2779939" y="3274134"/>
              <a:ext cx="1423729" cy="2913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Xác định rõ chức năng App &amp; ESP32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Thông số kỹ</a:t>
              </a:r>
            </a:p>
            <a:p>
              <a:pPr algn="l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thuật: dải đo, độ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chính xác cảm</a:t>
              </a:r>
            </a:p>
            <a:p>
              <a:pPr algn="l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biến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Chia hệ thống:</a:t>
              </a:r>
            </a:p>
            <a:p>
              <a:pPr algn="l">
                <a:lnSpc>
                  <a:spcPts val="5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App di động –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Firmware – Cloud</a:t>
              </a:r>
            </a:p>
            <a:p>
              <a:pPr algn="l">
                <a:lnSpc>
                  <a:spcPts val="1164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Yêu cầu tài khoản</a:t>
              </a:r>
            </a:p>
            <a:p>
              <a:pPr algn="l">
                <a:lnSpc>
                  <a:spcPts val="1566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người dùng, đa</a:t>
              </a:r>
            </a:p>
            <a:p>
              <a:pPr algn="l">
                <a:lnSpc>
                  <a:spcPts val="1164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vườn/khu vực</a:t>
              </a:r>
            </a:p>
          </p:txBody>
        </p:sp>
        <p:sp>
          <p:nvSpPr>
            <p:cNvPr name="TextBox 219" id="219"/>
            <p:cNvSpPr txBox="true"/>
            <p:nvPr/>
          </p:nvSpPr>
          <p:spPr>
            <a:xfrm rot="0">
              <a:off x="4531788" y="6404905"/>
              <a:ext cx="1825390" cy="197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37"/>
                </a:lnSpc>
              </a:pPr>
              <a:r>
                <a:rPr lang="en-US" b="true" sz="883">
                  <a:solidFill>
                    <a:srgbClr val="6B53A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Quyết định kiến trúc:</a:t>
              </a:r>
            </a:p>
          </p:txBody>
        </p:sp>
        <p:sp>
          <p:nvSpPr>
            <p:cNvPr name="TextBox 220" id="220"/>
            <p:cNvSpPr txBox="true"/>
            <p:nvPr/>
          </p:nvSpPr>
          <p:spPr>
            <a:xfrm rot="0">
              <a:off x="5421858" y="4807060"/>
              <a:ext cx="1924442" cy="8365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37"/>
                </a:lnSpc>
              </a:pPr>
              <a:r>
                <a:rPr lang="en-US" sz="883">
                  <a:solidFill>
                    <a:srgbClr val="999999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↕</a:t>
              </a:r>
            </a:p>
            <a:p>
              <a:pPr algn="ctr">
                <a:lnSpc>
                  <a:spcPts val="1124"/>
                </a:lnSpc>
              </a:pPr>
              <a:r>
                <a:rPr lang="en-US" b="true" sz="80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Cloud / Firebase / Server</a:t>
              </a:r>
            </a:p>
            <a:p>
              <a:pPr algn="ctr">
                <a:lnSpc>
                  <a:spcPts val="1237"/>
                </a:lnSpc>
              </a:pPr>
              <a:r>
                <a:rPr lang="en-US" sz="883">
                  <a:solidFill>
                    <a:srgbClr val="999999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↕</a:t>
              </a:r>
            </a:p>
          </p:txBody>
        </p:sp>
        <p:sp>
          <p:nvSpPr>
            <p:cNvPr name="TextBox 221" id="221"/>
            <p:cNvSpPr txBox="true"/>
            <p:nvPr/>
          </p:nvSpPr>
          <p:spPr>
            <a:xfrm rot="0">
              <a:off x="5524504" y="7928288"/>
              <a:ext cx="1714972" cy="197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37"/>
                </a:lnSpc>
              </a:pPr>
              <a:r>
                <a:rPr lang="en-US" b="true" sz="883">
                  <a:solidFill>
                    <a:srgbClr val="1C3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Architecture Design</a:t>
              </a:r>
            </a:p>
          </p:txBody>
        </p:sp>
        <p:sp>
          <p:nvSpPr>
            <p:cNvPr name="TextBox 222" id="222"/>
            <p:cNvSpPr txBox="true"/>
            <p:nvPr/>
          </p:nvSpPr>
          <p:spPr>
            <a:xfrm rot="0">
              <a:off x="8269706" y="10950943"/>
              <a:ext cx="1338132" cy="3781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8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Yêu cầu </a:t>
              </a:r>
              <a:r>
                <a:rPr lang="en-US" sz="883">
                  <a:solidFill>
                    <a:srgbClr val="999999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Cây trồng cần gì?</a:t>
              </a:r>
            </a:p>
          </p:txBody>
        </p:sp>
        <p:sp>
          <p:nvSpPr>
            <p:cNvPr name="TextBox 223" id="223"/>
            <p:cNvSpPr txBox="true"/>
            <p:nvPr/>
          </p:nvSpPr>
          <p:spPr>
            <a:xfrm rot="0">
              <a:off x="8949793" y="8509075"/>
              <a:ext cx="837472" cy="3781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b="true" sz="883">
                  <a:solidFill>
                    <a:srgbClr val="1C3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Hardware Design</a:t>
              </a:r>
            </a:p>
          </p:txBody>
        </p:sp>
        <p:sp>
          <p:nvSpPr>
            <p:cNvPr name="TextBox 224" id="224"/>
            <p:cNvSpPr txBox="true"/>
            <p:nvPr/>
          </p:nvSpPr>
          <p:spPr>
            <a:xfrm rot="0">
              <a:off x="8769994" y="3505361"/>
              <a:ext cx="1355694" cy="34303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Chọn ESP32 (WiFi + Bluetooth)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Cảm biến: độ ẩm</a:t>
              </a:r>
            </a:p>
            <a:p>
              <a:pPr algn="l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đất, DHT22, ánh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sáng (LDR), mực</a:t>
              </a:r>
            </a:p>
            <a:p>
              <a:pPr algn="l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nước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Chấp hành: relay,</a:t>
              </a:r>
            </a:p>
            <a:p>
              <a:pPr algn="l">
                <a:lnSpc>
                  <a:spcPts val="5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bơm nước, đèn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LED, quạt</a:t>
              </a:r>
            </a:p>
            <a:p>
              <a:pPr algn="l">
                <a:lnSpc>
                  <a:spcPts val="1164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Nguồn: pin /</a:t>
              </a:r>
            </a:p>
            <a:p>
              <a:pPr algn="l">
                <a:lnSpc>
                  <a:spcPts val="1566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adapter / năng</a:t>
              </a:r>
            </a:p>
            <a:p>
              <a:pPr algn="l">
                <a:lnSpc>
                  <a:spcPts val="1164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lượng mặt trời</a:t>
              </a:r>
            </a:p>
            <a:p>
              <a:pPr algn="l">
                <a:lnSpc>
                  <a:spcPts val="22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ADC / GPIO / PCB</a:t>
              </a:r>
            </a:p>
            <a:p>
              <a:pPr algn="l">
                <a:lnSpc>
                  <a:spcPts val="5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(nếu cần)</a:t>
              </a:r>
            </a:p>
          </p:txBody>
        </p:sp>
        <p:sp>
          <p:nvSpPr>
            <p:cNvPr name="TextBox 225" id="225"/>
            <p:cNvSpPr txBox="true"/>
            <p:nvPr/>
          </p:nvSpPr>
          <p:spPr>
            <a:xfrm rot="0">
              <a:off x="10001798" y="10855732"/>
              <a:ext cx="1411266" cy="5685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8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Kiến trúc </a:t>
              </a:r>
              <a:r>
                <a:rPr lang="en-US" sz="883">
                  <a:solidFill>
                    <a:srgbClr val="999999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Chia App / ESP32 / Cloud</a:t>
              </a:r>
            </a:p>
          </p:txBody>
        </p:sp>
        <p:sp>
          <p:nvSpPr>
            <p:cNvPr name="TextBox 226" id="226"/>
            <p:cNvSpPr txBox="true"/>
            <p:nvPr/>
          </p:nvSpPr>
          <p:spPr>
            <a:xfrm rot="0">
              <a:off x="10668926" y="8689988"/>
              <a:ext cx="1403848" cy="1972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37"/>
                </a:lnSpc>
              </a:pPr>
              <a:r>
                <a:rPr lang="en-US" b="true" sz="883">
                  <a:solidFill>
                    <a:srgbClr val="1C3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Firmware ESP32</a:t>
              </a:r>
            </a:p>
          </p:txBody>
        </p:sp>
        <p:sp>
          <p:nvSpPr>
            <p:cNvPr name="TextBox 227" id="227"/>
            <p:cNvSpPr txBox="true"/>
            <p:nvPr/>
          </p:nvSpPr>
          <p:spPr>
            <a:xfrm rot="0">
              <a:off x="10766685" y="3505361"/>
              <a:ext cx="1423517" cy="296791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Đọc dữ liệu cảm biến định kỳ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Đóng gói dữ liệu</a:t>
              </a:r>
            </a:p>
            <a:p>
              <a:pPr algn="l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(JSON) &amp; gửi lên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Cloud</a:t>
              </a:r>
            </a:p>
            <a:p>
              <a:pPr algn="l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Nhận lệnh điều khiển từ App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Tự động bật/tắt</a:t>
              </a:r>
            </a:p>
            <a:p>
              <a:pPr algn="l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bơm, đèn theo</a:t>
              </a:r>
            </a:p>
            <a:p>
              <a:pPr algn="l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ngưỡng</a:t>
              </a:r>
            </a:p>
            <a:p>
              <a:pPr algn="l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Quản lý WiFi, xử lý lỗi, cập nhật OTA</a:t>
              </a:r>
            </a:p>
          </p:txBody>
        </p:sp>
        <p:sp>
          <p:nvSpPr>
            <p:cNvPr name="TextBox 228" id="228"/>
            <p:cNvSpPr txBox="true"/>
            <p:nvPr/>
          </p:nvSpPr>
          <p:spPr>
            <a:xfrm rot="0">
              <a:off x="11820390" y="10855732"/>
              <a:ext cx="1308036" cy="5685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8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HW/SW </a:t>
              </a:r>
              <a:r>
                <a:rPr lang="en-US" sz="883">
                  <a:solidFill>
                    <a:srgbClr val="999999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Cảm biến gì, App gì?</a:t>
              </a:r>
            </a:p>
          </p:txBody>
        </p:sp>
        <p:sp>
          <p:nvSpPr>
            <p:cNvPr name="TextBox 229" id="229"/>
            <p:cNvSpPr txBox="true"/>
            <p:nvPr/>
          </p:nvSpPr>
          <p:spPr>
            <a:xfrm rot="0">
              <a:off x="13548870" y="10855732"/>
              <a:ext cx="1388605" cy="5685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8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App </a:t>
              </a:r>
              <a:r>
                <a:rPr lang="en-US" sz="883">
                  <a:solidFill>
                    <a:srgbClr val="999999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Trải nghiệm người dùng</a:t>
              </a:r>
            </a:p>
          </p:txBody>
        </p:sp>
        <p:sp>
          <p:nvSpPr>
            <p:cNvPr name="TextBox 230" id="230"/>
            <p:cNvSpPr txBox="true"/>
            <p:nvPr/>
          </p:nvSpPr>
          <p:spPr>
            <a:xfrm rot="0">
              <a:off x="12816080" y="8509075"/>
              <a:ext cx="3133497" cy="3781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b="true" sz="883">
                  <a:solidFill>
                    <a:srgbClr val="1C3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Mobile App hoàn chỉnh (UI + Logic + Cloud)</a:t>
              </a:r>
            </a:p>
          </p:txBody>
        </p:sp>
        <p:sp>
          <p:nvSpPr>
            <p:cNvPr name="TextBox 231" id="231"/>
            <p:cNvSpPr txBox="true"/>
            <p:nvPr/>
          </p:nvSpPr>
          <p:spPr>
            <a:xfrm rot="0">
              <a:off x="12763376" y="4844786"/>
              <a:ext cx="3442267" cy="2920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365"/>
                </a:lnSpc>
              </a:pPr>
              <a:r>
                <a:rPr lang="en-US" b="true" sz="88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Chức năng:</a:t>
              </a: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xem dữ liệu thời gian thực, biểu đồ lịch sử, điều khiển bơm/đèn từ xa, đặt lịch tưới tự động, thông báo đẩy, quản lý nhiều vườn</a:t>
              </a:r>
            </a:p>
            <a:p>
              <a:pPr algn="just">
                <a:lnSpc>
                  <a:spcPts val="2008"/>
                </a:lnSpc>
              </a:pPr>
              <a:r>
                <a:rPr lang="en-US" b="true" sz="88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Công nghệ:</a:t>
              </a: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Flutter / React Native, Firebase</a:t>
              </a:r>
            </a:p>
            <a:p>
              <a:pPr algn="just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Realtime DB &amp; Firestore, FCM (push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notification)</a:t>
              </a:r>
            </a:p>
            <a:p>
              <a:pPr algn="just">
                <a:lnSpc>
                  <a:spcPts val="1365"/>
                </a:lnSpc>
              </a:pPr>
              <a:r>
                <a:rPr lang="en-US" b="true" sz="88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Kiến trúc App:</a:t>
              </a: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MVVM, quản lý state, đồng bộ dữ liệu Realtime với Cloud, xác thực người dùng</a:t>
              </a:r>
            </a:p>
            <a:p>
              <a:pPr algn="just">
                <a:lnSpc>
                  <a:spcPts val="2008"/>
                </a:lnSpc>
              </a:pPr>
              <a:r>
                <a:rPr lang="en-US" b="true" sz="88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UI/UX:</a:t>
              </a: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Dashboard – Lịch sử – Điều khiển –</a:t>
              </a:r>
            </a:p>
            <a:p>
              <a:pPr algn="just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Cài đặt/Cảnh báo</a:t>
              </a:r>
            </a:p>
          </p:txBody>
        </p:sp>
        <p:sp>
          <p:nvSpPr>
            <p:cNvPr name="TextBox 232" id="232"/>
            <p:cNvSpPr txBox="true"/>
            <p:nvPr/>
          </p:nvSpPr>
          <p:spPr>
            <a:xfrm rot="0">
              <a:off x="15469046" y="10855732"/>
              <a:ext cx="1078260" cy="5685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8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Kiểm thử </a:t>
              </a:r>
              <a:r>
                <a:rPr lang="en-US" sz="883">
                  <a:solidFill>
                    <a:srgbClr val="999999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Đồng bộ đúng chưa?</a:t>
              </a:r>
            </a:p>
          </p:txBody>
        </p:sp>
        <p:sp>
          <p:nvSpPr>
            <p:cNvPr name="TextBox 233" id="233"/>
            <p:cNvSpPr txBox="true"/>
            <p:nvPr/>
          </p:nvSpPr>
          <p:spPr>
            <a:xfrm rot="0">
              <a:off x="16743994" y="8509075"/>
              <a:ext cx="1230317" cy="3781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124"/>
                </a:lnSpc>
              </a:pPr>
              <a:r>
                <a:rPr lang="en-US" b="true" sz="883">
                  <a:solidFill>
                    <a:srgbClr val="1C3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Hệ thống hoạt động đồng bộ</a:t>
              </a:r>
            </a:p>
          </p:txBody>
        </p:sp>
        <p:sp>
          <p:nvSpPr>
            <p:cNvPr name="TextBox 234" id="234"/>
            <p:cNvSpPr txBox="true"/>
            <p:nvPr/>
          </p:nvSpPr>
          <p:spPr>
            <a:xfrm rot="0">
              <a:off x="16756740" y="3505361"/>
              <a:ext cx="1403051" cy="2913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Unit Test: hàm firmware &amp; hàm App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Module Test: cảm</a:t>
              </a:r>
            </a:p>
            <a:p>
              <a:pPr algn="just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biến, kết nối WiFi,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UI màn hình</a:t>
              </a:r>
            </a:p>
            <a:p>
              <a:pPr algn="just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Integration Test: App ↔ Cloud ↔ ESP32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Kiểm tra: độ chính</a:t>
              </a:r>
            </a:p>
            <a:p>
              <a:pPr algn="just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xác, độ trễ, mất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mạng, pin</a:t>
              </a:r>
            </a:p>
          </p:txBody>
        </p:sp>
        <p:sp>
          <p:nvSpPr>
            <p:cNvPr name="TextBox 235" id="235"/>
            <p:cNvSpPr txBox="true"/>
            <p:nvPr/>
          </p:nvSpPr>
          <p:spPr>
            <a:xfrm rot="0">
              <a:off x="17186904" y="11985668"/>
              <a:ext cx="2643105" cy="13292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5"/>
                </a:lnSpc>
              </a:pPr>
              <a:r>
                <a:rPr lang="en-US" b="true" sz="883">
                  <a:solidFill>
                    <a:srgbClr val="555555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HW:</a:t>
              </a:r>
              <a:r>
                <a:rPr lang="en-US" sz="883">
                  <a:solidFill>
                    <a:srgbClr val="555555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Hardware (Phần cứng) </a:t>
              </a:r>
              <a:r>
                <a:rPr lang="en-US" b="true" sz="883">
                  <a:solidFill>
                    <a:srgbClr val="555555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SW:</a:t>
              </a:r>
              <a:r>
                <a:rPr lang="en-US" sz="883">
                  <a:solidFill>
                    <a:srgbClr val="555555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Software (Phần mềm) </a:t>
              </a:r>
              <a:r>
                <a:rPr lang="en-US" b="true" sz="883">
                  <a:solidFill>
                    <a:srgbClr val="555555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FCM:</a:t>
              </a:r>
              <a:r>
                <a:rPr lang="en-US" sz="883">
                  <a:solidFill>
                    <a:srgbClr val="555555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Firebase Cloud Messaging </a:t>
              </a:r>
              <a:r>
                <a:rPr lang="en-US" b="true" sz="883">
                  <a:solidFill>
                    <a:srgbClr val="555555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MQTT:</a:t>
              </a:r>
              <a:r>
                <a:rPr lang="en-US" sz="883">
                  <a:solidFill>
                    <a:srgbClr val="555555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Message Queue Telemetry</a:t>
              </a:r>
            </a:p>
            <a:p>
              <a:pPr algn="l">
                <a:lnSpc>
                  <a:spcPts val="883"/>
                </a:lnSpc>
              </a:pPr>
              <a:r>
                <a:rPr lang="en-US" sz="883">
                  <a:solidFill>
                    <a:srgbClr val="555555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Transport</a:t>
              </a:r>
            </a:p>
            <a:p>
              <a:pPr algn="l">
                <a:lnSpc>
                  <a:spcPts val="1847"/>
                </a:lnSpc>
              </a:pPr>
              <a:r>
                <a:rPr lang="en-US" b="true" sz="883">
                  <a:solidFill>
                    <a:srgbClr val="555555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OTA:</a:t>
              </a:r>
              <a:r>
                <a:rPr lang="en-US" sz="883">
                  <a:solidFill>
                    <a:srgbClr val="555555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Over-The-Air update</a:t>
              </a:r>
            </a:p>
          </p:txBody>
        </p:sp>
        <p:sp>
          <p:nvSpPr>
            <p:cNvPr name="TextBox 236" id="236"/>
            <p:cNvSpPr txBox="true"/>
            <p:nvPr/>
          </p:nvSpPr>
          <p:spPr>
            <a:xfrm rot="0">
              <a:off x="18690743" y="8509075"/>
              <a:ext cx="1332148" cy="3781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b="true" sz="883">
                  <a:solidFill>
                    <a:srgbClr val="1C3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Sản phẩm hoàn thiện</a:t>
              </a:r>
            </a:p>
          </p:txBody>
        </p:sp>
        <p:sp>
          <p:nvSpPr>
            <p:cNvPr name="TextBox 237" id="237"/>
            <p:cNvSpPr txBox="true"/>
            <p:nvPr/>
          </p:nvSpPr>
          <p:spPr>
            <a:xfrm rot="0">
              <a:off x="18753431" y="3274134"/>
              <a:ext cx="1421392" cy="2913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Tối ưu hiệu năng App, tiêu thụ pin điện thoại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Tối ưu năng lượng</a:t>
              </a:r>
            </a:p>
            <a:p>
              <a:pPr algn="just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ESP32 (deep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sleep)</a:t>
              </a:r>
            </a:p>
            <a:p>
              <a:pPr algn="just">
                <a:lnSpc>
                  <a:spcPts val="1365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Release App (Google Play / TestFlight)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Cập nhật firmware</a:t>
              </a:r>
            </a:p>
            <a:p>
              <a:pPr algn="just">
                <a:lnSpc>
                  <a:spcPts val="722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OTA, tài liệu</a:t>
              </a:r>
            </a:p>
            <a:p>
              <a:pPr algn="just">
                <a:lnSpc>
                  <a:spcPts val="2008"/>
                </a:lnSpc>
              </a:pPr>
              <a:r>
                <a:rPr lang="en-US" sz="88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hướng dẫn</a:t>
              </a:r>
            </a:p>
          </p:txBody>
        </p:sp>
        <p:sp>
          <p:nvSpPr>
            <p:cNvPr name="TextBox 238" id="238"/>
            <p:cNvSpPr txBox="true"/>
            <p:nvPr/>
          </p:nvSpPr>
          <p:spPr>
            <a:xfrm rot="0">
              <a:off x="1088442" y="8289283"/>
              <a:ext cx="581760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03">
                  <a:solidFill>
                    <a:srgbClr val="5C6A86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quả:</a:t>
              </a:r>
            </a:p>
          </p:txBody>
        </p:sp>
        <p:sp>
          <p:nvSpPr>
            <p:cNvPr name="TextBox 239" id="239"/>
            <p:cNvSpPr txBox="true"/>
            <p:nvPr/>
          </p:nvSpPr>
          <p:spPr>
            <a:xfrm rot="0">
              <a:off x="3085133" y="8289283"/>
              <a:ext cx="581760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03">
                  <a:solidFill>
                    <a:srgbClr val="5C6A86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quả:</a:t>
              </a:r>
            </a:p>
          </p:txBody>
        </p:sp>
        <p:sp>
          <p:nvSpPr>
            <p:cNvPr name="TextBox 240" id="240"/>
            <p:cNvSpPr txBox="true"/>
            <p:nvPr/>
          </p:nvSpPr>
          <p:spPr>
            <a:xfrm rot="0">
              <a:off x="5146849" y="3912564"/>
              <a:ext cx="767932" cy="35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4"/>
                </a:lnSpc>
              </a:pPr>
              <a:r>
                <a:rPr lang="en-US" b="true" sz="80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Bơm nước (Relay)</a:t>
              </a:r>
            </a:p>
          </p:txBody>
        </p:sp>
        <p:sp>
          <p:nvSpPr>
            <p:cNvPr name="TextBox 241" id="241"/>
            <p:cNvSpPr txBox="true"/>
            <p:nvPr/>
          </p:nvSpPr>
          <p:spPr>
            <a:xfrm rot="0">
              <a:off x="4754730" y="2742811"/>
              <a:ext cx="1567873" cy="53468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4"/>
                </a:lnSpc>
              </a:pPr>
              <a:r>
                <a:rPr lang="en-US" b="true" sz="80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Cảm biến Độ ẩm/Nhiệt độ/Ánh sáng</a:t>
              </a:r>
            </a:p>
          </p:txBody>
        </p:sp>
        <p:sp>
          <p:nvSpPr>
            <p:cNvPr name="TextBox 242" id="242"/>
            <p:cNvSpPr txBox="true"/>
            <p:nvPr/>
          </p:nvSpPr>
          <p:spPr>
            <a:xfrm rot="0">
              <a:off x="6125526" y="3494987"/>
              <a:ext cx="489152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4"/>
                </a:lnSpc>
              </a:pPr>
              <a:r>
                <a:rPr lang="en-US" b="true" sz="80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ESP32</a:t>
              </a:r>
            </a:p>
          </p:txBody>
        </p:sp>
        <p:sp>
          <p:nvSpPr>
            <p:cNvPr name="TextBox 243" id="243"/>
            <p:cNvSpPr txBox="true"/>
            <p:nvPr/>
          </p:nvSpPr>
          <p:spPr>
            <a:xfrm rot="0">
              <a:off x="4695016" y="6633954"/>
              <a:ext cx="2659605" cy="8529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285"/>
                </a:lnSpc>
              </a:pPr>
              <a:r>
                <a:rPr lang="en-US" sz="80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ESP32 hay ESP8266? MQTT hay HTTP REST? Cloud: Firebase / Blynk / Server riêng? App: Native, Flutter hay React Native?</a:t>
              </a:r>
            </a:p>
          </p:txBody>
        </p:sp>
        <p:sp>
          <p:nvSpPr>
            <p:cNvPr name="TextBox 244" id="244"/>
            <p:cNvSpPr txBox="true"/>
            <p:nvPr/>
          </p:nvSpPr>
          <p:spPr>
            <a:xfrm rot="0">
              <a:off x="6080045" y="7718021"/>
              <a:ext cx="581760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03">
                  <a:solidFill>
                    <a:srgbClr val="5C6A86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quả:</a:t>
              </a:r>
            </a:p>
          </p:txBody>
        </p:sp>
        <p:sp>
          <p:nvSpPr>
            <p:cNvPr name="TextBox 245" id="245"/>
            <p:cNvSpPr txBox="true"/>
            <p:nvPr/>
          </p:nvSpPr>
          <p:spPr>
            <a:xfrm rot="0">
              <a:off x="6855130" y="2733286"/>
              <a:ext cx="718327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4"/>
                </a:lnSpc>
              </a:pPr>
              <a:r>
                <a:rPr lang="en-US" b="true" sz="80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Nút nhấn</a:t>
              </a:r>
            </a:p>
          </p:txBody>
        </p:sp>
        <p:sp>
          <p:nvSpPr>
            <p:cNvPr name="TextBox 246" id="246"/>
            <p:cNvSpPr txBox="true"/>
            <p:nvPr/>
          </p:nvSpPr>
          <p:spPr>
            <a:xfrm rot="0">
              <a:off x="6799452" y="3903039"/>
              <a:ext cx="831966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4"/>
                </a:lnSpc>
              </a:pPr>
              <a:r>
                <a:rPr lang="en-US" b="true" sz="803">
                  <a:solidFill>
                    <a:srgbClr val="20263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Đèn / Quạt</a:t>
              </a:r>
            </a:p>
          </p:txBody>
        </p:sp>
        <p:sp>
          <p:nvSpPr>
            <p:cNvPr name="TextBox 247" id="247"/>
            <p:cNvSpPr txBox="true"/>
            <p:nvPr/>
          </p:nvSpPr>
          <p:spPr>
            <a:xfrm rot="0">
              <a:off x="5180645" y="5752860"/>
              <a:ext cx="2610973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4"/>
                </a:lnSpc>
              </a:pPr>
              <a:r>
                <a:rPr lang="en-US" b="true" sz="803">
                  <a:solidFill>
                    <a:srgbClr val="4A3A80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Ứng dụng Di động (Android / iOS)</a:t>
              </a:r>
            </a:p>
          </p:txBody>
        </p:sp>
        <p:sp>
          <p:nvSpPr>
            <p:cNvPr name="TextBox 248" id="248"/>
            <p:cNvSpPr txBox="true"/>
            <p:nvPr/>
          </p:nvSpPr>
          <p:spPr>
            <a:xfrm rot="0">
              <a:off x="9075188" y="8289283"/>
              <a:ext cx="581760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03">
                  <a:solidFill>
                    <a:srgbClr val="5C6A86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quả:</a:t>
              </a:r>
            </a:p>
          </p:txBody>
        </p:sp>
        <p:sp>
          <p:nvSpPr>
            <p:cNvPr name="TextBox 249" id="249"/>
            <p:cNvSpPr txBox="true"/>
            <p:nvPr/>
          </p:nvSpPr>
          <p:spPr>
            <a:xfrm rot="0">
              <a:off x="11071879" y="8479704"/>
              <a:ext cx="581760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03">
                  <a:solidFill>
                    <a:srgbClr val="5C6A86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quả:</a:t>
              </a:r>
            </a:p>
          </p:txBody>
        </p:sp>
        <p:sp>
          <p:nvSpPr>
            <p:cNvPr name="TextBox 250" id="250"/>
            <p:cNvSpPr txBox="true"/>
            <p:nvPr/>
          </p:nvSpPr>
          <p:spPr>
            <a:xfrm rot="0">
              <a:off x="14066791" y="8289283"/>
              <a:ext cx="581760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03">
                  <a:solidFill>
                    <a:srgbClr val="5C6A86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quả:</a:t>
              </a:r>
            </a:p>
          </p:txBody>
        </p:sp>
        <p:sp>
          <p:nvSpPr>
            <p:cNvPr name="TextBox 251" id="251"/>
            <p:cNvSpPr txBox="true"/>
            <p:nvPr/>
          </p:nvSpPr>
          <p:spPr>
            <a:xfrm rot="0">
              <a:off x="17061934" y="8289283"/>
              <a:ext cx="581760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4"/>
                </a:lnSpc>
              </a:pPr>
              <a:r>
                <a:rPr lang="en-US" sz="803">
                  <a:solidFill>
                    <a:srgbClr val="5C6A86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quả:</a:t>
              </a:r>
            </a:p>
          </p:txBody>
        </p:sp>
        <p:sp>
          <p:nvSpPr>
            <p:cNvPr name="TextBox 252" id="252"/>
            <p:cNvSpPr txBox="true"/>
            <p:nvPr/>
          </p:nvSpPr>
          <p:spPr>
            <a:xfrm rot="0">
              <a:off x="19058625" y="8289283"/>
              <a:ext cx="581760" cy="190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24"/>
                </a:lnSpc>
              </a:pPr>
              <a:r>
                <a:rPr lang="en-US" sz="803">
                  <a:solidFill>
                    <a:srgbClr val="5C6A86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quả:</a:t>
              </a:r>
            </a:p>
          </p:txBody>
        </p:sp>
        <p:sp>
          <p:nvSpPr>
            <p:cNvPr name="TextBox 253" id="253"/>
            <p:cNvSpPr txBox="true"/>
            <p:nvPr/>
          </p:nvSpPr>
          <p:spPr>
            <a:xfrm rot="0">
              <a:off x="5427381" y="4476921"/>
              <a:ext cx="1913307" cy="1743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12"/>
                </a:lnSpc>
              </a:pPr>
              <a:r>
                <a:rPr lang="en-US" sz="722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WiFi / MQTT / HTTP / Bluetooth</a:t>
              </a:r>
            </a:p>
          </p:txBody>
        </p:sp>
        <p:sp>
          <p:nvSpPr>
            <p:cNvPr name="TextBox 254" id="254"/>
            <p:cNvSpPr txBox="true"/>
            <p:nvPr/>
          </p:nvSpPr>
          <p:spPr>
            <a:xfrm rot="0">
              <a:off x="12701307" y="2920485"/>
              <a:ext cx="715529" cy="1743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12"/>
                </a:lnSpc>
              </a:pPr>
              <a:r>
                <a:rPr lang="en-US" b="true" sz="722">
                  <a:solidFill>
                    <a:srgbClr val="3F2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62%</a:t>
              </a:r>
              <a:r>
                <a:rPr lang="en-US" b="true" sz="722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  <a:r>
                <a:rPr lang="en-US" b="true" sz="722">
                  <a:solidFill>
                    <a:srgbClr val="3F2D78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29°C</a:t>
              </a:r>
            </a:p>
          </p:txBody>
        </p:sp>
        <p:sp>
          <p:nvSpPr>
            <p:cNvPr name="TextBox 255" id="255"/>
            <p:cNvSpPr txBox="true"/>
            <p:nvPr/>
          </p:nvSpPr>
          <p:spPr>
            <a:xfrm rot="0">
              <a:off x="12772299" y="3100851"/>
              <a:ext cx="153987" cy="2453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3"/>
                </a:lnSpc>
              </a:pPr>
              <a:r>
                <a:rPr lang="en-US" sz="562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Độ ẩm</a:t>
              </a:r>
            </a:p>
          </p:txBody>
        </p:sp>
        <p:sp>
          <p:nvSpPr>
            <p:cNvPr name="TextBox 256" id="256"/>
            <p:cNvSpPr txBox="true"/>
            <p:nvPr/>
          </p:nvSpPr>
          <p:spPr>
            <a:xfrm rot="0">
              <a:off x="12879619" y="3857984"/>
              <a:ext cx="456489" cy="1229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87"/>
                </a:lnSpc>
              </a:pPr>
              <a:r>
                <a:rPr lang="en-US" b="true" sz="562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Bật bơm</a:t>
              </a:r>
            </a:p>
          </p:txBody>
        </p:sp>
        <p:sp>
          <p:nvSpPr>
            <p:cNvPr name="TextBox 257" id="257"/>
            <p:cNvSpPr txBox="true"/>
            <p:nvPr/>
          </p:nvSpPr>
          <p:spPr>
            <a:xfrm rot="0">
              <a:off x="12817780" y="2701846"/>
              <a:ext cx="591108" cy="1229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787"/>
                </a:lnSpc>
              </a:pPr>
              <a:r>
                <a:rPr lang="en-US" b="true" sz="562">
                  <a:solidFill>
                    <a:srgbClr val="5B4A86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Dashboard</a:t>
              </a:r>
            </a:p>
          </p:txBody>
        </p:sp>
        <p:sp>
          <p:nvSpPr>
            <p:cNvPr name="TextBox 258" id="258"/>
            <p:cNvSpPr txBox="true"/>
            <p:nvPr/>
          </p:nvSpPr>
          <p:spPr>
            <a:xfrm rot="0">
              <a:off x="13115520" y="3100851"/>
              <a:ext cx="258527" cy="2453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3"/>
                </a:lnSpc>
              </a:pPr>
              <a:r>
                <a:rPr lang="en-US" sz="562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Nhiệt độ</a:t>
              </a:r>
            </a:p>
          </p:txBody>
        </p:sp>
        <p:sp>
          <p:nvSpPr>
            <p:cNvPr name="TextBox 259" id="259"/>
            <p:cNvSpPr txBox="true"/>
            <p:nvPr/>
          </p:nvSpPr>
          <p:spPr>
            <a:xfrm rot="0">
              <a:off x="13795182" y="3712920"/>
              <a:ext cx="239796" cy="2453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3"/>
                </a:lnSpc>
              </a:pPr>
              <a:r>
                <a:rPr lang="en-US" sz="562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7 ngày</a:t>
              </a:r>
            </a:p>
          </p:txBody>
        </p:sp>
        <p:sp>
          <p:nvSpPr>
            <p:cNvPr name="TextBox 260" id="260"/>
            <p:cNvSpPr txBox="true"/>
            <p:nvPr/>
          </p:nvSpPr>
          <p:spPr>
            <a:xfrm rot="0">
              <a:off x="13878708" y="2701846"/>
              <a:ext cx="381744" cy="1229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87"/>
                </a:lnSpc>
              </a:pPr>
              <a:r>
                <a:rPr lang="en-US" b="true" sz="562">
                  <a:solidFill>
                    <a:srgbClr val="5B4A86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Lịch sử</a:t>
              </a:r>
            </a:p>
          </p:txBody>
        </p:sp>
        <p:sp>
          <p:nvSpPr>
            <p:cNvPr name="TextBox 261" id="261"/>
            <p:cNvSpPr txBox="true"/>
            <p:nvPr/>
          </p:nvSpPr>
          <p:spPr>
            <a:xfrm rot="0">
              <a:off x="14189637" y="3712920"/>
              <a:ext cx="239796" cy="2453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3"/>
                </a:lnSpc>
              </a:pPr>
              <a:r>
                <a:rPr lang="en-US" sz="562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30 ngày</a:t>
              </a:r>
            </a:p>
          </p:txBody>
        </p:sp>
        <p:sp>
          <p:nvSpPr>
            <p:cNvPr name="TextBox 262" id="262"/>
            <p:cNvSpPr txBox="true"/>
            <p:nvPr/>
          </p:nvSpPr>
          <p:spPr>
            <a:xfrm rot="0">
              <a:off x="14939636" y="2701846"/>
              <a:ext cx="509600" cy="1229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87"/>
                </a:lnSpc>
              </a:pPr>
              <a:r>
                <a:rPr lang="en-US" b="true" sz="562">
                  <a:solidFill>
                    <a:srgbClr val="5B4A86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Cảnh báo</a:t>
              </a:r>
            </a:p>
          </p:txBody>
        </p:sp>
        <p:sp>
          <p:nvSpPr>
            <p:cNvPr name="TextBox 263" id="263"/>
            <p:cNvSpPr txBox="true"/>
            <p:nvPr/>
          </p:nvSpPr>
          <p:spPr>
            <a:xfrm rot="0">
              <a:off x="14841876" y="2937623"/>
              <a:ext cx="671005" cy="6261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3"/>
                </a:lnSpc>
              </a:pPr>
              <a:r>
                <a:rPr lang="en-US" sz="562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Vườn khô! Cần tưới nước</a:t>
              </a:r>
            </a:p>
            <a:p>
              <a:pPr algn="ctr" rtl="true">
                <a:lnSpc>
                  <a:spcPts val="723"/>
                </a:lnSpc>
              </a:pPr>
            </a:p>
            <a:p>
              <a:pPr algn="ctr">
                <a:lnSpc>
                  <a:spcPts val="723"/>
                </a:lnSpc>
              </a:pPr>
              <a:r>
                <a:rPr lang="en-US" sz="562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Đã bật đèn tự động</a:t>
              </a:r>
            </a:p>
          </p:txBody>
        </p:sp>
        <p:sp>
          <p:nvSpPr>
            <p:cNvPr name="TextBox 264" id="264"/>
            <p:cNvSpPr txBox="true"/>
            <p:nvPr/>
          </p:nvSpPr>
          <p:spPr>
            <a:xfrm rot="0">
              <a:off x="15015513" y="3681160"/>
              <a:ext cx="419683" cy="2453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3"/>
                </a:lnSpc>
              </a:pPr>
              <a:r>
                <a:rPr lang="en-US" b="true" sz="562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Đặt lịch tưới</a:t>
              </a:r>
            </a:p>
          </p:txBody>
        </p:sp>
        <p:sp>
          <p:nvSpPr>
            <p:cNvPr name="TextBox 265" id="265"/>
            <p:cNvSpPr txBox="true"/>
            <p:nvPr/>
          </p:nvSpPr>
          <p:spPr>
            <a:xfrm rot="0">
              <a:off x="1802749" y="9591087"/>
              <a:ext cx="4841441" cy="2715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6"/>
                </a:lnSpc>
              </a:pPr>
              <a:r>
                <a:rPr lang="en-US" b="true" sz="1204" spc="22">
                  <a:solidFill>
                    <a:srgbClr val="0D1B3E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KIỂM THỬ THEO TẦNG (TEST STRATEGY)</a:t>
              </a:r>
            </a:p>
          </p:txBody>
        </p:sp>
        <p:sp>
          <p:nvSpPr>
            <p:cNvPr name="TextBox 266" id="266"/>
            <p:cNvSpPr txBox="true"/>
            <p:nvPr/>
          </p:nvSpPr>
          <p:spPr>
            <a:xfrm rot="0">
              <a:off x="10793241" y="9591087"/>
              <a:ext cx="3399105" cy="2715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6"/>
                </a:lnSpc>
              </a:pPr>
              <a:r>
                <a:rPr lang="en-US" b="true" sz="1204" spc="24">
                  <a:solidFill>
                    <a:srgbClr val="0D1B3E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TƯ DUY THIẾT KẾ HỆ THỐNG</a:t>
              </a:r>
            </a:p>
          </p:txBody>
        </p:sp>
        <p:sp>
          <p:nvSpPr>
            <p:cNvPr name="TextBox 267" id="267"/>
            <p:cNvSpPr txBox="true"/>
            <p:nvPr/>
          </p:nvSpPr>
          <p:spPr>
            <a:xfrm rot="0">
              <a:off x="18163881" y="9591087"/>
              <a:ext cx="971489" cy="2715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6"/>
                </a:lnSpc>
              </a:pPr>
              <a:r>
                <a:rPr lang="en-US" b="true" sz="1204" spc="24">
                  <a:solidFill>
                    <a:srgbClr val="0D1B3E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KÝ HIỆU</a:t>
              </a:r>
            </a:p>
          </p:txBody>
        </p:sp>
        <p:sp>
          <p:nvSpPr>
            <p:cNvPr name="TextBox 268" id="268"/>
            <p:cNvSpPr txBox="true"/>
            <p:nvPr/>
          </p:nvSpPr>
          <p:spPr>
            <a:xfrm rot="0">
              <a:off x="2660280" y="10061191"/>
              <a:ext cx="5055655" cy="431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84"/>
                </a:lnSpc>
              </a:pPr>
              <a:r>
                <a:rPr lang="en-US" sz="96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Kiểm thử toàn hệ thống (App điều khiển đúng ESP32, dữ liệu đồng bộ)</a:t>
              </a:r>
            </a:p>
          </p:txBody>
        </p:sp>
        <p:sp>
          <p:nvSpPr>
            <p:cNvPr name="TextBox 269" id="269"/>
            <p:cNvSpPr txBox="true"/>
            <p:nvPr/>
          </p:nvSpPr>
          <p:spPr>
            <a:xfrm rot="0">
              <a:off x="3476384" y="10622946"/>
              <a:ext cx="3678168" cy="2229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49"/>
                </a:lnSpc>
              </a:pPr>
              <a:r>
                <a:rPr lang="en-US" sz="96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App ↔ Cloud ↔ ESP32 (luồng dữ liệu, độ trễ)</a:t>
              </a:r>
            </a:p>
          </p:txBody>
        </p:sp>
        <p:sp>
          <p:nvSpPr>
            <p:cNvPr name="TextBox 270" id="270"/>
            <p:cNvSpPr txBox="true"/>
            <p:nvPr/>
          </p:nvSpPr>
          <p:spPr>
            <a:xfrm rot="0">
              <a:off x="4292488" y="10986102"/>
              <a:ext cx="3486349" cy="431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84"/>
                </a:lnSpc>
              </a:pPr>
              <a:r>
                <a:rPr lang="en-US" sz="96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Từng màn hình App, từng cảm biến/driver ESP32</a:t>
              </a:r>
            </a:p>
          </p:txBody>
        </p:sp>
        <p:sp>
          <p:nvSpPr>
            <p:cNvPr name="TextBox 271" id="271"/>
            <p:cNvSpPr txBox="true"/>
            <p:nvPr/>
          </p:nvSpPr>
          <p:spPr>
            <a:xfrm rot="0">
              <a:off x="5108591" y="11448557"/>
              <a:ext cx="1845997" cy="431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84"/>
                </a:lnSpc>
              </a:pPr>
              <a:r>
                <a:rPr lang="en-US" sz="96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GPIO, ADC, WiFi / UI component, state App</a:t>
              </a:r>
            </a:p>
          </p:txBody>
        </p:sp>
        <p:sp>
          <p:nvSpPr>
            <p:cNvPr name="TextBox 272" id="272"/>
            <p:cNvSpPr txBox="true"/>
            <p:nvPr/>
          </p:nvSpPr>
          <p:spPr>
            <a:xfrm rot="0">
              <a:off x="5924695" y="11911030"/>
              <a:ext cx="1816361" cy="431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84"/>
                </a:lnSpc>
              </a:pPr>
              <a:r>
                <a:rPr lang="en-US" sz="963">
                  <a:solidFill>
                    <a:srgbClr val="444444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Từng hàm, thuật toán tính toán nhỏ nhất</a:t>
              </a:r>
            </a:p>
          </p:txBody>
        </p:sp>
        <p:sp>
          <p:nvSpPr>
            <p:cNvPr name="TextBox 273" id="273"/>
            <p:cNvSpPr txBox="true"/>
            <p:nvPr/>
          </p:nvSpPr>
          <p:spPr>
            <a:xfrm rot="0">
              <a:off x="8674571" y="11815820"/>
              <a:ext cx="7835380" cy="4174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04"/>
                </a:lnSpc>
              </a:pPr>
              <a:r>
                <a:rPr lang="en-US" sz="963">
                  <a:solidFill>
                    <a:srgbClr val="5A4A1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Hệ thống không chỉ là code cho ESP32 — mà là một trải nghiệm ứng dụng di động hoàn chỉnh giúp người dùng chăm sóc cây trồng từ xa, tin cậy và dễ dùng.</a:t>
              </a:r>
            </a:p>
          </p:txBody>
        </p:sp>
        <p:sp>
          <p:nvSpPr>
            <p:cNvPr name="TextBox 274" id="274"/>
            <p:cNvSpPr txBox="true"/>
            <p:nvPr/>
          </p:nvSpPr>
          <p:spPr>
            <a:xfrm rot="0">
              <a:off x="17418132" y="9984991"/>
              <a:ext cx="1501289" cy="170423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88"/>
                </a:lnSpc>
              </a:pPr>
              <a:r>
                <a:rPr lang="en-US" sz="963">
                  <a:solidFill>
                    <a:srgbClr val="20263A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Yêu cầu / Đặc tả Thiết kế / App Phần cứng Firmware Tối ưu / Triển khai</a:t>
              </a:r>
            </a:p>
          </p:txBody>
        </p:sp>
        <p:sp>
          <p:nvSpPr>
            <p:cNvPr name="TextBox 275" id="275"/>
            <p:cNvSpPr txBox="true"/>
            <p:nvPr/>
          </p:nvSpPr>
          <p:spPr>
            <a:xfrm rot="0">
              <a:off x="9707032" y="10582298"/>
              <a:ext cx="209275" cy="329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4"/>
                </a:lnSpc>
              </a:pPr>
              <a:r>
                <a:rPr lang="en-US" sz="1445">
                  <a:solidFill>
                    <a:srgbClr val="BBBBB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→</a:t>
              </a:r>
            </a:p>
          </p:txBody>
        </p:sp>
        <p:sp>
          <p:nvSpPr>
            <p:cNvPr name="TextBox 276" id="276"/>
            <p:cNvSpPr txBox="true"/>
            <p:nvPr/>
          </p:nvSpPr>
          <p:spPr>
            <a:xfrm rot="0">
              <a:off x="11475027" y="10582298"/>
              <a:ext cx="209275" cy="329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4"/>
                </a:lnSpc>
              </a:pPr>
              <a:r>
                <a:rPr lang="en-US" sz="1445">
                  <a:solidFill>
                    <a:srgbClr val="BBBBB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→</a:t>
              </a:r>
            </a:p>
          </p:txBody>
        </p:sp>
        <p:sp>
          <p:nvSpPr>
            <p:cNvPr name="TextBox 277" id="277"/>
            <p:cNvSpPr txBox="true"/>
            <p:nvPr/>
          </p:nvSpPr>
          <p:spPr>
            <a:xfrm rot="0">
              <a:off x="13243039" y="10582298"/>
              <a:ext cx="209275" cy="329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4"/>
                </a:lnSpc>
              </a:pPr>
              <a:r>
                <a:rPr lang="en-US" sz="1445">
                  <a:solidFill>
                    <a:srgbClr val="BBBBB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→</a:t>
              </a:r>
            </a:p>
          </p:txBody>
        </p:sp>
        <p:sp>
          <p:nvSpPr>
            <p:cNvPr name="TextBox 278" id="278"/>
            <p:cNvSpPr txBox="true"/>
            <p:nvPr/>
          </p:nvSpPr>
          <p:spPr>
            <a:xfrm rot="0">
              <a:off x="15011052" y="10582298"/>
              <a:ext cx="209275" cy="329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24"/>
                </a:lnSpc>
              </a:pPr>
              <a:r>
                <a:rPr lang="en-US" sz="1445">
                  <a:solidFill>
                    <a:srgbClr val="BBBBB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→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48740" y="2803208"/>
            <a:ext cx="15590520" cy="6416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Thiết kế, huấn luyện, lượng tử hóa mô hình CNN bằng Python và trích xuất trọng số ra định dạng Hex.</a:t>
            </a:r>
          </a:p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Cấu hình lại lõi RV32E từ đồ án 1</a:t>
            </a:r>
          </a:p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Lập trình RTL cho khối tính toán MAC và mạch Clock Gating, sau đó tích hợp vào đường dẫn dữ liệu (Datapath) của CPU</a:t>
            </a:r>
          </a:p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Viết firmware điều khiển, nạp trọng số AI vào ROM và tiến hành mô phỏng toàn hệ thống</a:t>
            </a:r>
          </a:p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Đổ Bitstream xuống mạch thật. Viết giao diện trên máy tính truyền dữ liệu ảnh phổ radar qua UART và nhận lại kết quả phân loại</a:t>
            </a:r>
          </a:p>
          <a:p>
            <a:pPr algn="l">
              <a:lnSpc>
                <a:spcPts val="3888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7871460" y="1057751"/>
            <a:ext cx="3459480" cy="979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Nội Dung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48740" y="2822258"/>
            <a:ext cx="15590520" cy="6397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3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Mã nguồn RTL hệ thống SoC tích hợp bộ tăng tốc phần cứng và mạch tiết kiệm năng lượng</a:t>
            </a:r>
          </a:p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  <a:r>
              <a:rPr lang="en-US" sz="33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Cơ chế phân loại AI chạy thành công và chính xác trên vi mạch thực tế</a:t>
            </a:r>
          </a:p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  <a:r>
              <a:rPr lang="en-US" sz="33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Báo cáo đối chiếu và đánh giá hiệu năng (thời gian tính toán, tài nguyên LUTs/DSP) cũng như thông số giảm công suất tiêu thụ nhờ áp dụng Hardware Accelerator và Clock Gating</a:t>
            </a:r>
          </a:p>
          <a:p>
            <a:pPr algn="l">
              <a:lnSpc>
                <a:spcPts val="3564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6831330" y="1057751"/>
            <a:ext cx="5539740" cy="979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Kết quả dự kiến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069817" y="4173814"/>
            <a:ext cx="10148366" cy="1939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70"/>
              </a:lnSpc>
            </a:pPr>
            <a:r>
              <a:rPr lang="en-US" sz="12725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Tiến độ tuần 4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2980" y="506730"/>
            <a:ext cx="1627632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1. Mục tiêu tuần 4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4128" y="1448943"/>
            <a:ext cx="16002000" cy="535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Tạo nền tảng phần mềm và dữ liệu để sẵn sàng tích hợp ESP32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25880" y="2152650"/>
            <a:ext cx="15590520" cy="6374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Xây dựng giao diện Web App phục vụ quản lý và giám sát.</a:t>
            </a:r>
          </a:p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Phát triển các chức năng cơ bản của ứng dụng.</a:t>
            </a:r>
          </a:p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Kết nối Firebase để lưu trữ, đồng bộ và hiển thị dữ liệu.</a:t>
            </a:r>
          </a:p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Chuẩn bị nền tảng phần mềm cho việc kết nối phần cứng ESP32.</a:t>
            </a:r>
          </a:p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Kiểm thử việc nhận dữ liệu từ Firebase trên Wokwi.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2980" y="506730"/>
            <a:ext cx="16276320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2. Giao diện Web App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4128" y="1448943"/>
            <a:ext cx="16002000" cy="535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Phần mềm nền tảng đã được xây dựng ở mức cơ bản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242820" y="468405"/>
            <a:ext cx="4040033" cy="9034722"/>
            <a:chOff x="0" y="0"/>
            <a:chExt cx="7750810" cy="173331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750810" cy="17333128"/>
            </a:xfrm>
            <a:custGeom>
              <a:avLst/>
              <a:gdLst/>
              <a:ahLst/>
              <a:cxnLst/>
              <a:rect r="r" b="b" t="t" l="l"/>
              <a:pathLst>
                <a:path h="17333128" w="7750810">
                  <a:moveTo>
                    <a:pt x="0" y="0"/>
                  </a:moveTo>
                  <a:lnTo>
                    <a:pt x="7750810" y="0"/>
                  </a:lnTo>
                  <a:lnTo>
                    <a:pt x="7750810" y="17333128"/>
                  </a:lnTo>
                  <a:lnTo>
                    <a:pt x="0" y="17333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13" t="0" r="-213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82980" y="2621661"/>
            <a:ext cx="6949440" cy="471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Thiết kế giao diện theo hướng trực quan, dễ theo dõi.</a:t>
            </a:r>
          </a:p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Xây dựng các khu vực hiển thị dữ liệu và trạng thái hệ thống.</a:t>
            </a:r>
          </a:p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Bố trí các thành phần phục vụ quản lý và giám sát.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2980" y="506730"/>
            <a:ext cx="16276320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3. Các chức năng đã triển khai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4128" y="1448943"/>
            <a:ext cx="16002000" cy="535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Các chức năng chính của Web App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829300" y="8900922"/>
            <a:ext cx="5029200" cy="544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Giao diện điều khiển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30100" y="8970969"/>
            <a:ext cx="5029200" cy="544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Giao diện cảnh báo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65293" y="1094213"/>
            <a:ext cx="5372567" cy="8973331"/>
            <a:chOff x="0" y="0"/>
            <a:chExt cx="7163422" cy="1196444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163435" cy="11964416"/>
            </a:xfrm>
            <a:custGeom>
              <a:avLst/>
              <a:gdLst/>
              <a:ahLst/>
              <a:cxnLst/>
              <a:rect r="r" b="b" t="t" l="l"/>
              <a:pathLst>
                <a:path h="11964416" w="7163435">
                  <a:moveTo>
                    <a:pt x="0" y="0"/>
                  </a:moveTo>
                  <a:lnTo>
                    <a:pt x="7163435" y="0"/>
                  </a:lnTo>
                  <a:lnTo>
                    <a:pt x="7163435" y="11964416"/>
                  </a:lnTo>
                  <a:lnTo>
                    <a:pt x="0" y="11964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6748777" y="1094213"/>
            <a:ext cx="3337846" cy="7510158"/>
            <a:chOff x="0" y="0"/>
            <a:chExt cx="4450461" cy="1001354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50461" cy="10013569"/>
            </a:xfrm>
            <a:custGeom>
              <a:avLst/>
              <a:gdLst/>
              <a:ahLst/>
              <a:cxnLst/>
              <a:rect r="r" b="b" t="t" l="l"/>
              <a:pathLst>
                <a:path h="10013569" w="4450461">
                  <a:moveTo>
                    <a:pt x="0" y="0"/>
                  </a:moveTo>
                  <a:lnTo>
                    <a:pt x="4450461" y="0"/>
                  </a:lnTo>
                  <a:lnTo>
                    <a:pt x="4450461" y="10013569"/>
                  </a:lnTo>
                  <a:lnTo>
                    <a:pt x="0" y="100135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2808429" y="1164384"/>
            <a:ext cx="3440725" cy="7601607"/>
            <a:chOff x="0" y="0"/>
            <a:chExt cx="4587634" cy="1013547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87621" cy="10135489"/>
            </a:xfrm>
            <a:custGeom>
              <a:avLst/>
              <a:gdLst/>
              <a:ahLst/>
              <a:cxnLst/>
              <a:rect r="r" b="b" t="t" l="l"/>
              <a:pathLst>
                <a:path h="10135489" w="4587621">
                  <a:moveTo>
                    <a:pt x="0" y="0"/>
                  </a:moveTo>
                  <a:lnTo>
                    <a:pt x="4587621" y="0"/>
                  </a:lnTo>
                  <a:lnTo>
                    <a:pt x="4587621" y="10135489"/>
                  </a:lnTo>
                  <a:lnTo>
                    <a:pt x="0" y="10135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82980" y="1984248"/>
            <a:ext cx="7818120" cy="5212080"/>
            <a:chOff x="0" y="0"/>
            <a:chExt cx="10424160" cy="69494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424160" cy="6949440"/>
            </a:xfrm>
            <a:custGeom>
              <a:avLst/>
              <a:gdLst/>
              <a:ahLst/>
              <a:cxnLst/>
              <a:rect r="r" b="b" t="t" l="l"/>
              <a:pathLst>
                <a:path h="6949440" w="10424160">
                  <a:moveTo>
                    <a:pt x="0" y="0"/>
                  </a:moveTo>
                  <a:lnTo>
                    <a:pt x="10424160" y="0"/>
                  </a:lnTo>
                  <a:lnTo>
                    <a:pt x="10424160" y="6949440"/>
                  </a:lnTo>
                  <a:lnTo>
                    <a:pt x="0" y="6949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771853" y="2077974"/>
            <a:ext cx="7818120" cy="5212080"/>
            <a:chOff x="0" y="0"/>
            <a:chExt cx="10424160" cy="69494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424160" cy="6949440"/>
            </a:xfrm>
            <a:custGeom>
              <a:avLst/>
              <a:gdLst/>
              <a:ahLst/>
              <a:cxnLst/>
              <a:rect r="r" b="b" t="t" l="l"/>
              <a:pathLst>
                <a:path h="6949440" w="10424160">
                  <a:moveTo>
                    <a:pt x="0" y="0"/>
                  </a:moveTo>
                  <a:lnTo>
                    <a:pt x="10424160" y="0"/>
                  </a:lnTo>
                  <a:lnTo>
                    <a:pt x="10424160" y="6949440"/>
                  </a:lnTo>
                  <a:lnTo>
                    <a:pt x="0" y="6949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82980" y="506730"/>
            <a:ext cx="16276320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4. Kết nối Firebase &amp; kiểm thử Wokwi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4128" y="1448943"/>
            <a:ext cx="16002000" cy="535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Lưu trữ, đồng bộ và hiển thị dữ liệu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63040" y="7374255"/>
            <a:ext cx="15179040" cy="1769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Thiết lập kết nối Web App ↔ Firebase.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Lưu trữ và đồng bộ dữ liệu trên Firebase.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Đọc dữ liệu từ Firebase và hiển thị lên Web App.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Kiểm thử khả năng cập nhật dữ liệu trên Wokwi.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2980" y="506730"/>
            <a:ext cx="1627632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5. Kết quả tuần 4 &amp; kế hoạch tuần 5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52976" y="2050256"/>
            <a:ext cx="7969568" cy="6735128"/>
            <a:chOff x="0" y="0"/>
            <a:chExt cx="10626090" cy="89801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626090" cy="8980170"/>
            </a:xfrm>
            <a:custGeom>
              <a:avLst/>
              <a:gdLst/>
              <a:ahLst/>
              <a:cxnLst/>
              <a:rect r="r" b="b" t="t" l="l"/>
              <a:pathLst>
                <a:path h="8980170" w="10626090">
                  <a:moveTo>
                    <a:pt x="0" y="1496695"/>
                  </a:moveTo>
                  <a:cubicBezTo>
                    <a:pt x="0" y="670052"/>
                    <a:pt x="670052" y="0"/>
                    <a:pt x="1496695" y="0"/>
                  </a:cubicBezTo>
                  <a:lnTo>
                    <a:pt x="9129395" y="0"/>
                  </a:lnTo>
                  <a:cubicBezTo>
                    <a:pt x="9956038" y="0"/>
                    <a:pt x="10626090" y="670052"/>
                    <a:pt x="10626090" y="1496695"/>
                  </a:cubicBezTo>
                  <a:lnTo>
                    <a:pt x="10626090" y="7483475"/>
                  </a:lnTo>
                  <a:cubicBezTo>
                    <a:pt x="10626090" y="8310118"/>
                    <a:pt x="9956038" y="8980170"/>
                    <a:pt x="9129395" y="8980170"/>
                  </a:cubicBezTo>
                  <a:lnTo>
                    <a:pt x="1496695" y="8980170"/>
                  </a:lnTo>
                  <a:cubicBezTo>
                    <a:pt x="670052" y="8980170"/>
                    <a:pt x="0" y="8310118"/>
                    <a:pt x="0" y="7483475"/>
                  </a:cubicBezTo>
                  <a:close/>
                </a:path>
              </a:pathLst>
            </a:custGeom>
            <a:solidFill>
              <a:srgbClr val="F2F7F4"/>
            </a:solidFill>
            <a:ln w="14288" cap="sq">
              <a:solidFill>
                <a:srgbClr val="1F7E4C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463040" y="2495550"/>
            <a:ext cx="6949440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1F7E4C"/>
                </a:solidFill>
                <a:latin typeface="Arial Bold"/>
                <a:ea typeface="Arial Bold"/>
                <a:cs typeface="Arial Bold"/>
                <a:sym typeface="Arial Bold"/>
              </a:rPr>
              <a:t>KẾT QUẢ ĐẠT ĐƯỢC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3040" y="3396615"/>
            <a:ext cx="6743700" cy="4375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Web App đã có giao diện và các chức năng chính bước đầu.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Đã kết nối Firebase để lưu trữ, đồng bộ và hiển thị dữ liệu.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Đã kiểm thử việc nhận dữ liệu từ Firebase trên Wokwi.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Sẵn sàng chuyển sang giai đoạn triển khai phần cứng ESP32.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388316" y="2050256"/>
            <a:ext cx="7969568" cy="6735128"/>
            <a:chOff x="0" y="0"/>
            <a:chExt cx="10626090" cy="898017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26090" cy="8980170"/>
            </a:xfrm>
            <a:custGeom>
              <a:avLst/>
              <a:gdLst/>
              <a:ahLst/>
              <a:cxnLst/>
              <a:rect r="r" b="b" t="t" l="l"/>
              <a:pathLst>
                <a:path h="8980170" w="10626090">
                  <a:moveTo>
                    <a:pt x="0" y="1496695"/>
                  </a:moveTo>
                  <a:cubicBezTo>
                    <a:pt x="0" y="670052"/>
                    <a:pt x="670052" y="0"/>
                    <a:pt x="1496695" y="0"/>
                  </a:cubicBezTo>
                  <a:lnTo>
                    <a:pt x="9129395" y="0"/>
                  </a:lnTo>
                  <a:cubicBezTo>
                    <a:pt x="9956038" y="0"/>
                    <a:pt x="10626090" y="670052"/>
                    <a:pt x="10626090" y="1496695"/>
                  </a:cubicBezTo>
                  <a:lnTo>
                    <a:pt x="10626090" y="7483475"/>
                  </a:lnTo>
                  <a:cubicBezTo>
                    <a:pt x="10626090" y="8310118"/>
                    <a:pt x="9956038" y="8980170"/>
                    <a:pt x="9129395" y="8980170"/>
                  </a:cubicBezTo>
                  <a:lnTo>
                    <a:pt x="1496695" y="8980170"/>
                  </a:lnTo>
                  <a:cubicBezTo>
                    <a:pt x="670052" y="8980170"/>
                    <a:pt x="0" y="8310118"/>
                    <a:pt x="0" y="7483475"/>
                  </a:cubicBezTo>
                  <a:close/>
                </a:path>
              </a:pathLst>
            </a:custGeom>
            <a:solidFill>
              <a:srgbClr val="F5F7FC"/>
            </a:solidFill>
            <a:ln w="14288" cap="sq">
              <a:solidFill>
                <a:srgbClr val="12375F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9898380" y="2495550"/>
            <a:ext cx="694944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KẾ HOẠCH TUẦN 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98380" y="3396615"/>
            <a:ext cx="6743700" cy="4375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Thiết kế và lắp ráp phần cứng sử dụng ESP32.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Kết nối các cảm biến cần thiết.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Lập trình ESP32 để đọc dữ liệu cảm biến.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Kiểm tra thu thập dữ liệu và chuẩn bị truyền lên Firebase.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069817" y="4173814"/>
            <a:ext cx="10148366" cy="1939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70"/>
              </a:lnSpc>
            </a:pPr>
            <a:r>
              <a:rPr lang="en-US" sz="12725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Tiến độ tuần 5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0614745" y="6253932"/>
            <a:ext cx="4881975" cy="3805203"/>
          </a:xfrm>
          <a:custGeom>
            <a:avLst/>
            <a:gdLst/>
            <a:ahLst/>
            <a:cxnLst/>
            <a:rect r="r" b="b" t="t" l="l"/>
            <a:pathLst>
              <a:path h="3805203" w="4881975">
                <a:moveTo>
                  <a:pt x="0" y="0"/>
                </a:moveTo>
                <a:lnTo>
                  <a:pt x="4881975" y="0"/>
                </a:lnTo>
                <a:lnTo>
                  <a:pt x="4881975" y="3805202"/>
                </a:lnTo>
                <a:lnTo>
                  <a:pt x="0" y="38052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381165" y="2448729"/>
            <a:ext cx="5108484" cy="3805203"/>
          </a:xfrm>
          <a:custGeom>
            <a:avLst/>
            <a:gdLst/>
            <a:ahLst/>
            <a:cxnLst/>
            <a:rect r="r" b="b" t="t" l="l"/>
            <a:pathLst>
              <a:path h="3805203" w="5108484">
                <a:moveTo>
                  <a:pt x="0" y="0"/>
                </a:moveTo>
                <a:lnTo>
                  <a:pt x="5108485" y="0"/>
                </a:lnTo>
                <a:lnTo>
                  <a:pt x="5108485" y="3805203"/>
                </a:lnTo>
                <a:lnTo>
                  <a:pt x="0" y="38052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120788" y="2448729"/>
            <a:ext cx="4751863" cy="3805203"/>
          </a:xfrm>
          <a:custGeom>
            <a:avLst/>
            <a:gdLst/>
            <a:ahLst/>
            <a:cxnLst/>
            <a:rect r="r" b="b" t="t" l="l"/>
            <a:pathLst>
              <a:path h="3805203" w="4751863">
                <a:moveTo>
                  <a:pt x="0" y="0"/>
                </a:moveTo>
                <a:lnTo>
                  <a:pt x="4751863" y="0"/>
                </a:lnTo>
                <a:lnTo>
                  <a:pt x="4751863" y="3805203"/>
                </a:lnTo>
                <a:lnTo>
                  <a:pt x="0" y="38052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98947" y="3810804"/>
            <a:ext cx="6119225" cy="4598127"/>
          </a:xfrm>
          <a:custGeom>
            <a:avLst/>
            <a:gdLst/>
            <a:ahLst/>
            <a:cxnLst/>
            <a:rect r="r" b="b" t="t" l="l"/>
            <a:pathLst>
              <a:path h="4598127" w="6119225">
                <a:moveTo>
                  <a:pt x="0" y="0"/>
                </a:moveTo>
                <a:lnTo>
                  <a:pt x="6119225" y="0"/>
                </a:lnTo>
                <a:lnTo>
                  <a:pt x="6119225" y="4598128"/>
                </a:lnTo>
                <a:lnTo>
                  <a:pt x="0" y="45981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98947" y="2448729"/>
            <a:ext cx="5157192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1. Phần cứng sử dụng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-5400000">
            <a:off x="2201549" y="2509819"/>
            <a:ext cx="5519910" cy="7359879"/>
          </a:xfrm>
          <a:custGeom>
            <a:avLst/>
            <a:gdLst/>
            <a:ahLst/>
            <a:cxnLst/>
            <a:rect r="r" b="b" t="t" l="l"/>
            <a:pathLst>
              <a:path h="7359879" w="5519910">
                <a:moveTo>
                  <a:pt x="0" y="0"/>
                </a:moveTo>
                <a:lnTo>
                  <a:pt x="5519909" y="0"/>
                </a:lnTo>
                <a:lnTo>
                  <a:pt x="5519909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2920960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2. Lắp mạch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0" y="2767817"/>
            <a:ext cx="8393506" cy="6392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Cảm biến Nhiệt độ &amp; Độ ẩm DHT22 :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VCC (hoặc dấu +) ➔ Nối vào chân 3V3 của ESP32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GND (hoặc dấu -) ➔ Nối vào chân GND của ESP32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DATA (hoặc OUT) ➔Nối trực tiếp vào chân D2 của ESP32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Module Cảm biến Ánh sáng LDR :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VCC ➔ Nối vào chân 3V3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GND ➔ Nối vào chân GND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AO (Analog Output) ➔ Nối vào chân D34 của ESP32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Cảm biến Độ ẩm đất điện dung V1.2 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VCC ➔ Nối vào chân 3V3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GND ➔ Nối vào chân GND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AOUT  ➔ Nối vào chân D35 của ESP32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309964" y="4390093"/>
            <a:ext cx="11668073" cy="3855647"/>
          </a:xfrm>
          <a:custGeom>
            <a:avLst/>
            <a:gdLst/>
            <a:ahLst/>
            <a:cxnLst/>
            <a:rect r="r" b="b" t="t" l="l"/>
            <a:pathLst>
              <a:path h="3855647" w="11668073">
                <a:moveTo>
                  <a:pt x="0" y="0"/>
                </a:moveTo>
                <a:lnTo>
                  <a:pt x="11668072" y="0"/>
                </a:lnTo>
                <a:lnTo>
                  <a:pt x="11668072" y="3855647"/>
                </a:lnTo>
                <a:lnTo>
                  <a:pt x="0" y="38556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5454015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3. Nạp code vào ESP32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6775521" y="2595726"/>
            <a:ext cx="9956586" cy="6356958"/>
          </a:xfrm>
          <a:custGeom>
            <a:avLst/>
            <a:gdLst/>
            <a:ahLst/>
            <a:cxnLst/>
            <a:rect r="r" b="b" t="t" l="l"/>
            <a:pathLst>
              <a:path h="6356958" w="9956586">
                <a:moveTo>
                  <a:pt x="0" y="0"/>
                </a:moveTo>
                <a:lnTo>
                  <a:pt x="9956586" y="0"/>
                </a:lnTo>
                <a:lnTo>
                  <a:pt x="9956586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461295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4. Quan sát dữ liệu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234068"/>
            <a:ext cx="520113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Serial Monitor trên Arduino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121588" y="3264891"/>
            <a:ext cx="10959214" cy="6164558"/>
          </a:xfrm>
          <a:custGeom>
            <a:avLst/>
            <a:gdLst/>
            <a:ahLst/>
            <a:cxnLst/>
            <a:rect r="r" b="b" t="t" l="l"/>
            <a:pathLst>
              <a:path h="6164558" w="10959214">
                <a:moveTo>
                  <a:pt x="0" y="0"/>
                </a:moveTo>
                <a:lnTo>
                  <a:pt x="10959214" y="0"/>
                </a:lnTo>
                <a:lnTo>
                  <a:pt x="10959214" y="6164558"/>
                </a:lnTo>
                <a:lnTo>
                  <a:pt x="0" y="61645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461295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4. Quan sát dữ liệu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8947" y="3264891"/>
            <a:ext cx="520113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Firebase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8206437" y="2393578"/>
            <a:ext cx="3307346" cy="7359879"/>
          </a:xfrm>
          <a:custGeom>
            <a:avLst/>
            <a:gdLst/>
            <a:ahLst/>
            <a:cxnLst/>
            <a:rect r="r" b="b" t="t" l="l"/>
            <a:pathLst>
              <a:path h="7359879" w="3307346">
                <a:moveTo>
                  <a:pt x="0" y="0"/>
                </a:moveTo>
                <a:lnTo>
                  <a:pt x="3307346" y="0"/>
                </a:lnTo>
                <a:lnTo>
                  <a:pt x="3307346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461295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4. Quan sát dữ liệu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8947" y="3429804"/>
            <a:ext cx="520113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E</a:t>
            </a: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xpo Go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DAHR8QmCQQg</dc:identifier>
  <dcterms:modified xsi:type="dcterms:W3CDTF">2011-08-01T06:04:30Z</dcterms:modified>
  <cp:revision>1</cp:revision>
  <dc:title>Presentation1.pptx</dc:title>
</cp:coreProperties>
</file>