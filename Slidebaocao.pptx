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34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</p:sldIdLst>
  <p:sldSz cx="18288000" cy="10287000"/>
  <p:notesSz cx="6858000" cy="9144000"/>
  <p:embeddedFontLst>
    <p:embeddedFont>
      <p:font typeface="Times New Roman" charset="1" panose="02020603050405020304"/>
      <p:regular r:id="rId37"/>
    </p:embeddedFont>
    <p:embeddedFont>
      <p:font typeface="Times New Roman Bold" charset="1" panose="02020803070505020304"/>
      <p:regular r:id="rId38"/>
    </p:embeddedFont>
    <p:embeddedFont>
      <p:font typeface="Aptos Bold" charset="1" panose="020B0004020202020204"/>
      <p:regular r:id="rId39"/>
    </p:embeddedFont>
    <p:embeddedFont>
      <p:font typeface="DejaVu Sans Bold" charset="1" panose="020B0803030604020204"/>
      <p:regular r:id="rId40"/>
    </p:embeddedFont>
    <p:embeddedFont>
      <p:font typeface="DejaVu Sans Light" charset="1" panose="020B0603030804020204"/>
      <p:regular r:id="rId41"/>
    </p:embeddedFont>
    <p:embeddedFont>
      <p:font typeface="Aptos" charset="1" panose="020B0004020202020204"/>
      <p:regular r:id="rId42"/>
    </p:embeddedFont>
    <p:embeddedFont>
      <p:font typeface="Arial Bold" charset="1" panose="020B0704020202020204"/>
      <p:regular r:id="rId43"/>
    </p:embeddedFont>
    <p:embeddedFont>
      <p:font typeface="Arial" charset="1" panose="020B0604020202020204"/>
      <p:regular r:id="rId4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notesMasters/notesMaster1.xml" Type="http://schemas.openxmlformats.org/officeDocument/2006/relationships/notesMaster"/><Relationship Id="rId35" Target="theme/theme2.xml" Type="http://schemas.openxmlformats.org/officeDocument/2006/relationships/theme"/><Relationship Id="rId36" Target="notesSlides/notesSlide1.xml" Type="http://schemas.openxmlformats.org/officeDocument/2006/relationships/notesSlide"/><Relationship Id="rId37" Target="fonts/font37.fntdata" Type="http://schemas.openxmlformats.org/officeDocument/2006/relationships/font"/><Relationship Id="rId38" Target="fonts/font38.fntdata" Type="http://schemas.openxmlformats.org/officeDocument/2006/relationships/font"/><Relationship Id="rId39" Target="fonts/font39.fntdata" Type="http://schemas.openxmlformats.org/officeDocument/2006/relationships/font"/><Relationship Id="rId4" Target="theme/theme1.xml" Type="http://schemas.openxmlformats.org/officeDocument/2006/relationships/theme"/><Relationship Id="rId40" Target="fonts/font40.fntdata" Type="http://schemas.openxmlformats.org/officeDocument/2006/relationships/font"/><Relationship Id="rId41" Target="fonts/font41.fntdata" Type="http://schemas.openxmlformats.org/officeDocument/2006/relationships/font"/><Relationship Id="rId42" Target="fonts/font42.fntdata" Type="http://schemas.openxmlformats.org/officeDocument/2006/relationships/font"/><Relationship Id="rId43" Target="fonts/font43.fntdata" Type="http://schemas.openxmlformats.org/officeDocument/2006/relationships/font"/><Relationship Id="rId44" Target="fonts/font44.fntdata" Type="http://schemas.openxmlformats.org/officeDocument/2006/relationships/font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4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png" Type="http://schemas.openxmlformats.org/officeDocument/2006/relationships/image"/><Relationship Id="rId4" Target="../media/image1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14.png" Type="http://schemas.openxmlformats.org/officeDocument/2006/relationships/image"/><Relationship Id="rId4" Target="../media/image15.png" Type="http://schemas.openxmlformats.org/officeDocument/2006/relationships/image"/><Relationship Id="rId5" Target="../media/image16.png" Type="http://schemas.openxmlformats.org/officeDocument/2006/relationships/image"/><Relationship Id="rId6" Target="../media/image17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18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19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20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21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22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23.png" Type="http://schemas.openxmlformats.org/officeDocument/2006/relationships/image"/><Relationship Id="rId4" Target="../media/image24.jpe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24.jpeg" Type="http://schemas.openxmlformats.org/officeDocument/2006/relationships/image"/><Relationship Id="rId4" Target="../media/image25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26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2163087"/>
            <a:ext cx="15438120" cy="1476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Ứng dụng Di động kết hợp với hệ thống nhúng ESP32</a:t>
            </a:r>
          </a:p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Quản lý và Giám sát cây trồng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196349" y="4705350"/>
            <a:ext cx="5918171" cy="30040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529"/>
              </a:lnSpc>
            </a:pPr>
            <a:r>
              <a:rPr lang="en-US" sz="3499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GVHD: </a:t>
            </a:r>
          </a:p>
          <a:p>
            <a:pPr algn="l">
              <a:lnSpc>
                <a:spcPts val="8531"/>
              </a:lnSpc>
            </a:pPr>
            <a:r>
              <a:rPr lang="en-US" sz="3499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</a:t>
            </a:r>
            <a:r>
              <a:rPr lang="en-US" sz="3499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s.Huỳnh Hoàng Hà</a:t>
            </a:r>
          </a:p>
          <a:p>
            <a:pPr algn="l">
              <a:lnSpc>
                <a:spcPts val="7312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2243124" y="5675628"/>
            <a:ext cx="4878883" cy="303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35"/>
              </a:lnSpc>
              <a:spcBef>
                <a:spcPct val="0"/>
              </a:spcBef>
            </a:pPr>
            <a:r>
              <a:rPr lang="en-US" b="true" sz="394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Nguyễn Đức Thắng</a:t>
            </a:r>
          </a:p>
          <a:p>
            <a:pPr algn="l">
              <a:lnSpc>
                <a:spcPts val="4735"/>
              </a:lnSpc>
              <a:spcBef>
                <a:spcPct val="0"/>
              </a:spcBef>
            </a:pPr>
            <a:r>
              <a:rPr lang="en-US" b="true" sz="394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Nguyễn Thế Toàn</a:t>
            </a:r>
          </a:p>
          <a:p>
            <a:pPr algn="l">
              <a:lnSpc>
                <a:spcPts val="4735"/>
              </a:lnSpc>
              <a:spcBef>
                <a:spcPct val="0"/>
              </a:spcBef>
            </a:pPr>
            <a:r>
              <a:rPr lang="en-US" b="true" sz="394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Nguyễn Thanh Trí</a:t>
            </a:r>
          </a:p>
          <a:p>
            <a:pPr algn="l">
              <a:lnSpc>
                <a:spcPts val="4735"/>
              </a:lnSpc>
              <a:spcBef>
                <a:spcPct val="0"/>
              </a:spcBef>
            </a:pPr>
            <a:r>
              <a:rPr lang="en-US" b="true" sz="394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Nguyễn Hữu Tuấn </a:t>
            </a:r>
          </a:p>
          <a:p>
            <a:pPr algn="l">
              <a:lnSpc>
                <a:spcPts val="4735"/>
              </a:lnSpc>
              <a:spcBef>
                <a:spcPct val="0"/>
              </a:spcBef>
            </a:pPr>
            <a:r>
              <a:rPr lang="en-US" b="true" sz="3945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Nguyễn Thái Tú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390566" y="5608953"/>
            <a:ext cx="1753434" cy="310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23119205</a:t>
            </a:r>
          </a:p>
          <a:p>
            <a:pPr algn="l">
              <a:lnSpc>
                <a:spcPts val="4900"/>
              </a:lnSpc>
            </a:pPr>
            <a:r>
              <a:rPr lang="en-US" sz="3500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23119213</a:t>
            </a:r>
          </a:p>
          <a:p>
            <a:pPr algn="l">
              <a:lnSpc>
                <a:spcPts val="4900"/>
              </a:lnSpc>
            </a:pPr>
            <a:r>
              <a:rPr lang="en-US" sz="3500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23119217</a:t>
            </a:r>
          </a:p>
          <a:p>
            <a:pPr algn="l">
              <a:lnSpc>
                <a:spcPts val="4900"/>
              </a:lnSpc>
            </a:pPr>
            <a:r>
              <a:rPr lang="en-US" sz="3500" b="true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23119221</a:t>
            </a:r>
          </a:p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b="true" sz="35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23119225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243124" y="4848225"/>
            <a:ext cx="2844403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5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THÀNH VIÊN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7390566" y="4848225"/>
            <a:ext cx="2844403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b="true" sz="350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MÃ SỐ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3173458" y="2459380"/>
            <a:ext cx="11941084" cy="6518619"/>
          </a:xfrm>
          <a:custGeom>
            <a:avLst/>
            <a:gdLst/>
            <a:ahLst/>
            <a:cxnLst/>
            <a:rect r="r" b="b" t="t" l="l"/>
            <a:pathLst>
              <a:path h="6518619" w="11941084">
                <a:moveTo>
                  <a:pt x="0" y="0"/>
                </a:moveTo>
                <a:lnTo>
                  <a:pt x="11941084" y="0"/>
                </a:lnTo>
                <a:lnTo>
                  <a:pt x="11941084" y="6518619"/>
                </a:lnTo>
                <a:lnTo>
                  <a:pt x="0" y="65186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8386643" y="1019175"/>
            <a:ext cx="1514713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00"/>
              </a:lnSpc>
            </a:pPr>
            <a:r>
              <a:rPr lang="en-US" sz="6000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Idea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3173458" y="2739681"/>
            <a:ext cx="11941084" cy="6518619"/>
          </a:xfrm>
          <a:custGeom>
            <a:avLst/>
            <a:gdLst/>
            <a:ahLst/>
            <a:cxnLst/>
            <a:rect r="r" b="b" t="t" l="l"/>
            <a:pathLst>
              <a:path h="6518619" w="11941084">
                <a:moveTo>
                  <a:pt x="0" y="0"/>
                </a:moveTo>
                <a:lnTo>
                  <a:pt x="11941084" y="0"/>
                </a:lnTo>
                <a:lnTo>
                  <a:pt x="11941084" y="6518619"/>
                </a:lnTo>
                <a:lnTo>
                  <a:pt x="0" y="65186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5218271" y="1019175"/>
            <a:ext cx="7851457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6000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Function in Mobile app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2578473" y="2363578"/>
            <a:ext cx="13287513" cy="6772394"/>
          </a:xfrm>
          <a:custGeom>
            <a:avLst/>
            <a:gdLst/>
            <a:ahLst/>
            <a:cxnLst/>
            <a:rect r="r" b="b" t="t" l="l"/>
            <a:pathLst>
              <a:path h="6772394" w="13287513">
                <a:moveTo>
                  <a:pt x="0" y="0"/>
                </a:moveTo>
                <a:lnTo>
                  <a:pt x="13287512" y="0"/>
                </a:lnTo>
                <a:lnTo>
                  <a:pt x="13287512" y="6772394"/>
                </a:lnTo>
                <a:lnTo>
                  <a:pt x="0" y="6772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7904733" y="1019175"/>
            <a:ext cx="3392924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b="true" sz="60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PROCESS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47305" y="1676755"/>
            <a:ext cx="17193390" cy="6933491"/>
            <a:chOff x="0" y="0"/>
            <a:chExt cx="22924520" cy="924465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924520" cy="9244654"/>
            </a:xfrm>
            <a:custGeom>
              <a:avLst/>
              <a:gdLst/>
              <a:ahLst/>
              <a:cxnLst/>
              <a:rect r="r" b="b" t="t" l="l"/>
              <a:pathLst>
                <a:path h="9244654" w="22924520">
                  <a:moveTo>
                    <a:pt x="0" y="0"/>
                  </a:moveTo>
                  <a:lnTo>
                    <a:pt x="22924520" y="0"/>
                  </a:lnTo>
                  <a:lnTo>
                    <a:pt x="22924520" y="9244654"/>
                  </a:lnTo>
                  <a:lnTo>
                    <a:pt x="0" y="9244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-9705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 rot="0">
              <a:off x="535382" y="276640"/>
              <a:ext cx="18318721" cy="12041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732"/>
                </a:lnSpc>
              </a:pPr>
              <a:r>
                <a:rPr lang="en-US" b="true" sz="1948" spc="19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PHÂN TÍCH KỸ THUẬT CHI TIẾT — </a:t>
              </a:r>
              <a:r>
                <a:rPr lang="en-US" b="true" sz="1948" spc="19">
                  <a:solidFill>
                    <a:srgbClr val="F5B53D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ỨNG DỤNG DI ĐỘNG + ESP32</a:t>
              </a:r>
              <a:r>
                <a:rPr lang="en-US" b="true" sz="1948" spc="19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 </a:t>
              </a:r>
              <a:r>
                <a:rPr lang="en-US" b="true" sz="1948" spc="19">
                  <a:solidFill>
                    <a:srgbClr val="5FD39A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GIÁM SÁT &amp; TƯỚI CÂY TỰ ĐỘNG</a:t>
              </a:r>
            </a:p>
            <a:p>
              <a:pPr algn="l">
                <a:lnSpc>
                  <a:spcPts val="2208"/>
                </a:lnSpc>
              </a:pPr>
              <a:r>
                <a:rPr lang="en-US" sz="909">
                  <a:solidFill>
                    <a:srgbClr val="C2D0E8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8 khối kỹ thuật: Yêu cầu định lượng → Đặc tả → Kiến trúc &amp; giao thức → Phần cứng/pinout → Firmware FreeRTOS → App Flutter/Cloud → Kiểm thử → Tối ưu năng lượng &amp; phát hành</a:t>
              </a:r>
            </a:p>
            <a:p>
              <a:pPr algn="l">
                <a:lnSpc>
                  <a:spcPts val="1893"/>
                </a:lnSpc>
              </a:pPr>
              <a:r>
                <a:rPr lang="en-US" sz="779">
                  <a:solidFill>
                    <a:srgbClr val="8EA6CC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Cấu hình tham chiếu: ESP32-WROOM-32 · MQTT/TLS 8883 · Firebase RTDB + Firestore + FCM · Flutter (MVVM) · Nguồn 5 V/2 A hoặc 18650 + PV 6 V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648976" y="1889479"/>
              <a:ext cx="93693" cy="176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91"/>
                </a:lnSpc>
              </a:pPr>
              <a:r>
                <a:rPr lang="en-US" b="true" sz="779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1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590375" y="2296420"/>
              <a:ext cx="1648669" cy="176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91"/>
                </a:lnSpc>
              </a:pPr>
              <a:r>
                <a:rPr lang="en-US" b="true" sz="779" spc="12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YÊU CẦU CHỨC NĂNG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590375" y="4210146"/>
              <a:ext cx="2872586" cy="176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91"/>
                </a:lnSpc>
              </a:pPr>
              <a:r>
                <a:rPr lang="en-US" b="true" sz="779" spc="12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YÊU CẦU PHI CHỨC NĂNG (ĐO ĐƯỢC)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656364" y="4449951"/>
              <a:ext cx="1505066" cy="19554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88"/>
                </a:lnSpc>
              </a:pPr>
              <a:r>
                <a:rPr lang="en-US" b="true" sz="779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Chỉ tiêu</a:t>
              </a:r>
              <a:r>
                <a:rPr lang="en-US" b="true" sz="779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 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Chu kỳ lấy mẫu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Trễ hiển thị dữ liệu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Trễ lệnh App → relay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Sai số độ ẩm đất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Uptime / mất gói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Tuổi pin (deep sleep)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3094920" y="4449951"/>
              <a:ext cx="1571355" cy="19554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en-US" b="true" sz="779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Mục tiêu</a:t>
              </a:r>
            </a:p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30 s (AC) / 15 min (pin)</a:t>
              </a:r>
            </a:p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≤ 2 s (p95)</a:t>
              </a:r>
            </a:p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≤ 2 s; ACK ≤ 5 s</a:t>
              </a:r>
            </a:p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± 5 % sau hiệu chuẩn</a:t>
              </a:r>
            </a:p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≥ 99 % / ≤ 1 %</a:t>
              </a:r>
            </a:p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≥ 60 ngày (18650)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711356" y="6602428"/>
              <a:ext cx="4429882" cy="18790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91"/>
                </a:lnSpc>
              </a:pPr>
              <a:r>
                <a:rPr lang="en-US" b="true" sz="779">
                  <a:solidFill>
                    <a:srgbClr val="1D2433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Ràng buộc an toàn: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không bơm khi 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79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mực nước = LOW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; giới hạn 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711356" y="6789412"/>
              <a:ext cx="4868622" cy="18790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91"/>
                </a:lnSpc>
              </a:pPr>
              <a:r>
                <a:rPr lang="en-US" sz="779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120 s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, nghỉ tối thiểu 10 phút; mất mạng → ESP32 vẫn chạy luật cục bộ.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700361" y="7241010"/>
              <a:ext cx="4428378" cy="3834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91"/>
                </a:lnSpc>
              </a:pPr>
              <a:r>
                <a:rPr lang="en-US" sz="779">
                  <a:solidFill>
                    <a:srgbClr val="16305C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Kết quả</a:t>
              </a:r>
            </a:p>
            <a:p>
              <a:pPr algn="l">
                <a:lnSpc>
                  <a:spcPts val="1182"/>
                </a:lnSpc>
              </a:pPr>
              <a:r>
                <a:rPr lang="en-US" b="true" sz="844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SRS: 5 FR + 6 NFR có số đo, ma trận truy vết FR→Test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6251790" y="6081331"/>
              <a:ext cx="4932678" cy="3790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lang="en-US" b="true" sz="779">
                  <a:solidFill>
                    <a:srgbClr val="1D2433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Nguyên tắc: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ngưỡng &amp; lịch được lưu cả 3 nơi (NVS – Cloud – App), Cloud là nguồn sự thật; ESP32 đồng bộ khi khởi động và khi có 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79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cfg/update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.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6240795" y="6724082"/>
              <a:ext cx="4677471" cy="581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79"/>
                </a:lnSpc>
              </a:pPr>
              <a:r>
                <a:rPr lang="en-US" sz="779">
                  <a:solidFill>
                    <a:srgbClr val="16305C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Kết quả</a:t>
              </a:r>
            </a:p>
            <a:p>
              <a:pPr algn="l">
                <a:lnSpc>
                  <a:spcPts val="1169"/>
                </a:lnSpc>
              </a:pPr>
              <a:r>
                <a:rPr lang="en-US" b="true" sz="844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System Spec: bảng tín hiệu, danh mục vật tư (BOM), hợp đồng cấu hình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6189410" y="1864323"/>
              <a:ext cx="3157701" cy="2155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63"/>
                </a:lnSpc>
              </a:pPr>
              <a:r>
                <a:rPr lang="en-US" b="true" sz="97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2 ĐẶC TẢ HỆ THỐNG &amp; CẢM BIẾN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6130809" y="2296420"/>
              <a:ext cx="2315857" cy="176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91"/>
                </a:lnSpc>
              </a:pPr>
              <a:r>
                <a:rPr lang="en-US" b="true" sz="779" spc="12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BẢNG CẢM BIẾN / CHẤP HÀNH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6196797" y="2536226"/>
              <a:ext cx="1286340" cy="99859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en-US" b="true" sz="779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Thiết bị</a:t>
              </a:r>
              <a:r>
                <a:rPr lang="en-US" b="true" sz="779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 </a:t>
              </a:r>
            </a:p>
            <a:p>
              <a:pPr algn="l">
                <a:lnSpc>
                  <a:spcPts val="1104"/>
                </a:lnSpc>
                <a:spcBef>
                  <a:spcPts val="584"/>
                </a:spcBef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Ẩm đất điện dung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v1.2</a:t>
              </a:r>
            </a:p>
            <a:p>
              <a:pPr algn="l">
                <a:lnSpc>
                  <a:spcPts val="1688"/>
                </a:lnSpc>
                <a:spcBef>
                  <a:spcPts val="584"/>
                </a:spcBef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DHT22 / AM2302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7701506" y="2536226"/>
              <a:ext cx="3504152" cy="52566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en-US" b="true" sz="779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Dải – Sai số – Giao tiếp</a:t>
              </a:r>
            </a:p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0–3,0 V analog; ADC1 12-bit; ±5 % sau calib 2 điểm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7701506" y="3349055"/>
              <a:ext cx="3500544" cy="15097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0–100 %RH ±2 %; −40…80 °C ±0,5 °C; 1-Wire; ≥ 2 s/lần</a:t>
              </a:r>
            </a:p>
            <a:p>
              <a:pPr algn="l">
                <a:lnSpc>
                  <a:spcPts val="1688"/>
                </a:lnSpc>
                <a:spcBef>
                  <a:spcPts val="584"/>
                </a:spcBef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1–65535 lux; I²C 0x23; tuyến tính tốt hơn LDR</a:t>
              </a:r>
            </a:p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Digital, chống dội 50 ms</a:t>
              </a:r>
            </a:p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Kích mức thấp, 5 V coil, 10 A/250 VAC</a:t>
              </a:r>
            </a:p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0,5–1,0 A; nguồn tách riêng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6196797" y="3774360"/>
              <a:ext cx="1380262" cy="10912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BH1750 (thay LDR)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</a:p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Phao mực nước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</a:p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Relay 1 kênh opto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</a:p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Bơm chìm 12 V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6130809" y="5035010"/>
              <a:ext cx="2304489" cy="176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91"/>
                </a:lnSpc>
              </a:pPr>
              <a:r>
                <a:rPr lang="en-US" b="true" sz="779" spc="12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PHÂN RÃ HỆ THỐNG (3 TẦNG)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11729829" y="1889479"/>
              <a:ext cx="93693" cy="176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91"/>
                </a:lnSpc>
              </a:pPr>
              <a:r>
                <a:rPr lang="en-US" b="true" sz="779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3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12714546" y="2894352"/>
              <a:ext cx="3116410" cy="49486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91"/>
                </a:lnSpc>
              </a:pPr>
              <a:r>
                <a:rPr lang="en-US" b="true" sz="779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ESP32-WROOM-32 (dual-core, FreeRTOS)</a:t>
              </a:r>
            </a:p>
            <a:p>
              <a:pPr algn="ctr">
                <a:lnSpc>
                  <a:spcPts val="1091"/>
                </a:lnSpc>
              </a:pPr>
            </a:p>
            <a:p>
              <a:pPr algn="ctr">
                <a:lnSpc>
                  <a:spcPts val="1000"/>
                </a:lnSpc>
              </a:pPr>
              <a:r>
                <a:rPr lang="en-US" sz="714">
                  <a:solidFill>
                    <a:srgbClr val="6B7688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▼ GPIO → opto-relay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2534842" y="2342297"/>
              <a:ext cx="3466268" cy="49486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91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Ẩm đất (ADC1) · DHT22 · BH1750 · Phao · Nút nhấn</a:t>
              </a:r>
            </a:p>
            <a:p>
              <a:pPr algn="ctr">
                <a:lnSpc>
                  <a:spcPts val="1091"/>
                </a:lnSpc>
              </a:pPr>
            </a:p>
            <a:p>
              <a:pPr algn="ctr">
                <a:lnSpc>
                  <a:spcPts val="1000"/>
                </a:lnSpc>
              </a:pPr>
              <a:r>
                <a:rPr lang="en-US" sz="714">
                  <a:solidFill>
                    <a:srgbClr val="6B7688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▼ ADC / 1-Wire / I²C / GPIO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11671243" y="5474953"/>
              <a:ext cx="2339552" cy="176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91"/>
                </a:lnSpc>
              </a:pPr>
              <a:r>
                <a:rPr lang="en-US" b="true" sz="779" spc="12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QUYẾT ĐỊNH KIẾN TRÚC (ADR)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11737231" y="5714758"/>
              <a:ext cx="4849422" cy="99859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en-US" b="true" sz="779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Vấn đề</a:t>
              </a:r>
              <a:r>
                <a:rPr lang="en-US" b="true" sz="779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 </a:t>
              </a:r>
            </a:p>
            <a:p>
              <a:pPr algn="l">
                <a:lnSpc>
                  <a:spcPts val="1104"/>
                </a:lnSpc>
                <a:spcBef>
                  <a:spcPts val="584"/>
                </a:spcBef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ESP32 vs</a:t>
              </a:r>
              <a:r>
                <a:rPr lang="en-US" b="true" sz="779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 </a:t>
              </a:r>
            </a:p>
            <a:p>
              <a:pPr algn="l">
                <a:lnSpc>
                  <a:spcPts val="1104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ESP8266</a:t>
              </a:r>
            </a:p>
            <a:p>
              <a:pPr algn="l">
                <a:lnSpc>
                  <a:spcPts val="1688"/>
                </a:lnSpc>
                <a:spcBef>
                  <a:spcPts val="584"/>
                </a:spcBef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MQTT vs HTTP</a:t>
              </a:r>
              <a:r>
                <a:rPr lang="en-US" b="true" sz="779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 </a:t>
              </a:r>
              <a:r>
                <a:rPr lang="en-US" b="true" sz="779">
                  <a:solidFill>
                    <a:srgbClr val="1D2433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MQTT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: kết nối bền, push 2 chiều, LWT, tốn ~1/5 băng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12905626" y="5714758"/>
              <a:ext cx="3573906" cy="52566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en-US" b="true" sz="779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Chọn &amp; lý do</a:t>
              </a:r>
            </a:p>
            <a:p>
              <a:pPr algn="l">
                <a:lnSpc>
                  <a:spcPts val="1688"/>
                </a:lnSpc>
              </a:pPr>
              <a:r>
                <a:rPr lang="en-US" b="true" sz="779">
                  <a:solidFill>
                    <a:srgbClr val="1D2433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ESP32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: 2 nhân, nhiều ADC, BLE cấu hình, TLS nhanh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12905626" y="6666932"/>
              <a:ext cx="3752472" cy="9922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thông</a:t>
              </a:r>
            </a:p>
            <a:p>
              <a:pPr algn="l">
                <a:lnSpc>
                  <a:spcPts val="1104"/>
                </a:lnSpc>
                <a:spcBef>
                  <a:spcPts val="584"/>
                </a:spcBef>
              </a:pPr>
              <a:r>
                <a:rPr lang="en-US" b="true" sz="779">
                  <a:solidFill>
                    <a:srgbClr val="1D2433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Cả hai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: RTDB cho trạng thái tức thời, Firestore cho truy</a:t>
              </a:r>
            </a:p>
            <a:p>
              <a:pPr algn="l">
                <a:lnSpc>
                  <a:spcPts val="1104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vấn lịch sử</a:t>
              </a:r>
            </a:p>
            <a:p>
              <a:pPr algn="l">
                <a:lnSpc>
                  <a:spcPts val="1688"/>
                </a:lnSpc>
                <a:spcBef>
                  <a:spcPts val="584"/>
                </a:spcBef>
              </a:pPr>
              <a:r>
                <a:rPr lang="en-US" b="true" sz="779">
                  <a:solidFill>
                    <a:srgbClr val="1D2433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Flutter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: 1 codebase, plugin FCM/BLE trưởng thành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11737231" y="6994203"/>
              <a:ext cx="733248" cy="8519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RTDB vs</a:t>
              </a:r>
              <a:r>
                <a:rPr lang="en-US" b="true" sz="779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 </a:t>
              </a:r>
            </a:p>
            <a:p>
              <a:pPr algn="l">
                <a:lnSpc>
                  <a:spcPts val="1104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Firestore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</a:p>
            <a:p>
              <a:pPr algn="l">
                <a:lnSpc>
                  <a:spcPts val="1104"/>
                </a:lnSpc>
                <a:spcBef>
                  <a:spcPts val="584"/>
                </a:spcBef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Flutter vs</a:t>
              </a:r>
              <a:r>
                <a:rPr lang="en-US" b="true" sz="779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 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Native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11792224" y="8039039"/>
              <a:ext cx="4961055" cy="3790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lang="en-US" b="true" sz="779">
                  <a:solidFill>
                    <a:srgbClr val="1D2433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Điểm lỗi đơn: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broker → bật LWT + tự kết nối lại lũy thừa; mất Internet → luật cục bộ vẫn tưới.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11781214" y="8681791"/>
              <a:ext cx="4222252" cy="3834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91"/>
                </a:lnSpc>
              </a:pPr>
              <a:r>
                <a:rPr lang="en-US" sz="779">
                  <a:solidFill>
                    <a:srgbClr val="16305C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Kết quả</a:t>
              </a:r>
            </a:p>
            <a:p>
              <a:pPr algn="l">
                <a:lnSpc>
                  <a:spcPts val="1182"/>
                </a:lnSpc>
              </a:pPr>
              <a:r>
                <a:rPr lang="en-US" b="true" sz="844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Sơ đồ khối + ADR + hợp đồng giao diện giữa 3 tầng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17321648" y="7812915"/>
              <a:ext cx="4703872" cy="581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79"/>
                </a:lnSpc>
              </a:pPr>
              <a:r>
                <a:rPr lang="en-US" sz="779">
                  <a:solidFill>
                    <a:srgbClr val="16305C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Kết quả</a:t>
              </a:r>
            </a:p>
            <a:p>
              <a:pPr algn="l">
                <a:lnSpc>
                  <a:spcPts val="1169"/>
                </a:lnSpc>
              </a:pPr>
              <a:r>
                <a:rPr lang="en-US" b="true" sz="844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Sơ đồ nguyên lý, pinout, BOM, PCB/protoboard, tính toán nguồn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0">
              <a:off x="17270263" y="1864323"/>
              <a:ext cx="2266476" cy="2155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63"/>
                </a:lnSpc>
              </a:pPr>
              <a:r>
                <a:rPr lang="en-US" b="true" sz="97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4 THIẾT KẾ PHẦN CỨNG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0">
              <a:off x="17211662" y="2296420"/>
              <a:ext cx="2581085" cy="176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91"/>
                </a:lnSpc>
              </a:pPr>
              <a:r>
                <a:rPr lang="en-US" b="true" sz="779" spc="12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BẢN ĐỒ CHÂN (PINOUT ĐỀ XUẤT)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17277651" y="2536226"/>
              <a:ext cx="1124340" cy="25273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688"/>
                </a:lnSpc>
              </a:pPr>
              <a:r>
                <a:rPr lang="en-US" b="true" sz="779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GPIO</a:t>
              </a:r>
              <a:r>
                <a:rPr lang="en-US" b="true" sz="779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 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34 (ADC1_CH6)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35 (ADC1_CH7)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4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21 / 22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26 / 27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33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25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32</a:t>
              </a:r>
              <a:r>
                <a:rPr lang="en-US" sz="779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18696269" y="2536226"/>
              <a:ext cx="2910026" cy="25273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688"/>
                </a:lnSpc>
              </a:pPr>
              <a:r>
                <a:rPr lang="en-US" b="true" sz="779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Chức năng / Ghi chú</a:t>
              </a:r>
            </a:p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Ẩm đất — input-only, atten 11 dB (0–3,1 V)</a:t>
              </a:r>
            </a:p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Chia áp đo pin (2×100 kΩ)</a:t>
              </a:r>
            </a:p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DHT22 data + trở kéo 4,7 kΩ</a:t>
              </a:r>
            </a:p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I²C SDA / SCL (BH1750)</a:t>
              </a:r>
            </a:p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Relay bơm / relay đèn-quạt</a:t>
              </a:r>
            </a:p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Phao mực nước (INPUT_PULLUP)</a:t>
              </a:r>
            </a:p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Nút nhấn tưới tay (ngắt + chống dội)</a:t>
              </a:r>
            </a:p>
            <a:p>
              <a:pPr algn="l">
                <a:lnSpc>
                  <a:spcPts val="1688"/>
                </a:lnSpc>
              </a:pP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Cấp nguồn cảm biến ẩm qua MOSFET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17332644" y="5256452"/>
              <a:ext cx="4798939" cy="3790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04"/>
                </a:lnSpc>
              </a:pPr>
              <a:r>
                <a:rPr lang="en-US" b="true" sz="779">
                  <a:solidFill>
                    <a:srgbClr val="1D2433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Tránh: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GPIO 0/2/12/15 (strapping), GPIO 6–11 (flash nội), </a:t>
              </a:r>
              <a:r>
                <a:rPr lang="en-US" b="true" sz="779">
                  <a:solidFill>
                    <a:srgbClr val="1D2433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ADC2</a:t>
              </a:r>
              <a:r>
                <a:rPr lang="en-US" sz="779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không dùng được khi WiFi bật → mọi kênh analog phải nằm trên ADC1.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0">
              <a:off x="17211662" y="5815906"/>
              <a:ext cx="1362766" cy="176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91"/>
                </a:lnSpc>
              </a:pPr>
              <a:r>
                <a:rPr lang="en-US" b="true" sz="779" spc="12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NGUỒN &amp; BẢO VỆ</a:t>
              </a:r>
            </a:p>
          </p:txBody>
        </p:sp>
        <p:sp>
          <p:nvSpPr>
            <p:cNvPr name="TextBox 39" id="39"/>
            <p:cNvSpPr txBox="true"/>
            <p:nvPr/>
          </p:nvSpPr>
          <p:spPr>
            <a:xfrm rot="0">
              <a:off x="865339" y="1864323"/>
              <a:ext cx="3344070" cy="2155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63"/>
                </a:lnSpc>
              </a:pPr>
              <a:r>
                <a:rPr lang="en-US" b="true" sz="97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PHÂN TÍCH YÊU CẦU (ĐỊNH LƯỢNG)</a:t>
              </a:r>
            </a:p>
          </p:txBody>
        </p:sp>
        <p:sp>
          <p:nvSpPr>
            <p:cNvPr name="TextBox 40" id="40"/>
            <p:cNvSpPr txBox="true"/>
            <p:nvPr/>
          </p:nvSpPr>
          <p:spPr>
            <a:xfrm rot="0">
              <a:off x="11946193" y="1864323"/>
              <a:ext cx="3369297" cy="2155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63"/>
                </a:lnSpc>
              </a:pPr>
              <a:r>
                <a:rPr lang="en-US" b="true" sz="97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KIẾN TRÚC &amp; LỰA CHỌN GIAO THỨC</a:t>
              </a:r>
            </a:p>
          </p:txBody>
        </p:sp>
        <p:sp>
          <p:nvSpPr>
            <p:cNvPr name="TextBox 41" id="41"/>
            <p:cNvSpPr txBox="true"/>
            <p:nvPr/>
          </p:nvSpPr>
          <p:spPr>
            <a:xfrm rot="0">
              <a:off x="755354" y="2491907"/>
              <a:ext cx="5044811" cy="15980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28"/>
                </a:lnSpc>
              </a:pPr>
              <a:r>
                <a:rPr lang="en-US" sz="84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FR-1: đo </a:t>
              </a:r>
              <a:r>
                <a:rPr lang="en-US" b="true" sz="844">
                  <a:solidFill>
                    <a:srgbClr val="0D3B66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độ ẩm đất, nhiệt độ, độ ẩm không khí, ánh sáng, mực nước</a:t>
              </a:r>
              <a:r>
                <a:rPr lang="en-US" sz="84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theo chu kỳ. FR-2: tưới </a:t>
              </a:r>
              <a:r>
                <a:rPr lang="en-US" b="true" sz="844">
                  <a:solidFill>
                    <a:srgbClr val="1D2433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thủ công</a:t>
              </a:r>
              <a:r>
                <a:rPr lang="en-US" sz="84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(App), </a:t>
              </a:r>
              <a:r>
                <a:rPr lang="en-US" b="true" sz="844">
                  <a:solidFill>
                    <a:srgbClr val="1D2433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hẹn giờ</a:t>
              </a:r>
              <a:r>
                <a:rPr lang="en-US" sz="84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(lịch), </a:t>
              </a:r>
              <a:r>
                <a:rPr lang="en-US" b="true" sz="844">
                  <a:solidFill>
                    <a:srgbClr val="1D2433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tự động</a:t>
              </a:r>
              <a:r>
                <a:rPr lang="en-US" sz="84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(ngưỡng + trễ hysteresis).</a:t>
              </a:r>
            </a:p>
            <a:p>
              <a:pPr algn="l">
                <a:lnSpc>
                  <a:spcPts val="1428"/>
                </a:lnSpc>
              </a:pPr>
              <a:r>
                <a:rPr lang="en-US" sz="84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FR-3: lịch sử 7/30 ngày, biểu đồ downsample. FR-4: cảnh báo đẩy: đất khô, hết nước, mất kết nối, pin yếu. FR-5: đa vườn – đa thiết bị, phân quyền owner/viewer.</a:t>
              </a:r>
            </a:p>
          </p:txBody>
        </p:sp>
        <p:sp>
          <p:nvSpPr>
            <p:cNvPr name="TextBox 42" id="42"/>
            <p:cNvSpPr txBox="true"/>
            <p:nvPr/>
          </p:nvSpPr>
          <p:spPr>
            <a:xfrm rot="0">
              <a:off x="6295787" y="5230497"/>
              <a:ext cx="4890771" cy="7182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28"/>
                </a:lnSpc>
              </a:pPr>
              <a:r>
                <a:rPr lang="en-US" b="true" sz="844">
                  <a:solidFill>
                    <a:srgbClr val="1D2433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Edge (ESP32):</a:t>
              </a:r>
              <a:r>
                <a:rPr lang="en-US" sz="84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lấy mẫu, lọc, luật cục bộ, hàng đợi khi offline. </a:t>
              </a:r>
              <a:r>
                <a:rPr lang="en-US" b="true" sz="844">
                  <a:solidFill>
                    <a:srgbClr val="1D2433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Cloud:</a:t>
              </a:r>
              <a:r>
                <a:rPr lang="en-US" sz="84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xác thực, lưu trữ, quy tắc bảo mật, FCM, hàm downsample. </a:t>
              </a:r>
              <a:r>
                <a:rPr lang="en-US" b="true" sz="844">
                  <a:solidFill>
                    <a:srgbClr val="1D2433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App:</a:t>
              </a:r>
              <a:r>
                <a:rPr lang="en-US" sz="84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hiển thị, ra lệnh, cấu hình ngưỡng/lịch.</a:t>
              </a:r>
            </a:p>
          </p:txBody>
        </p:sp>
        <p:sp>
          <p:nvSpPr>
            <p:cNvPr name="TextBox 43" id="43"/>
            <p:cNvSpPr txBox="true"/>
            <p:nvPr/>
          </p:nvSpPr>
          <p:spPr>
            <a:xfrm rot="0">
              <a:off x="17376641" y="6011378"/>
              <a:ext cx="4920379" cy="15980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28"/>
                </a:lnSpc>
              </a:pPr>
              <a:r>
                <a:rPr lang="en-US" sz="84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Tách </a:t>
              </a:r>
              <a:r>
                <a:rPr lang="en-US" b="true" sz="844">
                  <a:solidFill>
                    <a:srgbClr val="1D2433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12 V bơm</a:t>
              </a:r>
              <a:r>
                <a:rPr lang="en-US" sz="84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và </a:t>
              </a:r>
              <a:r>
                <a:rPr lang="en-US" b="true" sz="844">
                  <a:solidFill>
                    <a:srgbClr val="1D2433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5 V logic</a:t>
              </a:r>
              <a:r>
                <a:rPr lang="en-US" sz="84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, chỉ nối chung </a:t>
              </a:r>
              <a:r>
                <a:rPr lang="en-US" sz="844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44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GND</a:t>
              </a:r>
              <a:r>
                <a:rPr lang="en-US" sz="844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4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; tụ 470 µF + 100 nF cạnh relay.</a:t>
              </a:r>
            </a:p>
            <a:p>
              <a:pPr algn="l">
                <a:lnSpc>
                  <a:spcPts val="1428"/>
                </a:lnSpc>
              </a:pPr>
              <a:r>
                <a:rPr lang="en-US" sz="84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Diode bánh đà cho bơm DC, snubber RC cho tải AC. Đỉnh dòng WiFi TX ~ 500 mA → LDO/Buck ≥ 1 A, sụt áp &lt; 100 mV. Đầu dò ẩm chỉ cấp điện lúc đo (qua GPIO32) để chống ăn mòn điện cực.</a:t>
              </a:r>
            </a:p>
            <a:p>
              <a:pPr algn="l">
                <a:lnSpc>
                  <a:spcPts val="1428"/>
                </a:lnSpc>
              </a:pPr>
              <a:r>
                <a:rPr lang="en-US" sz="84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Vỏ IP65, ép cáp, cảm biến ngoài trời tráng keo conformal.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0">
              <a:off x="5087333" y="6602428"/>
              <a:ext cx="485959" cy="176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91"/>
                </a:lnSpc>
              </a:pPr>
              <a:r>
                <a:rPr lang="en-US" sz="779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t_on ≤</a:t>
              </a:r>
            </a:p>
          </p:txBody>
        </p:sp>
        <p:sp>
          <p:nvSpPr>
            <p:cNvPr name="TextBox 45" id="45"/>
            <p:cNvSpPr txBox="true"/>
            <p:nvPr/>
          </p:nvSpPr>
          <p:spPr>
            <a:xfrm rot="0">
              <a:off x="13467286" y="3465457"/>
              <a:ext cx="1545129" cy="3080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35"/>
                </a:lnSpc>
                <a:spcBef>
                  <a:spcPct val="0"/>
                </a:spcBef>
              </a:pPr>
              <a:r>
                <a:rPr lang="en-US" sz="779">
                  <a:solidFill>
                    <a:srgbClr val="000000"/>
                  </a:solidFill>
                  <a:latin typeface="Aptos"/>
                  <a:ea typeface="Aptos"/>
                  <a:cs typeface="Aptos"/>
                  <a:sym typeface="Aptos"/>
                </a:rPr>
                <a:t> Bơm 12 V · Đèn LED · Quạt </a:t>
              </a:r>
            </a:p>
            <a:p>
              <a:pPr algn="ctr">
                <a:lnSpc>
                  <a:spcPts val="935"/>
                </a:lnSpc>
                <a:spcBef>
                  <a:spcPct val="0"/>
                </a:spcBef>
              </a:pPr>
              <a:r>
                <a:rPr lang="en-US" sz="779">
                  <a:solidFill>
                    <a:srgbClr val="000000"/>
                  </a:solidFill>
                  <a:latin typeface="Aptos"/>
                  <a:ea typeface="Aptos"/>
                  <a:cs typeface="Aptos"/>
                  <a:sym typeface="Aptos"/>
                </a:rPr>
                <a:t> </a:t>
              </a:r>
            </a:p>
          </p:txBody>
        </p:sp>
        <p:sp>
          <p:nvSpPr>
            <p:cNvPr name="TextBox 46" id="46"/>
            <p:cNvSpPr txBox="true"/>
            <p:nvPr/>
          </p:nvSpPr>
          <p:spPr>
            <a:xfrm rot="0">
              <a:off x="12728072" y="3773520"/>
              <a:ext cx="3023557" cy="3080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35"/>
                </a:lnSpc>
                <a:spcBef>
                  <a:spcPct val="0"/>
                </a:spcBef>
              </a:pPr>
              <a:r>
                <a:rPr lang="en-US" sz="779">
                  <a:solidFill>
                    <a:srgbClr val="000000"/>
                  </a:solidFill>
                  <a:latin typeface="Aptos"/>
                  <a:ea typeface="Aptos"/>
                  <a:cs typeface="Aptos"/>
                  <a:sym typeface="Aptos"/>
                </a:rPr>
                <a:t> ▲▼ WiFi 2,4 GHz — MQTT/TLS (QoS 1) + OTA/HTTPS </a:t>
              </a:r>
            </a:p>
            <a:p>
              <a:pPr algn="ctr">
                <a:lnSpc>
                  <a:spcPts val="935"/>
                </a:lnSpc>
                <a:spcBef>
                  <a:spcPct val="0"/>
                </a:spcBef>
              </a:pPr>
              <a:r>
                <a:rPr lang="en-US" sz="779">
                  <a:solidFill>
                    <a:srgbClr val="000000"/>
                  </a:solidFill>
                  <a:latin typeface="Aptos"/>
                  <a:ea typeface="Aptos"/>
                  <a:cs typeface="Aptos"/>
                  <a:sym typeface="Aptos"/>
                </a:rPr>
                <a:t> 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0">
              <a:off x="13161627" y="4011549"/>
              <a:ext cx="2343617" cy="3080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35"/>
                </a:lnSpc>
                <a:spcBef>
                  <a:spcPct val="0"/>
                </a:spcBef>
              </a:pPr>
              <a:r>
                <a:rPr lang="en-US" sz="779">
                  <a:solidFill>
                    <a:srgbClr val="000000"/>
                  </a:solidFill>
                  <a:latin typeface="Aptos"/>
                  <a:ea typeface="Aptos"/>
                  <a:cs typeface="Aptos"/>
                  <a:sym typeface="Aptos"/>
                </a:rPr>
                <a:t> Broker MQTT (HiveMQ/Mosquitto/EMQX) </a:t>
              </a:r>
            </a:p>
            <a:p>
              <a:pPr algn="ctr">
                <a:lnSpc>
                  <a:spcPts val="935"/>
                </a:lnSpc>
                <a:spcBef>
                  <a:spcPct val="0"/>
                </a:spcBef>
              </a:pPr>
              <a:r>
                <a:rPr lang="en-US" sz="779">
                  <a:solidFill>
                    <a:srgbClr val="000000"/>
                  </a:solidFill>
                  <a:latin typeface="Aptos"/>
                  <a:ea typeface="Aptos"/>
                  <a:cs typeface="Aptos"/>
                  <a:sym typeface="Aptos"/>
                </a:rPr>
                <a:t> </a:t>
              </a:r>
            </a:p>
          </p:txBody>
        </p:sp>
        <p:sp>
          <p:nvSpPr>
            <p:cNvPr name="TextBox 48" id="48"/>
            <p:cNvSpPr txBox="true"/>
            <p:nvPr/>
          </p:nvSpPr>
          <p:spPr>
            <a:xfrm rot="0">
              <a:off x="13321329" y="4307791"/>
              <a:ext cx="1647725" cy="3080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35"/>
                </a:lnSpc>
                <a:spcBef>
                  <a:spcPct val="0"/>
                </a:spcBef>
              </a:pPr>
              <a:r>
                <a:rPr lang="en-US" sz="779">
                  <a:solidFill>
                    <a:srgbClr val="000000"/>
                  </a:solidFill>
                  <a:latin typeface="Aptos"/>
                  <a:ea typeface="Aptos"/>
                  <a:cs typeface="Aptos"/>
                  <a:sym typeface="Aptos"/>
                </a:rPr>
                <a:t> ▲▼ Bridge: Cloud Function </a:t>
              </a:r>
            </a:p>
            <a:p>
              <a:pPr algn="ctr">
                <a:lnSpc>
                  <a:spcPts val="935"/>
                </a:lnSpc>
                <a:spcBef>
                  <a:spcPct val="0"/>
                </a:spcBef>
              </a:pPr>
              <a:r>
                <a:rPr lang="en-US" sz="779">
                  <a:solidFill>
                    <a:srgbClr val="000000"/>
                  </a:solidFill>
                  <a:latin typeface="Aptos"/>
                  <a:ea typeface="Aptos"/>
                  <a:cs typeface="Aptos"/>
                  <a:sym typeface="Aptos"/>
                </a:rPr>
                <a:t> </a:t>
              </a:r>
            </a:p>
          </p:txBody>
        </p:sp>
        <p:sp>
          <p:nvSpPr>
            <p:cNvPr name="TextBox 49" id="49"/>
            <p:cNvSpPr txBox="true"/>
            <p:nvPr/>
          </p:nvSpPr>
          <p:spPr>
            <a:xfrm rot="0">
              <a:off x="12739349" y="4550770"/>
              <a:ext cx="3001002" cy="3080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35"/>
                </a:lnSpc>
                <a:spcBef>
                  <a:spcPct val="0"/>
                </a:spcBef>
              </a:pPr>
              <a:r>
                <a:rPr lang="en-US" sz="779">
                  <a:solidFill>
                    <a:srgbClr val="000000"/>
                  </a:solidFill>
                  <a:latin typeface="Aptos"/>
                  <a:ea typeface="Aptos"/>
                  <a:cs typeface="Aptos"/>
                  <a:sym typeface="Aptos"/>
                </a:rPr>
                <a:t> Firebase: Auth · RTDB (live) · Firestore (lịch sử) · FCM </a:t>
              </a:r>
            </a:p>
            <a:p>
              <a:pPr algn="ctr">
                <a:lnSpc>
                  <a:spcPts val="935"/>
                </a:lnSpc>
                <a:spcBef>
                  <a:spcPct val="0"/>
                </a:spcBef>
              </a:pPr>
              <a:r>
                <a:rPr lang="en-US" sz="779">
                  <a:solidFill>
                    <a:srgbClr val="000000"/>
                  </a:solidFill>
                  <a:latin typeface="Aptos"/>
                  <a:ea typeface="Aptos"/>
                  <a:cs typeface="Aptos"/>
                  <a:sym typeface="Aptos"/>
                </a:rPr>
                <a:t> </a:t>
              </a:r>
            </a:p>
          </p:txBody>
        </p:sp>
        <p:sp>
          <p:nvSpPr>
            <p:cNvPr name="TextBox 50" id="50"/>
            <p:cNvSpPr txBox="true"/>
            <p:nvPr/>
          </p:nvSpPr>
          <p:spPr>
            <a:xfrm rot="0">
              <a:off x="13431171" y="4824592"/>
              <a:ext cx="1565758" cy="3080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35"/>
                </a:lnSpc>
                <a:spcBef>
                  <a:spcPct val="0"/>
                </a:spcBef>
              </a:pPr>
              <a:r>
                <a:rPr lang="en-US" sz="779">
                  <a:solidFill>
                    <a:srgbClr val="000000"/>
                  </a:solidFill>
                  <a:latin typeface="Aptos"/>
                  <a:ea typeface="Aptos"/>
                  <a:cs typeface="Aptos"/>
                  <a:sym typeface="Aptos"/>
                </a:rPr>
                <a:t> ▲▼ SDK stream / callable </a:t>
              </a:r>
            </a:p>
            <a:p>
              <a:pPr algn="ctr">
                <a:lnSpc>
                  <a:spcPts val="935"/>
                </a:lnSpc>
                <a:spcBef>
                  <a:spcPct val="0"/>
                </a:spcBef>
              </a:pPr>
              <a:r>
                <a:rPr lang="en-US" sz="779">
                  <a:solidFill>
                    <a:srgbClr val="000000"/>
                  </a:solidFill>
                  <a:latin typeface="Aptos"/>
                  <a:ea typeface="Aptos"/>
                  <a:cs typeface="Aptos"/>
                  <a:sym typeface="Aptos"/>
                </a:rPr>
                <a:t> </a:t>
              </a:r>
            </a:p>
          </p:txBody>
        </p:sp>
        <p:sp>
          <p:nvSpPr>
            <p:cNvPr name="TextBox 51" id="51"/>
            <p:cNvSpPr txBox="true"/>
            <p:nvPr/>
          </p:nvSpPr>
          <p:spPr>
            <a:xfrm rot="0">
              <a:off x="12998344" y="5152373"/>
              <a:ext cx="2293695" cy="3080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35"/>
                </a:lnSpc>
                <a:spcBef>
                  <a:spcPct val="0"/>
                </a:spcBef>
              </a:pPr>
              <a:r>
                <a:rPr lang="en-US" sz="779">
                  <a:solidFill>
                    <a:srgbClr val="000000"/>
                  </a:solidFill>
                  <a:latin typeface="Aptos"/>
                  <a:ea typeface="Aptos"/>
                  <a:cs typeface="Aptos"/>
                  <a:sym typeface="Aptos"/>
                </a:rPr>
                <a:t> Ứng dụng di động Flutter (Android / iOS) </a:t>
              </a:r>
            </a:p>
            <a:p>
              <a:pPr algn="ctr">
                <a:lnSpc>
                  <a:spcPts val="935"/>
                </a:lnSpc>
                <a:spcBef>
                  <a:spcPct val="0"/>
                </a:spcBef>
              </a:pPr>
              <a:r>
                <a:rPr lang="en-US" sz="779">
                  <a:solidFill>
                    <a:srgbClr val="000000"/>
                  </a:solidFill>
                  <a:latin typeface="Aptos"/>
                  <a:ea typeface="Aptos"/>
                  <a:cs typeface="Aptos"/>
                  <a:sym typeface="Aptos"/>
                </a:rPr>
                <a:t> 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05939" y="1767340"/>
            <a:ext cx="17526560" cy="6752321"/>
            <a:chOff x="0" y="0"/>
            <a:chExt cx="23368747" cy="900309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368747" cy="9003095"/>
            </a:xfrm>
            <a:custGeom>
              <a:avLst/>
              <a:gdLst/>
              <a:ahLst/>
              <a:cxnLst/>
              <a:rect r="r" b="b" t="t" l="l"/>
              <a:pathLst>
                <a:path h="9003095" w="23368747">
                  <a:moveTo>
                    <a:pt x="0" y="0"/>
                  </a:moveTo>
                  <a:lnTo>
                    <a:pt x="23368747" y="0"/>
                  </a:lnTo>
                  <a:lnTo>
                    <a:pt x="23368747" y="9003095"/>
                  </a:lnTo>
                  <a:lnTo>
                    <a:pt x="0" y="90030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-106265" r="0" b="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 rot="0">
              <a:off x="713932" y="6771936"/>
              <a:ext cx="4521109" cy="3238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97"/>
                </a:lnSpc>
              </a:pPr>
              <a:r>
                <a:rPr lang="en-US" sz="794">
                  <a:solidFill>
                    <a:srgbClr val="16305C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Kết quả</a:t>
              </a:r>
            </a:p>
            <a:p>
              <a:pPr algn="l">
                <a:lnSpc>
                  <a:spcPts val="430"/>
                </a:lnSpc>
              </a:pPr>
              <a:r>
                <a:rPr lang="en-US" b="true" sz="860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Firmware có máy trạng thái, offline-first, OTA an toàn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601815" y="5108483"/>
              <a:ext cx="1110428" cy="1888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b="true" sz="794" spc="12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ĐỘ BỀN VỮNG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661552" y="181722"/>
              <a:ext cx="3112071" cy="2193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90"/>
                </a:lnSpc>
              </a:pPr>
              <a:r>
                <a:rPr lang="en-US" b="true" sz="993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5 FIRMWARE ESP32 (FreeRTOS)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601815" y="612667"/>
              <a:ext cx="1503378" cy="1888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b="true" sz="794" spc="12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PHÂN CHIA TÁC VỤ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669082" y="915377"/>
              <a:ext cx="2979157" cy="1888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b="true" sz="794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Task (core, stack)</a:t>
              </a:r>
              <a:r>
                <a:rPr lang="en-US" b="true" sz="79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 </a:t>
              </a:r>
              <a:r>
                <a:rPr lang="en-US" b="true" sz="794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Chu kỳ &amp; nhiệm vụ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669082" y="1213314"/>
              <a:ext cx="1286222" cy="9624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125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SensorTask (1, 4</a:t>
              </a:r>
              <a:r>
                <a:rPr lang="en-US" sz="794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KB)</a:t>
              </a:r>
            </a:p>
            <a:p>
              <a:pPr algn="just">
                <a:lnSpc>
                  <a:spcPts val="1721"/>
                </a:lnSpc>
                <a:spcBef>
                  <a:spcPts val="595"/>
                </a:spcBef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CtrlTask (1, 4 KB)</a:t>
              </a:r>
              <a:r>
                <a:rPr lang="en-US" sz="794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NetTask (0, 8 KB)</a:t>
              </a:r>
              <a:r>
                <a:rPr lang="en-US" sz="794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2166695" y="1213314"/>
              <a:ext cx="3408622" cy="1888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30 s: đọc → lọc trung vị 15 mẫu → đẩy vào Queue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2166695" y="1638259"/>
              <a:ext cx="3413570" cy="10195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21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100 ms: máy trạng thái bơm, timeout, an toàn</a:t>
              </a:r>
            </a:p>
            <a:p>
              <a:pPr algn="l">
                <a:lnSpc>
                  <a:spcPts val="1125"/>
                </a:lnSpc>
                <a:spcBef>
                  <a:spcPts val="595"/>
                </a:spcBef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MQTT keep-alive 60 s, publish/subscribe, đồng bộ NTP</a:t>
              </a:r>
            </a:p>
            <a:p>
              <a:pPr algn="l">
                <a:lnSpc>
                  <a:spcPts val="1721"/>
                </a:lnSpc>
                <a:spcBef>
                  <a:spcPts val="595"/>
                </a:spcBef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Theo yêu cầu: tải firmware, kiểm tra SHA-256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669082" y="2469004"/>
              <a:ext cx="1288003" cy="1888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OtaTask (0, 8 KB)</a:t>
              </a:r>
              <a:r>
                <a:rPr lang="en-US" sz="794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601815" y="2821337"/>
              <a:ext cx="2420046" cy="1888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b="true" sz="794" spc="12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XỬ LÝ TÍN HIỆU &amp; HIỆU CHUẨN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680306" y="3140008"/>
              <a:ext cx="4598855" cy="5380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59"/>
                </a:lnSpc>
              </a:pPr>
              <a:r>
                <a:rPr lang="en-US" sz="794">
                  <a:solidFill>
                    <a:srgbClr val="16305C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soil% = (ADC_dry − raw) / (ADC_dry − ADC_wet) × 100 ADC_dry ≈ 3000 (ngoài không khí) · ADC_wet ≈ 1300 (ngâm nước) Lọc: median(15) → EMA α = 0,2 → giới hạn [0 … 100] %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601815" y="3852793"/>
              <a:ext cx="1782386" cy="1888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b="true" sz="794" spc="12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MÁY TRẠNG THÁI BƠM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6309347" y="197840"/>
              <a:ext cx="95508" cy="1888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b="true" sz="79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6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6249611" y="612667"/>
              <a:ext cx="3101578" cy="1888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b="true" sz="794" spc="12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KIẾN TRÚC APP (MVVM + REPOSITORY)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6249611" y="2496209"/>
              <a:ext cx="3211608" cy="1888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b="true" sz="794" spc="12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BỐN MÀN HÌNH &amp; RÀNG BUỘC KỸ THUẬT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6316878" y="2741769"/>
              <a:ext cx="4492153" cy="54389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21"/>
                </a:lnSpc>
              </a:pPr>
              <a:r>
                <a:rPr lang="en-US" b="true" sz="794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Màn hình</a:t>
              </a:r>
              <a:r>
                <a:rPr lang="en-US" b="true" sz="79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 </a:t>
              </a:r>
              <a:r>
                <a:rPr lang="en-US" b="true" sz="794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Kỹ thuật</a:t>
              </a:r>
            </a:p>
            <a:p>
              <a:pPr algn="l">
                <a:lnSpc>
                  <a:spcPts val="1721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Dashboard</a:t>
              </a:r>
              <a:r>
                <a:rPr lang="en-US" sz="794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Stream RTDB </a:t>
              </a:r>
              <a:r>
                <a:rPr lang="en-US" sz="794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/live</a:t>
              </a: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, cập nhật &lt; 1 s, hiển thị badge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7174029" y="3287450"/>
              <a:ext cx="3983291" cy="6709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25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online/offline theo LWT</a:t>
              </a:r>
            </a:p>
            <a:p>
              <a:pPr algn="l">
                <a:lnSpc>
                  <a:spcPts val="1125"/>
                </a:lnSpc>
                <a:spcBef>
                  <a:spcPts val="595"/>
                </a:spcBef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Firestore truy vấn theo khoảng; 7 ngày = điểm 5 phút, 30 ngày = điểm 1 giờ (đã downsample)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6316878" y="3578936"/>
              <a:ext cx="562803" cy="1888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Lịch sử</a:t>
              </a:r>
              <a:r>
                <a:rPr lang="en-US" sz="794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6316878" y="4049151"/>
              <a:ext cx="4935235" cy="20070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Điều khiển</a:t>
              </a:r>
              <a:r>
                <a:rPr lang="en-US" sz="794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Optimistic UI + chờ </a:t>
              </a:r>
              <a:r>
                <a:rPr lang="en-US" sz="794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ack</a:t>
              </a: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; quá 5 s → hoàn tác + báo lỗi; nút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7174029" y="4251638"/>
              <a:ext cx="3985685" cy="6709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25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bơm có khoá chống nhấn kép</a:t>
              </a:r>
            </a:p>
            <a:p>
              <a:pPr algn="l">
                <a:lnSpc>
                  <a:spcPts val="1125"/>
                </a:lnSpc>
                <a:spcBef>
                  <a:spcPts val="595"/>
                </a:spcBef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Ngưỡng, lịch tưới (cron), ngưỡng thông báo, quản lý nhiều</a:t>
              </a:r>
            </a:p>
            <a:p>
              <a:pPr algn="l">
                <a:lnSpc>
                  <a:spcPts val="1125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vườn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6316878" y="4543125"/>
              <a:ext cx="708605" cy="5699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25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Cài</a:t>
              </a:r>
              <a:r>
                <a:rPr lang="en-US" sz="794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</a:p>
            <a:p>
              <a:pPr algn="l">
                <a:lnSpc>
                  <a:spcPts val="1125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đặt/Cảnh</a:t>
              </a:r>
              <a:r>
                <a:rPr lang="en-US" sz="794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báo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6249611" y="5276658"/>
              <a:ext cx="1764799" cy="1888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b="true" sz="794" spc="12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ĐỒNG BỘ &amp; XÁC THỰC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6372936" y="7196293"/>
              <a:ext cx="4930229" cy="39458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25"/>
                </a:lnSpc>
              </a:pPr>
              <a:r>
                <a:rPr lang="en-US" b="true" sz="794">
                  <a:solidFill>
                    <a:srgbClr val="1D2433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UX quan trọng:</a:t>
              </a: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luôn hiển thị thời điểm cập nhật cuối và trạng thái kết nối — người dùng phải phân biệt “cây đủ ẩm” với “mất dữ liệu”.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6361728" y="7850518"/>
              <a:ext cx="4992359" cy="6018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00"/>
                </a:lnSpc>
              </a:pPr>
              <a:r>
                <a:rPr lang="en-US" sz="794">
                  <a:solidFill>
                    <a:srgbClr val="16305C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Kết quả</a:t>
              </a:r>
            </a:p>
            <a:p>
              <a:pPr algn="l">
                <a:lnSpc>
                  <a:spcPts val="1192"/>
                </a:lnSpc>
              </a:pPr>
              <a:r>
                <a:rPr lang="en-US" b="true" sz="860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App Flutter hoàn chỉnh: UI + logic + đồng bộ Cloud + thông báo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12020732" y="5826020"/>
              <a:ext cx="5100754" cy="3858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25"/>
                </a:lnSpc>
              </a:pPr>
              <a:r>
                <a:rPr lang="en-US" b="true" sz="794">
                  <a:solidFill>
                    <a:srgbClr val="1D2433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Tiêu chí ra mắt:</a:t>
              </a: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100 % ca IT đạt · độ trễ p95 trong ngân sách · 0 lỗi mức nghiêm trọng · soak 72 h sạch.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12009508" y="6471502"/>
              <a:ext cx="4959959" cy="4000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sz="794">
                  <a:solidFill>
                    <a:srgbClr val="16305C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Kết quả</a:t>
              </a:r>
            </a:p>
            <a:p>
              <a:pPr algn="l">
                <a:lnSpc>
                  <a:spcPts val="1205"/>
                </a:lnSpc>
              </a:pPr>
              <a:r>
                <a:rPr lang="en-US" b="true" sz="860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Báo cáo kiểm thử + ma trận truy vết yêu cầu ↔ ca kiểm thử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11957128" y="181722"/>
              <a:ext cx="2369811" cy="2193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90"/>
                </a:lnSpc>
              </a:pPr>
              <a:r>
                <a:rPr lang="en-US" b="true" sz="993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7 TÍCH HỢP &amp; KIỂM THỬ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11897406" y="612667"/>
              <a:ext cx="1863066" cy="1888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b="true" sz="794" spc="12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CA KIỂM THỬ TIÊU BIỂU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11964673" y="858227"/>
              <a:ext cx="5009683" cy="11269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21"/>
                </a:lnSpc>
              </a:pPr>
              <a:r>
                <a:rPr lang="en-US" b="true" sz="794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ID</a:t>
              </a:r>
              <a:r>
                <a:rPr lang="en-US" b="true" sz="79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 </a:t>
              </a:r>
            </a:p>
            <a:p>
              <a:pPr algn="l">
                <a:lnSpc>
                  <a:spcPts val="1721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IT-01</a:t>
              </a:r>
              <a:r>
                <a:rPr lang="en-US" sz="794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App bật bơm → relay đóng &amp; </a:t>
              </a:r>
              <a:r>
                <a:rPr lang="en-US" sz="794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ack</a:t>
              </a: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về ≤ 2 s</a:t>
              </a:r>
            </a:p>
            <a:p>
              <a:pPr algn="l">
                <a:lnSpc>
                  <a:spcPts val="1721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IT-02</a:t>
              </a:r>
              <a:r>
                <a:rPr lang="en-US" sz="794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Rút mạng 30 phút → ≥ 200 mẫu gửi bù, không trùng lặp</a:t>
              </a:r>
            </a:p>
            <a:p>
              <a:pPr algn="l">
                <a:lnSpc>
                  <a:spcPts val="1721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IT-03</a:t>
              </a:r>
              <a:r>
                <a:rPr lang="en-US" sz="794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Ngắt nguồn đột ngột khi đang bơm → khởi động lại ở </a:t>
              </a:r>
              <a:r>
                <a:rPr lang="en-US" sz="794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IDLE</a:t>
              </a: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, relay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0">
              <a:off x="12471287" y="915377"/>
              <a:ext cx="1786852" cy="1888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b="true" sz="794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Kịch bản → Tiêu chí đạt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0">
              <a:off x="12471287" y="1986910"/>
              <a:ext cx="170817" cy="1888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hở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11964673" y="2221261"/>
              <a:ext cx="5159571" cy="82896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21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IT-04</a:t>
              </a:r>
              <a:r>
                <a:rPr lang="en-US" sz="794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Phao báo cạn → chặn bơm + push cảnh báo ≤ 10 s</a:t>
              </a:r>
            </a:p>
            <a:p>
              <a:pPr algn="l">
                <a:lnSpc>
                  <a:spcPts val="1721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IT-05</a:t>
              </a:r>
              <a:r>
                <a:rPr lang="en-US" sz="794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Hai điện thoại cùng ra lệnh → chỉ 1 lệnh thực thi (khử trùng </a:t>
              </a:r>
              <a:r>
                <a:rPr lang="en-US" sz="794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reqId</a:t>
              </a: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) IT-06</a:t>
              </a:r>
              <a:r>
                <a:rPr lang="en-US" sz="794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OTA lỗi giữa chừng → rollback, thiết bị vẫn online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11964673" y="3152901"/>
              <a:ext cx="304476" cy="37940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25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ST-</a:t>
              </a:r>
              <a:r>
                <a:rPr lang="en-US" sz="794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01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12471287" y="3152901"/>
              <a:ext cx="4279799" cy="1888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Chạy liên tục 72 h → rò rỉ heap = 0, không reset ngoài dự kiến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0">
              <a:off x="11897406" y="3695826"/>
              <a:ext cx="717698" cy="1888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b="true" sz="794" spc="12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CÔNG CỤ</a:t>
              </a:r>
            </a:p>
          </p:txBody>
        </p:sp>
        <p:sp>
          <p:nvSpPr>
            <p:cNvPr name="TextBox 39" id="39"/>
            <p:cNvSpPr txBox="true"/>
            <p:nvPr/>
          </p:nvSpPr>
          <p:spPr>
            <a:xfrm rot="0">
              <a:off x="17657304" y="6650887"/>
              <a:ext cx="5070893" cy="6018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00"/>
                </a:lnSpc>
              </a:pPr>
              <a:r>
                <a:rPr lang="en-US" sz="794">
                  <a:solidFill>
                    <a:srgbClr val="16305C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Kết quả</a:t>
              </a:r>
            </a:p>
            <a:p>
              <a:pPr algn="l">
                <a:lnSpc>
                  <a:spcPts val="1192"/>
                </a:lnSpc>
              </a:pPr>
              <a:r>
                <a:rPr lang="en-US" b="true" sz="860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Sản phẩm phát hành được: App trên store + firmware OTA + tài liệu</a:t>
              </a:r>
            </a:p>
          </p:txBody>
        </p:sp>
        <p:sp>
          <p:nvSpPr>
            <p:cNvPr name="TextBox 40" id="40"/>
            <p:cNvSpPr txBox="true"/>
            <p:nvPr/>
          </p:nvSpPr>
          <p:spPr>
            <a:xfrm rot="0">
              <a:off x="17545187" y="4861831"/>
              <a:ext cx="931088" cy="1888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b="true" sz="794" spc="12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PHÁT HÀNH</a:t>
              </a:r>
            </a:p>
          </p:txBody>
        </p:sp>
        <p:sp>
          <p:nvSpPr>
            <p:cNvPr name="TextBox 41" id="41"/>
            <p:cNvSpPr txBox="true"/>
            <p:nvPr/>
          </p:nvSpPr>
          <p:spPr>
            <a:xfrm rot="0">
              <a:off x="17545187" y="3852793"/>
              <a:ext cx="1341186" cy="1888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b="true" sz="794" spc="12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TỐI ƯU PHÍA APP</a:t>
              </a:r>
            </a:p>
          </p:txBody>
        </p:sp>
        <p:sp>
          <p:nvSpPr>
            <p:cNvPr name="TextBox 42" id="42"/>
            <p:cNvSpPr txBox="true"/>
            <p:nvPr/>
          </p:nvSpPr>
          <p:spPr>
            <a:xfrm rot="0">
              <a:off x="17604923" y="181722"/>
              <a:ext cx="2268041" cy="2193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90"/>
                </a:lnSpc>
              </a:pPr>
              <a:r>
                <a:rPr lang="en-US" b="true" sz="993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8 TỐI ƯU &amp; TRIỂN KHAI</a:t>
              </a:r>
            </a:p>
          </p:txBody>
        </p:sp>
        <p:sp>
          <p:nvSpPr>
            <p:cNvPr name="TextBox 43" id="43"/>
            <p:cNvSpPr txBox="true"/>
            <p:nvPr/>
          </p:nvSpPr>
          <p:spPr>
            <a:xfrm rot="0">
              <a:off x="17545187" y="612667"/>
              <a:ext cx="2597080" cy="1888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b="true" sz="794" spc="12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NGÂN SÁCH NĂNG LƯỢNG ESP32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0">
              <a:off x="17612454" y="924902"/>
              <a:ext cx="4152649" cy="180018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59"/>
                </a:lnSpc>
              </a:pPr>
              <a:r>
                <a:rPr lang="en-US" b="true" sz="794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Trạng thái</a:t>
              </a:r>
              <a:r>
                <a:rPr lang="en-US" b="true" sz="794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 </a:t>
              </a:r>
            </a:p>
            <a:p>
              <a:pPr algn="l">
                <a:lnSpc>
                  <a:spcPts val="1059"/>
                </a:lnSpc>
                <a:spcBef>
                  <a:spcPts val="662"/>
                </a:spcBef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Hoạt động + WiFi TX</a:t>
              </a:r>
              <a:r>
                <a:rPr lang="en-US" sz="794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</a:p>
            <a:p>
              <a:pPr algn="l">
                <a:lnSpc>
                  <a:spcPts val="1059"/>
                </a:lnSpc>
                <a:spcBef>
                  <a:spcPts val="662"/>
                </a:spcBef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Modem sleep</a:t>
              </a:r>
              <a:r>
                <a:rPr lang="en-US" sz="794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</a:p>
            <a:p>
              <a:pPr algn="l">
                <a:lnSpc>
                  <a:spcPts val="1059"/>
                </a:lnSpc>
                <a:spcBef>
                  <a:spcPts val="662"/>
                </a:spcBef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Deep sleep (RTC)</a:t>
              </a:r>
              <a:r>
                <a:rPr lang="en-US" sz="794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94">
                  <a:solidFill>
                    <a:srgbClr val="16305C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Chu kỳ 15 phút, thức 6 s mỗi lần: I_tb = (160 mA × 6 s + 0,05 mA × 894 s) / 900 s ≈ 1,12 mA Pin 18650 2600 mAh × 0,75 → ≈ 1740 h ≈ 72 ngày</a:t>
              </a:r>
            </a:p>
          </p:txBody>
        </p:sp>
        <p:sp>
          <p:nvSpPr>
            <p:cNvPr name="TextBox 45" id="45"/>
            <p:cNvSpPr txBox="true"/>
            <p:nvPr/>
          </p:nvSpPr>
          <p:spPr>
            <a:xfrm rot="0">
              <a:off x="20026604" y="858227"/>
              <a:ext cx="1673100" cy="112690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721"/>
                </a:lnSpc>
              </a:pPr>
              <a:r>
                <a:rPr lang="en-US" b="true" sz="794">
                  <a:solidFill>
                    <a:srgbClr val="16305C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Dòng điện</a:t>
              </a:r>
            </a:p>
            <a:p>
              <a:pPr algn="l">
                <a:lnSpc>
                  <a:spcPts val="1721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~160 mA (đỉnh 500 mA)</a:t>
              </a:r>
            </a:p>
            <a:p>
              <a:pPr algn="l">
                <a:lnSpc>
                  <a:spcPts val="1721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~20 mA</a:t>
              </a:r>
            </a:p>
            <a:p>
              <a:pPr algn="l">
                <a:lnSpc>
                  <a:spcPts val="1721"/>
                </a:lnSpc>
              </a:pP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~10–50 µA</a:t>
              </a:r>
            </a:p>
          </p:txBody>
        </p:sp>
        <p:sp>
          <p:nvSpPr>
            <p:cNvPr name="TextBox 46" id="46"/>
            <p:cNvSpPr txBox="true"/>
            <p:nvPr/>
          </p:nvSpPr>
          <p:spPr>
            <a:xfrm rot="0">
              <a:off x="6529903" y="181722"/>
              <a:ext cx="3401092" cy="2193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390"/>
                </a:lnSpc>
              </a:pPr>
              <a:r>
                <a:rPr lang="en-US" b="true" sz="993">
                  <a:solidFill>
                    <a:srgbClr val="FFFFFF"/>
                  </a:solidFill>
                  <a:latin typeface="DejaVu Sans Bold"/>
                  <a:ea typeface="DejaVu Sans Bold"/>
                  <a:cs typeface="DejaVu Sans Bold"/>
                  <a:sym typeface="DejaVu Sans Bold"/>
                </a:rPr>
                <a:t>ỨNG DỤNG DI ĐỘNG — TRỌNG TÂM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0">
              <a:off x="803632" y="4093840"/>
              <a:ext cx="4810070" cy="20619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205"/>
                </a:lnSpc>
              </a:pPr>
              <a:r>
                <a:rPr lang="en-US" sz="860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IDLE → PUMPING</a:t>
              </a:r>
              <a:r>
                <a:rPr lang="en-US" sz="860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60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khi </a:t>
              </a:r>
              <a:r>
                <a:rPr lang="en-US" sz="860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60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soil &lt; 35 %</a:t>
              </a:r>
              <a:r>
                <a:rPr lang="en-US" sz="860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60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&amp;&amp; phao OK &amp;&amp; hết cooldown.</a:t>
              </a:r>
            </a:p>
          </p:txBody>
        </p:sp>
        <p:sp>
          <p:nvSpPr>
            <p:cNvPr name="TextBox 48" id="48"/>
            <p:cNvSpPr txBox="true"/>
            <p:nvPr/>
          </p:nvSpPr>
          <p:spPr>
            <a:xfrm rot="0">
              <a:off x="803632" y="4340491"/>
              <a:ext cx="4313688" cy="20619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205"/>
                </a:lnSpc>
              </a:pPr>
              <a:r>
                <a:rPr lang="en-US" sz="860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PUMPING → IDLE</a:t>
              </a:r>
              <a:r>
                <a:rPr lang="en-US" sz="860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60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khi </a:t>
              </a:r>
              <a:r>
                <a:rPr lang="en-US" sz="860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60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soil ≥ 55 %</a:t>
              </a:r>
              <a:r>
                <a:rPr lang="en-US" sz="860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60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(hysteresis) hoặc chạm </a:t>
              </a:r>
            </a:p>
          </p:txBody>
        </p:sp>
        <p:sp>
          <p:nvSpPr>
            <p:cNvPr name="TextBox 49" id="49"/>
            <p:cNvSpPr txBox="true"/>
            <p:nvPr/>
          </p:nvSpPr>
          <p:spPr>
            <a:xfrm rot="0">
              <a:off x="769991" y="4542454"/>
              <a:ext cx="164133" cy="20588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sz="794" spc="198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s</a:t>
              </a:r>
              <a:r>
                <a:rPr lang="en-US" sz="794" spc="198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.</a:t>
              </a:r>
            </a:p>
          </p:txBody>
        </p:sp>
        <p:sp>
          <p:nvSpPr>
            <p:cNvPr name="TextBox 50" id="50"/>
            <p:cNvSpPr txBox="true"/>
            <p:nvPr/>
          </p:nvSpPr>
          <p:spPr>
            <a:xfrm rot="0">
              <a:off x="803632" y="4788959"/>
              <a:ext cx="4037088" cy="20619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205"/>
                </a:lnSpc>
              </a:pPr>
              <a:r>
                <a:rPr lang="en-US" sz="860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FAULT</a:t>
              </a:r>
              <a:r>
                <a:rPr lang="en-US" sz="860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60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: hết nước / 3 lần đọc cảm biến lỗi / TWDT reset.</a:t>
              </a:r>
            </a:p>
          </p:txBody>
        </p:sp>
        <p:sp>
          <p:nvSpPr>
            <p:cNvPr name="TextBox 51" id="51"/>
            <p:cNvSpPr txBox="true"/>
            <p:nvPr/>
          </p:nvSpPr>
          <p:spPr>
            <a:xfrm rot="0">
              <a:off x="769991" y="5334508"/>
              <a:ext cx="4764622" cy="11629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56"/>
                </a:lnSpc>
              </a:pPr>
              <a:r>
                <a:rPr lang="en-US" sz="860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Watchdog phần cứng 10 s; kết nối lại theo lũy thừa 1→60 s. Ring buffer 200 bản ghi trong RTC-RAM khi offline, gửi bù khi có mạng. NVS lưu ngưỡng, calib, WiFi; BLE/SoftAP cho lần cấu hình đầu. OTA A/B partition + rollback nếu boot lỗi.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0">
              <a:off x="6417786" y="5527230"/>
              <a:ext cx="5134016" cy="154204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192"/>
                </a:lnSpc>
              </a:pPr>
              <a:r>
                <a:rPr lang="en-US" sz="860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Firebase Auth (email/Google) → UID gắn với </a:t>
              </a:r>
              <a:r>
                <a:rPr lang="en-US" sz="860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60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gardenId</a:t>
              </a:r>
              <a:r>
                <a:rPr lang="en-US" sz="860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60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trong Security Rules.</a:t>
              </a:r>
            </a:p>
            <a:p>
              <a:pPr algn="just">
                <a:lnSpc>
                  <a:spcPts val="1192"/>
                </a:lnSpc>
                <a:spcBef>
                  <a:spcPts val="264"/>
                </a:spcBef>
              </a:pPr>
              <a:r>
                <a:rPr lang="en-US" sz="860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Lệnh ghi vào </a:t>
              </a:r>
              <a:r>
                <a:rPr lang="en-US" sz="860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60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/cmd/{id}</a:t>
              </a:r>
              <a:r>
                <a:rPr lang="en-US" sz="860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60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với </a:t>
              </a:r>
              <a:r>
                <a:rPr lang="en-US" sz="860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60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reqId</a:t>
              </a:r>
              <a:r>
                <a:rPr lang="en-US" sz="860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60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(idempotent) → Cloud Function ký &amp; publish MQTT. Offline: Hive cache dữ liệu cuối + hàng đợi lệnh chờ gửi lại. FCM chủ đề </a:t>
              </a:r>
              <a:r>
                <a:rPr lang="en-US" sz="860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60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garden_{id}</a:t>
              </a:r>
              <a:r>
                <a:rPr lang="en-US" sz="860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60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; gộp cảnh báo, chống spam ≥ 15 phút/loại.</a:t>
              </a:r>
            </a:p>
          </p:txBody>
        </p:sp>
        <p:sp>
          <p:nvSpPr>
            <p:cNvPr name="TextBox 53" id="53"/>
            <p:cNvSpPr txBox="true"/>
            <p:nvPr/>
          </p:nvSpPr>
          <p:spPr>
            <a:xfrm rot="0">
              <a:off x="12065567" y="3940916"/>
              <a:ext cx="4708710" cy="2021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205"/>
                </a:lnSpc>
              </a:pPr>
              <a:r>
                <a:rPr lang="en-US" sz="860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Firmware: Unity/PlatformIO test, mock cảm biến; đo heap bằng</a:t>
              </a:r>
            </a:p>
          </p:txBody>
        </p:sp>
        <p:sp>
          <p:nvSpPr>
            <p:cNvPr name="TextBox 54" id="54"/>
            <p:cNvSpPr txBox="true"/>
            <p:nvPr/>
          </p:nvSpPr>
          <p:spPr>
            <a:xfrm rot="0">
              <a:off x="12099208" y="4138835"/>
              <a:ext cx="2320086" cy="20588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sz="794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uxTaskGetStackHighWaterMark</a:t>
              </a:r>
              <a:r>
                <a:rPr lang="en-US" sz="794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794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.</a:t>
              </a:r>
            </a:p>
          </p:txBody>
        </p:sp>
        <p:sp>
          <p:nvSpPr>
            <p:cNvPr name="TextBox 55" id="55"/>
            <p:cNvSpPr txBox="true"/>
            <p:nvPr/>
          </p:nvSpPr>
          <p:spPr>
            <a:xfrm rot="0">
              <a:off x="12065567" y="4394866"/>
              <a:ext cx="4944182" cy="12953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92"/>
                </a:lnSpc>
              </a:pPr>
              <a:r>
                <a:rPr lang="en-US" sz="860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App: </a:t>
              </a:r>
              <a:r>
                <a:rPr lang="en-US" sz="860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60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flutter test</a:t>
              </a:r>
              <a:r>
                <a:rPr lang="en-US" sz="860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60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(unit ViewModel), widget test, integration_test end-to-end. Mạng: MQTT Explorer, mô phỏng trễ/mất gói (tc netem), Firebase Emulator Suite. Đo lường: logic analyzer cho I²C/1-Wire, đồng hồ đo dòng (Nordic PPK/INA219).</a:t>
              </a:r>
            </a:p>
          </p:txBody>
        </p:sp>
        <p:sp>
          <p:nvSpPr>
            <p:cNvPr name="TextBox 56" id="56"/>
            <p:cNvSpPr txBox="true"/>
            <p:nvPr/>
          </p:nvSpPr>
          <p:spPr>
            <a:xfrm rot="0">
              <a:off x="17713362" y="2823128"/>
              <a:ext cx="5128441" cy="9163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56"/>
                </a:lnSpc>
              </a:pPr>
              <a:r>
                <a:rPr lang="en-US" sz="860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Rút ngắn thời gian thức: lưu kênh/BSSID WiFi vào RTC-RAM → kết nối lại ~0,8 s thay vì 3–5 s. Gộp nhiều mẫu rồi gửi một lần; tắt Bluetooth khi chạy. PV 6 V/2 W + TP4056 cho vận hành không cần sạc.</a:t>
              </a:r>
            </a:p>
          </p:txBody>
        </p:sp>
        <p:sp>
          <p:nvSpPr>
            <p:cNvPr name="TextBox 57" id="57"/>
            <p:cNvSpPr txBox="true"/>
            <p:nvPr/>
          </p:nvSpPr>
          <p:spPr>
            <a:xfrm rot="0">
              <a:off x="17713362" y="4107393"/>
              <a:ext cx="5110795" cy="64109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92"/>
                </a:lnSpc>
              </a:pPr>
              <a:r>
                <a:rPr lang="en-US" sz="860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Huỷ đăng ký stream khi màn hình nền; giới hạn điểm biểu đồ ≤ 500. Dùng </a:t>
              </a:r>
              <a:r>
                <a:rPr lang="en-US" sz="860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60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const</a:t>
              </a:r>
              <a:r>
                <a:rPr lang="en-US" sz="860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60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widget, </a:t>
              </a:r>
              <a:r>
                <a:rPr lang="en-US" sz="860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60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ListView.builder</a:t>
              </a:r>
              <a:r>
                <a:rPr lang="en-US" sz="860">
                  <a:solidFill>
                    <a:srgbClr val="FFFFFF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 </a:t>
              </a:r>
              <a:r>
                <a:rPr lang="en-US" sz="860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; hồ sơ bằng DevTools (khung hình &lt; 16 ms).</a:t>
              </a:r>
            </a:p>
          </p:txBody>
        </p:sp>
        <p:sp>
          <p:nvSpPr>
            <p:cNvPr name="TextBox 58" id="58"/>
            <p:cNvSpPr txBox="true"/>
            <p:nvPr/>
          </p:nvSpPr>
          <p:spPr>
            <a:xfrm rot="0">
              <a:off x="17713362" y="5087856"/>
              <a:ext cx="5099163" cy="13647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456"/>
                </a:lnSpc>
              </a:pPr>
              <a:r>
                <a:rPr lang="en-US" sz="860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Play Console (AAB, ký app) &amp; TestFlight; kênh nội bộ → beta → chính thức.</a:t>
              </a:r>
            </a:p>
            <a:p>
              <a:pPr algn="l">
                <a:lnSpc>
                  <a:spcPts val="1456"/>
                </a:lnSpc>
              </a:pPr>
              <a:r>
                <a:rPr lang="en-US" sz="860">
                  <a:solidFill>
                    <a:srgbClr val="1D2433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Kênh OTA firmware: stable / beta, phát dần theo tỉ lệ, chỉ ký firmware hợp lệ. Giám sát: Crashlytics, log thiết bị, cảnh báo tỉ lệ offline. Tài liệu: hướng dẫn lắp đặt, hiệu chuẩn cảm biến, xử lý sự cố.</a:t>
              </a:r>
            </a:p>
          </p:txBody>
        </p:sp>
        <p:sp>
          <p:nvSpPr>
            <p:cNvPr name="TextBox 59" id="59"/>
            <p:cNvSpPr txBox="true"/>
            <p:nvPr/>
          </p:nvSpPr>
          <p:spPr>
            <a:xfrm rot="0">
              <a:off x="5066267" y="4340652"/>
              <a:ext cx="660472" cy="1888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2"/>
                </a:lnSpc>
              </a:pPr>
              <a:r>
                <a:rPr lang="en-US" sz="794">
                  <a:solidFill>
                    <a:srgbClr val="1B3A6B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t_on 120</a:t>
              </a:r>
            </a:p>
          </p:txBody>
        </p:sp>
        <p:sp>
          <p:nvSpPr>
            <p:cNvPr name="TextBox 60" id="60"/>
            <p:cNvSpPr txBox="true"/>
            <p:nvPr/>
          </p:nvSpPr>
          <p:spPr>
            <a:xfrm rot="0">
              <a:off x="6361728" y="939672"/>
              <a:ext cx="3628128" cy="134314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993"/>
                </a:lnSpc>
              </a:pPr>
              <a:r>
                <a:rPr lang="en-US" sz="728">
                  <a:solidFill>
                    <a:srgbClr val="16305C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View (Widget)</a:t>
              </a:r>
            </a:p>
            <a:p>
              <a:pPr algn="l">
                <a:lnSpc>
                  <a:spcPts val="993"/>
                </a:lnSpc>
              </a:pPr>
              <a:r>
                <a:rPr lang="en-US" sz="728">
                  <a:solidFill>
                    <a:srgbClr val="16305C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 ↕ state (Riverpod / Bloc) ViewModel  -&gt; logic + debounce + retry</a:t>
              </a:r>
            </a:p>
            <a:p>
              <a:pPr algn="l">
                <a:lnSpc>
                  <a:spcPts val="993"/>
                </a:lnSpc>
              </a:pPr>
              <a:r>
                <a:rPr lang="en-US" sz="728">
                  <a:solidFill>
                    <a:srgbClr val="16305C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  ↕ Repository → DeviceRepo | HistoryRepo | AuthRepo   ↕</a:t>
              </a:r>
            </a:p>
            <a:p>
              <a:pPr algn="l">
                <a:lnSpc>
                  <a:spcPts val="993"/>
                </a:lnSpc>
              </a:pPr>
              <a:r>
                <a:rPr lang="en-US" sz="728">
                  <a:solidFill>
                    <a:srgbClr val="16305C"/>
                  </a:solidFill>
                  <a:latin typeface="DejaVu Sans Light"/>
                  <a:ea typeface="DejaVu Sans Light"/>
                  <a:cs typeface="DejaVu Sans Light"/>
                  <a:sym typeface="DejaVu Sans Light"/>
                </a:rPr>
                <a:t>DataSource: RTDB stream · Firestore query             FCM · Hive cache (offline)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348740" y="2803208"/>
            <a:ext cx="15590520" cy="6416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88"/>
              </a:lnSpc>
            </a:pPr>
            <a:r>
              <a:rPr lang="en-US" sz="3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Thiết kế, huấn luyện, lượng tử hóa mô hình CNN bằng Python và trích xuất trọng số ra định dạng Hex.</a:t>
            </a:r>
          </a:p>
          <a:p>
            <a:pPr algn="l">
              <a:lnSpc>
                <a:spcPts val="3888"/>
              </a:lnSpc>
            </a:pPr>
            <a:r>
              <a:rPr lang="en-US" sz="3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Cấu hình lại lõi RV32E từ đồ án 1</a:t>
            </a:r>
          </a:p>
          <a:p>
            <a:pPr algn="l">
              <a:lnSpc>
                <a:spcPts val="3888"/>
              </a:lnSpc>
            </a:pPr>
            <a:r>
              <a:rPr lang="en-US" sz="3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Lập trình RTL cho khối tính toán MAC và mạch Clock Gating, sau đó tích hợp vào đường dẫn dữ liệu (Datapath) của CPU</a:t>
            </a:r>
          </a:p>
          <a:p>
            <a:pPr algn="l">
              <a:lnSpc>
                <a:spcPts val="3888"/>
              </a:lnSpc>
            </a:pPr>
            <a:r>
              <a:rPr lang="en-US" sz="3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Viết firmware điều khiển, nạp trọng số AI vào ROM và tiến hành mô phỏng toàn hệ thống</a:t>
            </a:r>
          </a:p>
          <a:p>
            <a:pPr algn="l">
              <a:lnSpc>
                <a:spcPts val="3888"/>
              </a:lnSpc>
            </a:pPr>
            <a:r>
              <a:rPr lang="en-US" sz="3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Đổ Bitstream xuống mạch thật. Viết giao diện trên máy tính truyền dữ liệu ảnh phổ radar qua UART và nhận lại kết quả phân loại</a:t>
            </a:r>
          </a:p>
          <a:p>
            <a:pPr algn="l">
              <a:lnSpc>
                <a:spcPts val="3888"/>
              </a:lnSpc>
            </a:pPr>
          </a:p>
        </p:txBody>
      </p:sp>
      <p:grpSp>
        <p:nvGrpSpPr>
          <p:cNvPr name="Group 3" id="3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7871460" y="1057751"/>
            <a:ext cx="3459480" cy="979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6000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Nội Dung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348740" y="2822258"/>
            <a:ext cx="15590520" cy="40412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sz="33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Mã nguồn RTL hệ thống SoC tích hợp bộ tăng tốc phần cứng và mạch tiết kiệm năng lượng</a:t>
            </a:r>
          </a:p>
          <a:p>
            <a:pPr algn="l">
              <a:lnSpc>
                <a:spcPts val="3564"/>
              </a:lnSpc>
            </a:pPr>
          </a:p>
          <a:p>
            <a:pPr algn="l">
              <a:lnSpc>
                <a:spcPts val="3564"/>
              </a:lnSpc>
            </a:pPr>
            <a:r>
              <a:rPr lang="en-US" sz="33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Cơ chế phân loại AI chạy thành công và chính xác trên vi mạch thực tế</a:t>
            </a:r>
          </a:p>
          <a:p>
            <a:pPr algn="l">
              <a:lnSpc>
                <a:spcPts val="3564"/>
              </a:lnSpc>
            </a:pPr>
          </a:p>
          <a:p>
            <a:pPr algn="l">
              <a:lnSpc>
                <a:spcPts val="3564"/>
              </a:lnSpc>
            </a:pPr>
            <a:r>
              <a:rPr lang="en-US" sz="330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Báo cáo đối chiếu và đánh giá hiệu năng (thời gian tính toán, tài nguyên LUTs/DSP) cũng như thông số giảm công suất tiêu thụ nhờ áp dụng Hardware Accelerator và Clock Gating</a:t>
            </a:r>
          </a:p>
          <a:p>
            <a:pPr algn="l">
              <a:lnSpc>
                <a:spcPts val="3564"/>
              </a:lnSpc>
            </a:pPr>
          </a:p>
        </p:txBody>
      </p:sp>
      <p:grpSp>
        <p:nvGrpSpPr>
          <p:cNvPr name="Group 3" id="3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6831330" y="1057751"/>
            <a:ext cx="5539740" cy="979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rPr lang="en-US" sz="6000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Kết quả dự kiến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4069817" y="4173814"/>
            <a:ext cx="10148366" cy="1939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270"/>
              </a:lnSpc>
            </a:pPr>
            <a:r>
              <a:rPr lang="en-US" sz="12725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Tiến độ tuần 4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2980" y="506730"/>
            <a:ext cx="16276320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12375F"/>
                </a:solidFill>
                <a:latin typeface="Arial Bold"/>
                <a:ea typeface="Arial Bold"/>
                <a:cs typeface="Arial Bold"/>
                <a:sym typeface="Arial Bold"/>
              </a:rPr>
              <a:t>1. Mục tiêu tuần 4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4128" y="1448943"/>
            <a:ext cx="16002000" cy="535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Tạo nền tảng phần mềm và dữ liệu để sẵn sàng tích hợp ESP32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325880" y="2152650"/>
            <a:ext cx="15590520" cy="6374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19"/>
              </a:lnSpc>
            </a:pPr>
            <a:r>
              <a:rPr lang="en-US" sz="285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Xây dựng giao diện Web App phục vụ quản lý và giám sát.</a:t>
            </a:r>
          </a:p>
          <a:p>
            <a:pPr algn="l">
              <a:lnSpc>
                <a:spcPts val="3419"/>
              </a:lnSpc>
            </a:pPr>
            <a:r>
              <a:rPr lang="en-US" sz="285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Phát triển các chức năng cơ bản của ứng dụng.</a:t>
            </a:r>
          </a:p>
          <a:p>
            <a:pPr algn="l">
              <a:lnSpc>
                <a:spcPts val="3419"/>
              </a:lnSpc>
            </a:pPr>
            <a:r>
              <a:rPr lang="en-US" sz="285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Kết nối Firebase để lưu trữ, đồng bộ và hiển thị dữ liệu.</a:t>
            </a:r>
          </a:p>
          <a:p>
            <a:pPr algn="l">
              <a:lnSpc>
                <a:spcPts val="3419"/>
              </a:lnSpc>
            </a:pPr>
            <a:r>
              <a:rPr lang="en-US" sz="285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Chuẩn bị nền tảng phần mềm cho việc kết nối phần cứng ESP32.</a:t>
            </a:r>
          </a:p>
          <a:p>
            <a:pPr algn="l">
              <a:lnSpc>
                <a:spcPts val="3419"/>
              </a:lnSpc>
            </a:pPr>
            <a:r>
              <a:rPr lang="en-US" sz="285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Kiểm thử việc nhận dữ liệu từ Firebase trên Wokwi.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0" y="9848088"/>
            <a:ext cx="18287543" cy="438912"/>
            <a:chOff x="0" y="0"/>
            <a:chExt cx="24383390" cy="5852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38336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12375F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845820" y="9888474"/>
            <a:ext cx="16550640" cy="229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0"/>
              </a:lnSpc>
            </a:pPr>
            <a:r>
              <a:rPr lang="en-US" sz="13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Báo cáo tiến độ – Tuần 1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2980" y="506730"/>
            <a:ext cx="16276320" cy="956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12375F"/>
                </a:solidFill>
                <a:latin typeface="Arial Bold"/>
                <a:ea typeface="Arial Bold"/>
                <a:cs typeface="Arial Bold"/>
                <a:sym typeface="Arial Bold"/>
              </a:rPr>
              <a:t>2. Giao diện Web App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4128" y="1448943"/>
            <a:ext cx="16002000" cy="535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Phần mềm nền tảng đã được xây dựng ở mức cơ bản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0" y="9848088"/>
            <a:ext cx="18287543" cy="438912"/>
            <a:chOff x="0" y="0"/>
            <a:chExt cx="24383390" cy="58521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12375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1242820" y="468405"/>
            <a:ext cx="4040033" cy="9034722"/>
            <a:chOff x="0" y="0"/>
            <a:chExt cx="7750810" cy="1733312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750810" cy="17333128"/>
            </a:xfrm>
            <a:custGeom>
              <a:avLst/>
              <a:gdLst/>
              <a:ahLst/>
              <a:cxnLst/>
              <a:rect r="r" b="b" t="t" l="l"/>
              <a:pathLst>
                <a:path h="17333128" w="7750810">
                  <a:moveTo>
                    <a:pt x="0" y="0"/>
                  </a:moveTo>
                  <a:lnTo>
                    <a:pt x="7750810" y="0"/>
                  </a:lnTo>
                  <a:lnTo>
                    <a:pt x="7750810" y="17333128"/>
                  </a:lnTo>
                  <a:lnTo>
                    <a:pt x="0" y="173331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213" t="0" r="-213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982980" y="2621661"/>
            <a:ext cx="6949440" cy="4718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Thiết kế giao diện theo hướng trực quan, dễ theo dõi.</a:t>
            </a:r>
          </a:p>
          <a:p>
            <a:pPr algn="l">
              <a:lnSpc>
                <a:spcPts val="3060"/>
              </a:lnSpc>
            </a:pPr>
            <a:r>
              <a:rPr lang="en-US" sz="255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Xây dựng các khu vực hiển thị dữ liệu và trạng thái hệ thống.</a:t>
            </a:r>
          </a:p>
          <a:p>
            <a:pPr algn="l">
              <a:lnSpc>
                <a:spcPts val="3060"/>
              </a:lnSpc>
            </a:pPr>
            <a:r>
              <a:rPr lang="en-US" sz="255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Bố trí các thành phần phục vụ quản lý và giám sát.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45820" y="9888474"/>
            <a:ext cx="16550640" cy="229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0"/>
              </a:lnSpc>
            </a:pPr>
            <a:r>
              <a:rPr lang="en-US" sz="13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Báo cáo tiến độ – Tuần 1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2980" y="506730"/>
            <a:ext cx="16276320" cy="956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12375F"/>
                </a:solidFill>
                <a:latin typeface="Arial Bold"/>
                <a:ea typeface="Arial Bold"/>
                <a:cs typeface="Arial Bold"/>
                <a:sym typeface="Arial Bold"/>
              </a:rPr>
              <a:t>3. Các chức năng đã triển khai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4128" y="1448943"/>
            <a:ext cx="16002000" cy="535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Các chức năng chính của Web App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829300" y="8900922"/>
            <a:ext cx="5029200" cy="544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2250" b="true">
                <a:solidFill>
                  <a:srgbClr val="12375F"/>
                </a:solidFill>
                <a:latin typeface="Arial Bold"/>
                <a:ea typeface="Arial Bold"/>
                <a:cs typeface="Arial Bold"/>
                <a:sym typeface="Arial Bold"/>
              </a:rPr>
              <a:t>Giao diện điều khiển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230100" y="8970969"/>
            <a:ext cx="5029200" cy="544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2250" b="true">
                <a:solidFill>
                  <a:srgbClr val="12375F"/>
                </a:solidFill>
                <a:latin typeface="Arial Bold"/>
                <a:ea typeface="Arial Bold"/>
                <a:cs typeface="Arial Bold"/>
                <a:sym typeface="Arial Bold"/>
              </a:rPr>
              <a:t>Giao diện cảnh báo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0" y="9848088"/>
            <a:ext cx="18287543" cy="438912"/>
            <a:chOff x="0" y="0"/>
            <a:chExt cx="24383390" cy="58521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336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12375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845820" y="9888474"/>
            <a:ext cx="16550640" cy="229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0"/>
              </a:lnSpc>
            </a:pPr>
            <a:r>
              <a:rPr lang="en-US" sz="13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Báo cáo tiến độ – Tuần 1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365293" y="1094213"/>
            <a:ext cx="5372567" cy="8973331"/>
            <a:chOff x="0" y="0"/>
            <a:chExt cx="7163422" cy="1196444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163435" cy="11964416"/>
            </a:xfrm>
            <a:custGeom>
              <a:avLst/>
              <a:gdLst/>
              <a:ahLst/>
              <a:cxnLst/>
              <a:rect r="r" b="b" t="t" l="l"/>
              <a:pathLst>
                <a:path h="11964416" w="7163435">
                  <a:moveTo>
                    <a:pt x="0" y="0"/>
                  </a:moveTo>
                  <a:lnTo>
                    <a:pt x="7163435" y="0"/>
                  </a:lnTo>
                  <a:lnTo>
                    <a:pt x="7163435" y="11964416"/>
                  </a:lnTo>
                  <a:lnTo>
                    <a:pt x="0" y="11964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6748777" y="1094213"/>
            <a:ext cx="3337846" cy="7510158"/>
            <a:chOff x="0" y="0"/>
            <a:chExt cx="4450461" cy="1001354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450461" cy="10013569"/>
            </a:xfrm>
            <a:custGeom>
              <a:avLst/>
              <a:gdLst/>
              <a:ahLst/>
              <a:cxnLst/>
              <a:rect r="r" b="b" t="t" l="l"/>
              <a:pathLst>
                <a:path h="10013569" w="4450461">
                  <a:moveTo>
                    <a:pt x="0" y="0"/>
                  </a:moveTo>
                  <a:lnTo>
                    <a:pt x="4450461" y="0"/>
                  </a:lnTo>
                  <a:lnTo>
                    <a:pt x="4450461" y="10013569"/>
                  </a:lnTo>
                  <a:lnTo>
                    <a:pt x="0" y="100135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2808429" y="1164384"/>
            <a:ext cx="3440725" cy="7601607"/>
            <a:chOff x="0" y="0"/>
            <a:chExt cx="4587634" cy="1013547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587621" cy="10135489"/>
            </a:xfrm>
            <a:custGeom>
              <a:avLst/>
              <a:gdLst/>
              <a:ahLst/>
              <a:cxnLst/>
              <a:rect r="r" b="b" t="t" l="l"/>
              <a:pathLst>
                <a:path h="10135489" w="4587621">
                  <a:moveTo>
                    <a:pt x="0" y="0"/>
                  </a:moveTo>
                  <a:lnTo>
                    <a:pt x="4587621" y="0"/>
                  </a:lnTo>
                  <a:lnTo>
                    <a:pt x="4587621" y="10135489"/>
                  </a:lnTo>
                  <a:lnTo>
                    <a:pt x="0" y="101354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82980" y="1984248"/>
            <a:ext cx="7818120" cy="5212080"/>
            <a:chOff x="0" y="0"/>
            <a:chExt cx="10424160" cy="69494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424160" cy="6949440"/>
            </a:xfrm>
            <a:custGeom>
              <a:avLst/>
              <a:gdLst/>
              <a:ahLst/>
              <a:cxnLst/>
              <a:rect r="r" b="b" t="t" l="l"/>
              <a:pathLst>
                <a:path h="6949440" w="10424160">
                  <a:moveTo>
                    <a:pt x="0" y="0"/>
                  </a:moveTo>
                  <a:lnTo>
                    <a:pt x="10424160" y="0"/>
                  </a:lnTo>
                  <a:lnTo>
                    <a:pt x="10424160" y="6949440"/>
                  </a:lnTo>
                  <a:lnTo>
                    <a:pt x="0" y="69494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771853" y="2077974"/>
            <a:ext cx="7818120" cy="5212080"/>
            <a:chOff x="0" y="0"/>
            <a:chExt cx="10424160" cy="694944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424160" cy="6949440"/>
            </a:xfrm>
            <a:custGeom>
              <a:avLst/>
              <a:gdLst/>
              <a:ahLst/>
              <a:cxnLst/>
              <a:rect r="r" b="b" t="t" l="l"/>
              <a:pathLst>
                <a:path h="6949440" w="10424160">
                  <a:moveTo>
                    <a:pt x="0" y="0"/>
                  </a:moveTo>
                  <a:lnTo>
                    <a:pt x="10424160" y="0"/>
                  </a:lnTo>
                  <a:lnTo>
                    <a:pt x="10424160" y="6949440"/>
                  </a:lnTo>
                  <a:lnTo>
                    <a:pt x="0" y="69494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9848088"/>
            <a:ext cx="18287543" cy="438912"/>
            <a:chOff x="0" y="0"/>
            <a:chExt cx="24383390" cy="58521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336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12375F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982980" y="506730"/>
            <a:ext cx="16276320" cy="956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12375F"/>
                </a:solidFill>
                <a:latin typeface="Arial Bold"/>
                <a:ea typeface="Arial Bold"/>
                <a:cs typeface="Arial Bold"/>
                <a:sym typeface="Arial Bold"/>
              </a:rPr>
              <a:t>4. Kết nối Firebase &amp; kiểm thử Wokwi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4128" y="1448943"/>
            <a:ext cx="16002000" cy="535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Lưu trữ, đồng bộ và hiển thị dữ liệu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63040" y="7374255"/>
            <a:ext cx="15179040" cy="17697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Thiết lập kết nối Web App ↔ Firebase.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Lưu trữ và đồng bộ dữ liệu trên Firebase.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Đọc dữ liệu từ Firebase và hiển thị lên Web App.</a:t>
            </a:r>
          </a:p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Kiểm thử khả năng cập nhật dữ liệu trên Wokwi.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45820" y="9888474"/>
            <a:ext cx="16550640" cy="229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0"/>
              </a:lnSpc>
            </a:pPr>
            <a:r>
              <a:rPr lang="en-US" sz="13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Báo cáo tiến độ – Tuần 1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82980" y="506730"/>
            <a:ext cx="16276320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12375F"/>
                </a:solidFill>
                <a:latin typeface="Arial Bold"/>
                <a:ea typeface="Arial Bold"/>
                <a:cs typeface="Arial Bold"/>
                <a:sym typeface="Arial Bold"/>
              </a:rPr>
              <a:t>5. Kết quả tuần 4 &amp; kế hoạch tuần 5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952976" y="2050256"/>
            <a:ext cx="7969568" cy="6735128"/>
            <a:chOff x="0" y="0"/>
            <a:chExt cx="10626090" cy="898017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626090" cy="8980170"/>
            </a:xfrm>
            <a:custGeom>
              <a:avLst/>
              <a:gdLst/>
              <a:ahLst/>
              <a:cxnLst/>
              <a:rect r="r" b="b" t="t" l="l"/>
              <a:pathLst>
                <a:path h="8980170" w="10626090">
                  <a:moveTo>
                    <a:pt x="0" y="1496695"/>
                  </a:moveTo>
                  <a:cubicBezTo>
                    <a:pt x="0" y="670052"/>
                    <a:pt x="670052" y="0"/>
                    <a:pt x="1496695" y="0"/>
                  </a:cubicBezTo>
                  <a:lnTo>
                    <a:pt x="9129395" y="0"/>
                  </a:lnTo>
                  <a:cubicBezTo>
                    <a:pt x="9956038" y="0"/>
                    <a:pt x="10626090" y="670052"/>
                    <a:pt x="10626090" y="1496695"/>
                  </a:cubicBezTo>
                  <a:lnTo>
                    <a:pt x="10626090" y="7483475"/>
                  </a:lnTo>
                  <a:cubicBezTo>
                    <a:pt x="10626090" y="8310118"/>
                    <a:pt x="9956038" y="8980170"/>
                    <a:pt x="9129395" y="8980170"/>
                  </a:cubicBezTo>
                  <a:lnTo>
                    <a:pt x="1496695" y="8980170"/>
                  </a:lnTo>
                  <a:cubicBezTo>
                    <a:pt x="670052" y="8980170"/>
                    <a:pt x="0" y="8310118"/>
                    <a:pt x="0" y="7483475"/>
                  </a:cubicBezTo>
                  <a:close/>
                </a:path>
              </a:pathLst>
            </a:custGeom>
            <a:solidFill>
              <a:srgbClr val="F2F7F4"/>
            </a:solidFill>
            <a:ln w="14288" cap="sq">
              <a:solidFill>
                <a:srgbClr val="1F7E4C"/>
              </a:solidFill>
              <a:prstDash val="solid"/>
              <a:miter/>
            </a:ln>
          </p:spPr>
        </p:sp>
      </p:grpSp>
      <p:sp>
        <p:nvSpPr>
          <p:cNvPr name="TextBox 5" id="5"/>
          <p:cNvSpPr txBox="true"/>
          <p:nvPr/>
        </p:nvSpPr>
        <p:spPr>
          <a:xfrm rot="0">
            <a:off x="1463040" y="2495550"/>
            <a:ext cx="6949440" cy="613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 b="true">
                <a:solidFill>
                  <a:srgbClr val="1F7E4C"/>
                </a:solidFill>
                <a:latin typeface="Arial Bold"/>
                <a:ea typeface="Arial Bold"/>
                <a:cs typeface="Arial Bold"/>
                <a:sym typeface="Arial Bold"/>
              </a:rPr>
              <a:t>KẾT QUẢ ĐẠT ĐƯỢC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63040" y="3396615"/>
            <a:ext cx="6743700" cy="4375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Web App đã có giao diện và các chức năng chính bước đầu.</a:t>
            </a: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Đã kết nối Firebase để lưu trữ, đồng bộ và hiển thị dữ liệu.</a:t>
            </a: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Đã kiểm thử việc nhận dữ liệu từ Firebase trên Wokwi.</a:t>
            </a: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Sẵn sàng chuyển sang giai đoạn triển khai phần cứng ESP32.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9388316" y="2050256"/>
            <a:ext cx="7969568" cy="6735128"/>
            <a:chOff x="0" y="0"/>
            <a:chExt cx="10626090" cy="898017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626090" cy="8980170"/>
            </a:xfrm>
            <a:custGeom>
              <a:avLst/>
              <a:gdLst/>
              <a:ahLst/>
              <a:cxnLst/>
              <a:rect r="r" b="b" t="t" l="l"/>
              <a:pathLst>
                <a:path h="8980170" w="10626090">
                  <a:moveTo>
                    <a:pt x="0" y="1496695"/>
                  </a:moveTo>
                  <a:cubicBezTo>
                    <a:pt x="0" y="670052"/>
                    <a:pt x="670052" y="0"/>
                    <a:pt x="1496695" y="0"/>
                  </a:cubicBezTo>
                  <a:lnTo>
                    <a:pt x="9129395" y="0"/>
                  </a:lnTo>
                  <a:cubicBezTo>
                    <a:pt x="9956038" y="0"/>
                    <a:pt x="10626090" y="670052"/>
                    <a:pt x="10626090" y="1496695"/>
                  </a:cubicBezTo>
                  <a:lnTo>
                    <a:pt x="10626090" y="7483475"/>
                  </a:lnTo>
                  <a:cubicBezTo>
                    <a:pt x="10626090" y="8310118"/>
                    <a:pt x="9956038" y="8980170"/>
                    <a:pt x="9129395" y="8980170"/>
                  </a:cubicBezTo>
                  <a:lnTo>
                    <a:pt x="1496695" y="8980170"/>
                  </a:lnTo>
                  <a:cubicBezTo>
                    <a:pt x="670052" y="8980170"/>
                    <a:pt x="0" y="8310118"/>
                    <a:pt x="0" y="7483475"/>
                  </a:cubicBezTo>
                  <a:close/>
                </a:path>
              </a:pathLst>
            </a:custGeom>
            <a:solidFill>
              <a:srgbClr val="F5F7FC"/>
            </a:solidFill>
            <a:ln w="14288" cap="sq">
              <a:solidFill>
                <a:srgbClr val="12375F"/>
              </a:solidFill>
              <a:prstDash val="solid"/>
              <a:miter/>
            </a:ln>
          </p:spPr>
        </p:sp>
      </p:grpSp>
      <p:sp>
        <p:nvSpPr>
          <p:cNvPr name="TextBox 9" id="9"/>
          <p:cNvSpPr txBox="true"/>
          <p:nvPr/>
        </p:nvSpPr>
        <p:spPr>
          <a:xfrm rot="0">
            <a:off x="9898380" y="2495550"/>
            <a:ext cx="694944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 b="true">
                <a:solidFill>
                  <a:srgbClr val="12375F"/>
                </a:solidFill>
                <a:latin typeface="Arial Bold"/>
                <a:ea typeface="Arial Bold"/>
                <a:cs typeface="Arial Bold"/>
                <a:sym typeface="Arial Bold"/>
              </a:rPr>
              <a:t>KẾ HOẠCH TUẦN 5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898380" y="3396615"/>
            <a:ext cx="6743700" cy="4375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Thiết kế và lắp ráp phần cứng sử dụng ESP32.</a:t>
            </a: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Kết nối các cảm biến cần thiết.</a:t>
            </a: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Lập trình ESP32 để đọc dữ liệu cảm biến.</a:t>
            </a: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A5F64"/>
                </a:solidFill>
                <a:latin typeface="Arial"/>
                <a:ea typeface="Arial"/>
                <a:cs typeface="Arial"/>
                <a:sym typeface="Arial"/>
              </a:rPr>
              <a:t>• Kiểm tra thu thập dữ liệu và chuẩn bị truyền lên Firebase.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0" y="9848088"/>
            <a:ext cx="18287543" cy="438912"/>
            <a:chOff x="0" y="0"/>
            <a:chExt cx="24383390" cy="58521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438336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12375F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845820" y="9888474"/>
            <a:ext cx="16550640" cy="229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0"/>
              </a:lnSpc>
            </a:pPr>
            <a:r>
              <a:rPr lang="en-US" sz="13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Báo cáo tiến độ – Tuần 1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4069817" y="4173814"/>
            <a:ext cx="10148366" cy="1939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270"/>
              </a:lnSpc>
            </a:pPr>
            <a:r>
              <a:rPr lang="en-US" sz="12725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Tiến độ tuần 5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10614745" y="6596832"/>
            <a:ext cx="4881975" cy="3805203"/>
          </a:xfrm>
          <a:custGeom>
            <a:avLst/>
            <a:gdLst/>
            <a:ahLst/>
            <a:cxnLst/>
            <a:rect r="r" b="b" t="t" l="l"/>
            <a:pathLst>
              <a:path h="3805203" w="4881975">
                <a:moveTo>
                  <a:pt x="0" y="0"/>
                </a:moveTo>
                <a:lnTo>
                  <a:pt x="4881975" y="0"/>
                </a:lnTo>
                <a:lnTo>
                  <a:pt x="4881975" y="3805202"/>
                </a:lnTo>
                <a:lnTo>
                  <a:pt x="0" y="380520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7381165" y="2448729"/>
            <a:ext cx="5108484" cy="3805203"/>
          </a:xfrm>
          <a:custGeom>
            <a:avLst/>
            <a:gdLst/>
            <a:ahLst/>
            <a:cxnLst/>
            <a:rect r="r" b="b" t="t" l="l"/>
            <a:pathLst>
              <a:path h="3805203" w="5108484">
                <a:moveTo>
                  <a:pt x="0" y="0"/>
                </a:moveTo>
                <a:lnTo>
                  <a:pt x="5108485" y="0"/>
                </a:lnTo>
                <a:lnTo>
                  <a:pt x="5108485" y="3805203"/>
                </a:lnTo>
                <a:lnTo>
                  <a:pt x="0" y="38052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3120788" y="2448729"/>
            <a:ext cx="4751863" cy="3805203"/>
          </a:xfrm>
          <a:custGeom>
            <a:avLst/>
            <a:gdLst/>
            <a:ahLst/>
            <a:cxnLst/>
            <a:rect r="r" b="b" t="t" l="l"/>
            <a:pathLst>
              <a:path h="3805203" w="4751863">
                <a:moveTo>
                  <a:pt x="0" y="0"/>
                </a:moveTo>
                <a:lnTo>
                  <a:pt x="4751863" y="0"/>
                </a:lnTo>
                <a:lnTo>
                  <a:pt x="4751863" y="3805203"/>
                </a:lnTo>
                <a:lnTo>
                  <a:pt x="0" y="38052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98947" y="3810804"/>
            <a:ext cx="6119225" cy="4598127"/>
          </a:xfrm>
          <a:custGeom>
            <a:avLst/>
            <a:gdLst/>
            <a:ahLst/>
            <a:cxnLst/>
            <a:rect r="r" b="b" t="t" l="l"/>
            <a:pathLst>
              <a:path h="4598127" w="6119225">
                <a:moveTo>
                  <a:pt x="0" y="0"/>
                </a:moveTo>
                <a:lnTo>
                  <a:pt x="6119225" y="0"/>
                </a:lnTo>
                <a:lnTo>
                  <a:pt x="6119225" y="4598128"/>
                </a:lnTo>
                <a:lnTo>
                  <a:pt x="0" y="459812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4961504" y="897226"/>
            <a:ext cx="8920183" cy="82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97"/>
              </a:lnSpc>
            </a:pPr>
            <a:r>
              <a:rPr lang="en-US" sz="5414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Triển Khai Trên Phần Cứng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98947" y="2448729"/>
            <a:ext cx="5157192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1. Phần cứng sử dụng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-5400000">
            <a:off x="2201549" y="2509819"/>
            <a:ext cx="5519910" cy="7359879"/>
          </a:xfrm>
          <a:custGeom>
            <a:avLst/>
            <a:gdLst/>
            <a:ahLst/>
            <a:cxnLst/>
            <a:rect r="r" b="b" t="t" l="l"/>
            <a:pathLst>
              <a:path h="7359879" w="5519910">
                <a:moveTo>
                  <a:pt x="0" y="0"/>
                </a:moveTo>
                <a:lnTo>
                  <a:pt x="5519909" y="0"/>
                </a:lnTo>
                <a:lnTo>
                  <a:pt x="5519909" y="7359880"/>
                </a:lnTo>
                <a:lnTo>
                  <a:pt x="0" y="73598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961504" y="897226"/>
            <a:ext cx="8920183" cy="82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97"/>
              </a:lnSpc>
            </a:pPr>
            <a:r>
              <a:rPr lang="en-US" sz="5414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Triển Khai Trên Phần Cứng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947" y="2448729"/>
            <a:ext cx="2920960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2. Lắp mạch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144000" y="2767817"/>
            <a:ext cx="8393506" cy="63929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Cảm biến Nhiệt độ &amp; Độ ẩm DHT22 :</a:t>
            </a:r>
          </a:p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Chân VCC (hoặc dấu +) ➔ Nối vào chân 3V3 của ESP32</a:t>
            </a:r>
          </a:p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Chân GND (hoặc dấu -) ➔ Nối vào chân GND của ESP32</a:t>
            </a:r>
          </a:p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Chân DATA (hoặc OUT) ➔Nối trực tiếp vào chân D2 của ESP32</a:t>
            </a:r>
          </a:p>
          <a:p>
            <a:pPr algn="just">
              <a:lnSpc>
                <a:spcPts val="3146"/>
              </a:lnSpc>
              <a:spcBef>
                <a:spcPct val="0"/>
              </a:spcBef>
            </a:pPr>
          </a:p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Module Cảm biến Ánh sáng LDR :</a:t>
            </a:r>
          </a:p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Chân VCC ➔ Nối vào chân 3V3</a:t>
            </a:r>
          </a:p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Chân GND ➔ Nối vào chân GND</a:t>
            </a:r>
          </a:p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Chân AO (Analog Output) ➔ Nối vào chân D34 của ESP32</a:t>
            </a:r>
          </a:p>
          <a:p>
            <a:pPr algn="just">
              <a:lnSpc>
                <a:spcPts val="3146"/>
              </a:lnSpc>
              <a:spcBef>
                <a:spcPct val="0"/>
              </a:spcBef>
            </a:pPr>
          </a:p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Cảm biến Độ ẩm đất điện dung V1.2 </a:t>
            </a:r>
          </a:p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Chân VCC ➔ Nối vào chân 3V3</a:t>
            </a:r>
          </a:p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Chân GND ➔ Nối vào chân GND</a:t>
            </a:r>
          </a:p>
          <a:p>
            <a:pPr algn="just">
              <a:lnSpc>
                <a:spcPts val="3146"/>
              </a:lnSpc>
              <a:spcBef>
                <a:spcPct val="0"/>
              </a:spcBef>
            </a:pPr>
            <a:r>
              <a:rPr lang="en-US" b="true" sz="262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Chân AOUT  ➔ Nối vào chân D35 của ESP32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3309964" y="4390093"/>
            <a:ext cx="11668073" cy="3855647"/>
          </a:xfrm>
          <a:custGeom>
            <a:avLst/>
            <a:gdLst/>
            <a:ahLst/>
            <a:cxnLst/>
            <a:rect r="r" b="b" t="t" l="l"/>
            <a:pathLst>
              <a:path h="3855647" w="11668073">
                <a:moveTo>
                  <a:pt x="0" y="0"/>
                </a:moveTo>
                <a:lnTo>
                  <a:pt x="11668072" y="0"/>
                </a:lnTo>
                <a:lnTo>
                  <a:pt x="11668072" y="3855647"/>
                </a:lnTo>
                <a:lnTo>
                  <a:pt x="0" y="385564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961504" y="897226"/>
            <a:ext cx="8920183" cy="82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97"/>
              </a:lnSpc>
            </a:pPr>
            <a:r>
              <a:rPr lang="en-US" sz="5414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Triển Khai Trên Phần Cứng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947" y="2448729"/>
            <a:ext cx="5454015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3. Nạp code vào ESP32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6775521" y="2595726"/>
            <a:ext cx="9956586" cy="6356958"/>
          </a:xfrm>
          <a:custGeom>
            <a:avLst/>
            <a:gdLst/>
            <a:ahLst/>
            <a:cxnLst/>
            <a:rect r="r" b="b" t="t" l="l"/>
            <a:pathLst>
              <a:path h="6356958" w="9956586">
                <a:moveTo>
                  <a:pt x="0" y="0"/>
                </a:moveTo>
                <a:lnTo>
                  <a:pt x="9956586" y="0"/>
                </a:lnTo>
                <a:lnTo>
                  <a:pt x="9956586" y="6356958"/>
                </a:lnTo>
                <a:lnTo>
                  <a:pt x="0" y="63569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961504" y="897226"/>
            <a:ext cx="8920183" cy="82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97"/>
              </a:lnSpc>
            </a:pPr>
            <a:r>
              <a:rPr lang="en-US" sz="5414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Triển Khai Trên Phần Cứng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947" y="2448729"/>
            <a:ext cx="4612958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4. Quan sát dữ liệu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3234068"/>
            <a:ext cx="5201139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Serial Monitor trên Arduino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4121588" y="3264891"/>
            <a:ext cx="10959214" cy="6164558"/>
          </a:xfrm>
          <a:custGeom>
            <a:avLst/>
            <a:gdLst/>
            <a:ahLst/>
            <a:cxnLst/>
            <a:rect r="r" b="b" t="t" l="l"/>
            <a:pathLst>
              <a:path h="6164558" w="10959214">
                <a:moveTo>
                  <a:pt x="0" y="0"/>
                </a:moveTo>
                <a:lnTo>
                  <a:pt x="10959214" y="0"/>
                </a:lnTo>
                <a:lnTo>
                  <a:pt x="10959214" y="6164558"/>
                </a:lnTo>
                <a:lnTo>
                  <a:pt x="0" y="61645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961504" y="897226"/>
            <a:ext cx="8920183" cy="82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97"/>
              </a:lnSpc>
            </a:pPr>
            <a:r>
              <a:rPr lang="en-US" sz="5414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Triển Khai Trên Phần Cứng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947" y="2448729"/>
            <a:ext cx="4612958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4. Quan sát dữ liệu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98947" y="3264891"/>
            <a:ext cx="5201139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Firebase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8206437" y="2393578"/>
            <a:ext cx="3307346" cy="7359879"/>
          </a:xfrm>
          <a:custGeom>
            <a:avLst/>
            <a:gdLst/>
            <a:ahLst/>
            <a:cxnLst/>
            <a:rect r="r" b="b" t="t" l="l"/>
            <a:pathLst>
              <a:path h="7359879" w="3307346">
                <a:moveTo>
                  <a:pt x="0" y="0"/>
                </a:moveTo>
                <a:lnTo>
                  <a:pt x="3307346" y="0"/>
                </a:lnTo>
                <a:lnTo>
                  <a:pt x="3307346" y="7359880"/>
                </a:lnTo>
                <a:lnTo>
                  <a:pt x="0" y="73598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961504" y="897226"/>
            <a:ext cx="8920183" cy="82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97"/>
              </a:lnSpc>
            </a:pPr>
            <a:r>
              <a:rPr lang="en-US" sz="5414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Triển Khai Trên Phần Cứng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947" y="2448729"/>
            <a:ext cx="4612958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4. Quan sát dữ liệu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98947" y="3429804"/>
            <a:ext cx="5201139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E</a:t>
            </a:r>
            <a:r>
              <a:rPr lang="en-US" b="true" sz="30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xpo Go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4069817" y="4173814"/>
            <a:ext cx="10148366" cy="1939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270"/>
              </a:lnSpc>
            </a:pPr>
            <a:r>
              <a:rPr lang="en-US" sz="12725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Tiến độ tuần 6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4961504" y="897226"/>
            <a:ext cx="8920183" cy="81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97"/>
              </a:lnSpc>
            </a:pPr>
            <a:r>
              <a:rPr lang="en-US" sz="5414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APPLICATION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98947" y="2448729"/>
            <a:ext cx="5239345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1. Tích hợp điều khiển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9825615" y="2767817"/>
            <a:ext cx="5070846" cy="6490483"/>
          </a:xfrm>
          <a:custGeom>
            <a:avLst/>
            <a:gdLst/>
            <a:ahLst/>
            <a:cxnLst/>
            <a:rect r="r" b="b" t="t" l="l"/>
            <a:pathLst>
              <a:path h="6490483" w="5070846">
                <a:moveTo>
                  <a:pt x="0" y="0"/>
                </a:moveTo>
                <a:lnTo>
                  <a:pt x="5070846" y="0"/>
                </a:lnTo>
                <a:lnTo>
                  <a:pt x="5070846" y="6490483"/>
                </a:lnTo>
                <a:lnTo>
                  <a:pt x="0" y="649048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69611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941180" y="3429804"/>
            <a:ext cx="5519910" cy="5530796"/>
          </a:xfrm>
          <a:custGeom>
            <a:avLst/>
            <a:gdLst/>
            <a:ahLst/>
            <a:cxnLst/>
            <a:rect r="r" b="b" t="t" l="l"/>
            <a:pathLst>
              <a:path h="5530796" w="5519910">
                <a:moveTo>
                  <a:pt x="0" y="0"/>
                </a:moveTo>
                <a:lnTo>
                  <a:pt x="5519910" y="0"/>
                </a:lnTo>
                <a:lnTo>
                  <a:pt x="5519910" y="5530796"/>
                </a:lnTo>
                <a:lnTo>
                  <a:pt x="0" y="553079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4607" r="0" b="-28463"/>
            </a:stretch>
          </a:blipFill>
        </p:spPr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2941180" y="3429804"/>
            <a:ext cx="5519910" cy="5530796"/>
          </a:xfrm>
          <a:custGeom>
            <a:avLst/>
            <a:gdLst/>
            <a:ahLst/>
            <a:cxnLst/>
            <a:rect r="r" b="b" t="t" l="l"/>
            <a:pathLst>
              <a:path h="5530796" w="5519910">
                <a:moveTo>
                  <a:pt x="0" y="0"/>
                </a:moveTo>
                <a:lnTo>
                  <a:pt x="5519910" y="0"/>
                </a:lnTo>
                <a:lnTo>
                  <a:pt x="5519910" y="5530796"/>
                </a:lnTo>
                <a:lnTo>
                  <a:pt x="0" y="55307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4607" r="0" b="-28463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601195" y="1716376"/>
            <a:ext cx="3843539" cy="8344182"/>
          </a:xfrm>
          <a:custGeom>
            <a:avLst/>
            <a:gdLst/>
            <a:ahLst/>
            <a:cxnLst/>
            <a:rect r="r" b="b" t="t" l="l"/>
            <a:pathLst>
              <a:path h="8344182" w="3843539">
                <a:moveTo>
                  <a:pt x="0" y="0"/>
                </a:moveTo>
                <a:lnTo>
                  <a:pt x="3843539" y="0"/>
                </a:lnTo>
                <a:lnTo>
                  <a:pt x="3843539" y="8344182"/>
                </a:lnTo>
                <a:lnTo>
                  <a:pt x="0" y="83441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4961504" y="897226"/>
            <a:ext cx="8920183" cy="81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97"/>
              </a:lnSpc>
            </a:pPr>
            <a:r>
              <a:rPr lang="en-US" sz="5414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APPLICATION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98947" y="2448729"/>
            <a:ext cx="3149203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2. Auto Mode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10447152" y="2110007"/>
            <a:ext cx="6959880" cy="7603887"/>
          </a:xfrm>
          <a:custGeom>
            <a:avLst/>
            <a:gdLst/>
            <a:ahLst/>
            <a:cxnLst/>
            <a:rect r="r" b="b" t="t" l="l"/>
            <a:pathLst>
              <a:path h="7603887" w="6959880">
                <a:moveTo>
                  <a:pt x="0" y="0"/>
                </a:moveTo>
                <a:lnTo>
                  <a:pt x="6959880" y="0"/>
                </a:lnTo>
                <a:lnTo>
                  <a:pt x="6959880" y="7603887"/>
                </a:lnTo>
                <a:lnTo>
                  <a:pt x="0" y="76038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-158205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961504" y="897226"/>
            <a:ext cx="8920183" cy="819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97"/>
              </a:lnSpc>
            </a:pPr>
            <a:r>
              <a:rPr lang="en-US" sz="5414" b="true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APPLICATION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947" y="2448729"/>
            <a:ext cx="2916793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  <a:spcBef>
                <a:spcPct val="0"/>
              </a:spcBef>
            </a:pPr>
            <a:r>
              <a:rPr lang="en-US" b="true" sz="42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3. FIREBASE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3429804"/>
            <a:ext cx="9418452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Thay đổi đường dẫn lưu trữ từ /smartFarm/ sang cấu trúc phân cấp đa người dùng 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98947" y="509588"/>
            <a:ext cx="17004497" cy="1600419"/>
            <a:chOff x="0" y="0"/>
            <a:chExt cx="22672662" cy="21338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672675" cy="2133854"/>
            </a:xfrm>
            <a:custGeom>
              <a:avLst/>
              <a:gdLst/>
              <a:ahLst/>
              <a:cxnLst/>
              <a:rect r="r" b="b" t="t" l="l"/>
              <a:pathLst>
                <a:path h="2133854" w="22672675">
                  <a:moveTo>
                    <a:pt x="0" y="0"/>
                  </a:moveTo>
                  <a:lnTo>
                    <a:pt x="22672675" y="0"/>
                  </a:lnTo>
                  <a:lnTo>
                    <a:pt x="22672675" y="2133854"/>
                  </a:lnTo>
                  <a:lnTo>
                    <a:pt x="0" y="2133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98947" y="2666294"/>
            <a:ext cx="1489829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Firebase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DAHR8QmCQQg</dc:identifier>
  <dcterms:modified xsi:type="dcterms:W3CDTF">2011-08-01T06:04:30Z</dcterms:modified>
  <cp:revision>1</cp:revision>
  <dc:title>Presentation1.pptx</dc:title>
</cp:coreProperties>
</file>